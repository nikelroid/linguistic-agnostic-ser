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hGg5ALly7WYp+YI2fMVb07e+t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g3dab19ec515_8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g3dab19ec515_8_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Today's strongest speech-emotion systems are built on six different transformers - wav2vec 2.0, HuBERT, Whisper, WavLM, MERT, and w2v-BERT - and every single one of them was originally trained for speech recognition, not emotion. That creates a hidden problem: when the model says 'this person is happy', is it actually hearing the voice, or is it just reading the words it transcribed? Take 'that was great'. Said with enthusiasm, words and voice agree, and any model gets it right. Said sarcastically, the words are still positive but the voice is angry, and only a model that listens to the voice will flip to negative. Our entire project is structured around that single distinction - twelve targeted experiments across six encoders, eight datasets and seven languages, designed to prove the signal is acoustic, not lexical.</a:t>
            </a:r>
            <a:endParaRPr/>
          </a:p>
        </p:txBody>
      </p:sp>
      <p:sp>
        <p:nvSpPr>
          <p:cNvPr id="26" name="Google Shape;26;g3dab19ec515_8_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ab19ec515_8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g3dab19ec515_8_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Three lines of prior evidence motivate this project, and each one leaves a gap we close. First, behavioral evidence from Wagner and colleagues: they generated emotionless text-to-speech from transcripts, fed it to an SER model, and the model still recovered valence accurately. So text alone is enough - but this was one dataset, one architecture. Does it generalize? Second, representation evidence from Pasad and Shah: in wav2vec 2.0, information flows acoustic, then linguistic, then back to acoustic across depth, while HuBERT keeps it deeper. But they studied general phonetic content, not emotion. Third, emotion-specific probing: Triantafyllopoulos and Singh find that emotion accuracy peaks in the same middle layers as linguistic content. The confound is suggested, never broken. Our contribution is a twelve-task framework that closes all three gaps - scaling probing to six encoders, eight datasets and seven languages, and adding falsification tests that actively break the linguistic shortcut: CREMA-D's fixed lexicon, BERT alignment, adversarial gradient reversal, and EMIS congruent-versus-incongruent text-emotion pairs.</a:t>
            </a:r>
            <a:endParaRPr/>
          </a:p>
        </p:txBody>
      </p:sp>
      <p:sp>
        <p:nvSpPr>
          <p:cNvPr id="63" name="Google Shape;63;g3dab19ec515_8_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ab19ec515_1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3dab19ec515_10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Our 29,000 utterances are not a random collection - every dataset is doing a specific job. Group A is our cross-lingual benchmark: five acted corpora in English, German, British English, Greek and Spanish. The non-English ones were never seen during pretraining, so any consistent layer pattern across them is direct evidence of language-agnostic encoding. Group B is the realism stress test - IEMOCAP and MSP-Podcast bring real conversational speech, real noise and dimensional valence-arousal-dominance labels. And Group C, highlighted on the right, is the falsification corpus: CREMA-D fixes the words at twelve sentences across ninety-one actors, so any classification accuracy at all has to come from the voice - not the text. On top of those eight datasets, we mix in ESC-50 environmental noise across four SNR levels, use the EMIS subset to deliberately mismatch words and emotion, and run a SpeechCraft pooled cross-lingual benchmark on a balanced GigaSpeech-M manifest of about twenty thousand clips.</a:t>
            </a:r>
            <a:endParaRPr/>
          </a:p>
        </p:txBody>
      </p:sp>
      <p:sp>
        <p:nvSpPr>
          <p:cNvPr id="105" name="Google Shape;105;g3dab19ec515_10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ab19ec515_1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dab19ec515_10_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Our entire methodology fits on one slide because it is intentionally simple. Top row, the pipeline: raw audio is resampled to sixteen kilohertz, fed through one of six frozen pretrained transformers, and the hidden state at every layer - up to twenty-five per encoder - is mean-pooled across time and handed to a logistic-regression probe trained with five-fold stratified cross-validation. Nothing fancy on top, because we are not trying to win - we are trying to ask, layer by layer, where emotion lives. Middle row, twelve experiments organized into five themes. Architecture: six encoders, plus LoRA fine-tuning and a learned attention layer-mixer to compare against frozen probes. Robustness: ESC-50 noise mixed at four signal-to-noise ratios, plus the same noise sweep on V/A/D regression. Linguistic-bias falsification: BERT alignment, gradient-reversal adversarial removal, and the EMIS congruent versus incongruent test. Generalization: MSP-Podcast and the SpeechCraft pooled cross-lingual benchmark. Dimensional emotion: V/A/D regression and using V/A/D predictions as features for a downstream classifier. Bottom row, the four falsification tests in detail - these are the headline scientific contribution because each one removes or controls a different aspect of the linguistic signal. When all four agree, we can safely call the encoding acoustic, not lexical.</a:t>
            </a:r>
            <a:endParaRPr/>
          </a:p>
        </p:txBody>
      </p:sp>
      <p:sp>
        <p:nvSpPr>
          <p:cNvPr id="188" name="Google Shape;188;g3dab19ec515_10_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ab19ec51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3dab19ec51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This is the central claim of the project. We suspected the model might be cheating by leaning on the words rather than the voice. So we designed four tests, each one strips out the linguistic shortcut from a different angle. If the model were really reading words, at least one of these tests should catch it.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Test one is CREMA D. The same 12 sentences are spoken by 91 actors across 6 emotions. The words are constant, so any classification accuracy has to come from voice. Every model still peaks in the same middle to late band. WavLM at layer 9 hits 0.756, HuBERT at layer 7 hits 0.748. The words can not explain that.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Test two is GRL adversarial. We add a gradient reversal head that punishes the encoder for being able to predict the sentence ID. At full strength, sentence accuracy collapses to 0.39 while emotion holds above 0.93 on three of the four models. The model can lose the words and still keep the emotion.</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Test three is EMIS, where the spoken text and the spoken emotion are deliberately mismatched. We track the gap between audio emotion and text emotion across layers. Deep layers on HuBERT, wav2vec2, and WavLM swing toward text. Whisper at layer 24 inverts to negative 0.239 because supervised pretraining keeps it acoustic. That is a clean counter example.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Test four is the Speechcraft compiled benchmark, exactly the cross language evaluation promised in our midterm plan. It tests whether the layer pattern survives when datasets and languages are mixed.</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The key point on the bottom strip is this. Each test independently removes a different linguistic shortcut. Word variation, word information in gradients, alignment between words and voice, and language consistency. The fact that all four still find emotion in the same layers is what makes the linguistic agnostic claim strong. One test agreeing could be a coincidence. Four independent attacks all failing to break the result is real evidence.</a:t>
            </a:r>
            <a:endParaRPr/>
          </a:p>
        </p:txBody>
      </p:sp>
      <p:sp>
        <p:nvSpPr>
          <p:cNvPr id="306" name="Google Shape;306;g3dab19ec51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e692312ed1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e692312ed1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Two questions on this slide. First, does fine tuning help. Second, does the model itself want to mix layers when given the choice.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Look at the heatmap on the left. Each cell shows the accuracy delta between LoRA tuning and frozen probing at that layer and dataset. Blue means LoRA hurts, red means LoRA helps. Almost everything is blue. Across all 30 model and dataset combinations, frozen wins on 29 of them. The features are already there from pretraining. Tuning a small adapter overwrites them more than it helps.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On the layer mixer, we replaced the per layer probe with a softmax attention head over all 25 hidden states and let it learn its own weights. Whisper concentrates 79 to 94 percent of attention on layer 24, which makes sense because Whisper was supervised on transcription and it crams emotion late. The SSL models, wav2vec2, HuBERT, WavLM, spread attention over the middle layers around 4 to 11, which is exactly where the per layer probing peaks.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The mixer only beats per layer probing on IEMOCAP. Everywhere else a single best layer matches it. So the mixer corroborates our per layer story rather than replacing it. Frozen probes already win, and the mixer agrees.</a:t>
            </a:r>
            <a:endParaRPr/>
          </a:p>
        </p:txBody>
      </p:sp>
      <p:sp>
        <p:nvSpPr>
          <p:cNvPr id="341" name="Google Shape;341;g3e692312ed1_0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e692312ed1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3e692312ed1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g3e692312ed1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ab19ec515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g3dab19ec515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This is the foundational result. We probed all six encoders across our seven datasets and looked at where the per layer accuracy peaks. The pattern is remarkably consistent.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On acted speech, the peak sits in the middle to late transformer layers. Look at EmoDB on the left. HuBERT peaks at layer 11 with 0.989. w2v BERT peaks at layer 17 with 0.987. WavLM at layer 9 hits 0.985. Whisper at layer 13 hits 0.985. wav2vec2 peaks earlier at layer 7 with 0.976. Even the lowest, MERT, hits 0.961. Six different pretraining objectives, six different architectures, but they all encode emotion at roughly comparable depth.</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The heatmap on the right shows this across all the acted datasets. The pattern holds for German EmoDB, Greek AESDD, Spanish MESD, English RAVDESS and SAVEE. On spontaneous speech, IEMOCAP, the peak shifts earlier toward layer 1 or 2 and accuracy drops, because real conversational emotion relies more on low level acoustic shifts that the early layers capture better.</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One model behaves differently. wav2vec2 collapses past layer 20, falling as low as 0.31 on MESD. HuBERT and Whisper hold their accuracy through the deep layers because their training objectives preserve more information.</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The takeaway is that emotion has a stable home in the middle to late layers across all of these models. That is the foundation everything else in this talk sits on.</a:t>
            </a:r>
            <a:endParaRPr/>
          </a:p>
        </p:txBody>
      </p:sp>
      <p:sp>
        <p:nvSpPr>
          <p:cNvPr id="385" name="Google Shape;385;g3dab19ec515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dab19ec515_5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g3dab19ec515_5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This slide is the dimensional emotion result that the professor specifically asked for last Friday. Instead of predicting categorical emotions, we trained the same per layer probes to regress on continuous valence, arousal, and dominance values from MSP Podcast.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The numbers on the left tell the whole story. Mean RMSE across all six encoders, dominance lands at 0.699, arousal at 0.730, valence at 0.881. Valence is dramatically harder than the other two.</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The heatmap on the right makes this visible. Look at the bottom rows, EmoVal across all six models is much darker than the EmoAct and EmoDom rows above it. Higher RMSE everywhere on valence.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Now why does this matter? This is exactly what prior work predicts. Wagner in 2023 and Triantafyllopoulos in 2022 showed that valence benefits from linguistic content but arousal and dominance do not. So if our models were doing the linguistic agnostic thing right, valence should be the hard dimension because it is the dimension that genuinely needs words. And that is exactly what we see.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So this is not just a separate result. It is convergent evidence for the linguistic agnostic claim. The voice carries arousal and dominance cleanly, and the part of emotion that genuinely depends on words is the part our probes struggle with. Voice not words holds, and the model fails in exactly the way our hypothesis predicts.</a:t>
            </a:r>
            <a:endParaRPr/>
          </a:p>
        </p:txBody>
      </p:sp>
      <p:sp>
        <p:nvSpPr>
          <p:cNvPr id="416" name="Google Shape;416;g3dab19ec515_5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ab19ec515_10_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g3dab19ec515_10_2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To conclude. We started with one question: when these transformers predict emotion, are they hearing voice or reading words? Three big answers came out of twelve experiments. First, where: emotion is encoded consistently in middle-to-late layers across every encoder, every dataset and every language we tested. Second, how: the signal is acoustic, not lexical - four independent falsification tests confirm it, and Whisper is the only model that natively resists the lexical shortcut, likely because of its supervised multilingual pretraining. Third, what next: frozen probes already win on twenty-nine of thirty combos against LoRA fine-tuning, so the practical recipe is to probe, not tune. Future work would extend the SpeechCraft pooled benchmark to eight-class emotion and validate on real-world deployment audio. The bottom line: speech transformers CAN hear emotion in voice alone, but they do not always CHOOSE to. With the right probing recipe, you can locate exactly where the acoustic signal lives - and prove it is acoustic. Thank you.  </a:t>
            </a:r>
            <a:endParaRPr/>
          </a:p>
        </p:txBody>
      </p:sp>
      <p:sp>
        <p:nvSpPr>
          <p:cNvPr id="443" name="Google Shape;443;g3dab19ec515_10_2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dab19ec515_5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g3dab19ec515_5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To conclude. We started with one question: when these transformers predict emotion, are they hearing voice or reading words? Three big answers came out of twelve experiments. First, where: emotion is encoded consistently in middle-to-late layers across every encoder, every dataset and every language we tested. Second, how: the signal is acoustic, not lexical - four independent falsification tests confirm it, and Whisper is the only model that natively resists the lexical shortcut, likely because of its supervised multilingual pretraining. Third, what next: frozen probes already win on twenty-nine of thirty combos against LoRA fine-tuning, so the practical recipe is to probe, not tune. Future work would extend the SpeechCraft pooled benchmark to eight-class emotion and validate on real-world deployment audio. The bottom line: speech transformers CAN hear emotion in voice alone, but they do not always CHOOSE to. With the right probing recipe, you can locate exactly where the acoustic signal lives - and prove it is acoustic. Thank you.  </a:t>
            </a:r>
            <a:endParaRPr/>
          </a:p>
        </p:txBody>
      </p:sp>
      <p:sp>
        <p:nvSpPr>
          <p:cNvPr id="472" name="Google Shape;472;g3dab19ec515_5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dab19ec515_1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g3dab19ec515_12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501" name="Google Shape;501;g3dab19ec515_12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dab19ec515_10_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g3dab19ec515_10_2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Our project builds on three core lines of literature: Wagner and colleagues' demonstration that valence can be recovered from text alone, Pasad's layer-wise analysis showing the U-shape of acoustic-then-linguistic-then-acoustic in wav2vec 2.0, and Triantafyllopoulos's probing work that first quantified the linguistic-bias confound. Code and all per-experiment results live in the GitHub repository, and every run is logged to the AGSER Weights and Biases project.</a:t>
            </a:r>
            <a:endParaRPr/>
          </a:p>
        </p:txBody>
      </p:sp>
      <p:sp>
        <p:nvSpPr>
          <p:cNvPr id="549" name="Google Shape;549;g3dab19ec515_10_2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7" name="Shape 17"/>
        <p:cNvGrpSpPr/>
        <p:nvPr/>
      </p:nvGrpSpPr>
      <p:grpSpPr>
        <a:xfrm>
          <a:off x="0" y="0"/>
          <a:ext cx="0" cy="0"/>
          <a:chOff x="0" y="0"/>
          <a:chExt cx="0" cy="0"/>
        </a:xfrm>
      </p:grpSpPr>
      <p:sp>
        <p:nvSpPr>
          <p:cNvPr id="18" name="Google Shape;18;p1"/>
          <p:cNvSpPr/>
          <p:nvPr/>
        </p:nvSpPr>
        <p:spPr>
          <a:xfrm>
            <a:off x="0" y="0"/>
            <a:ext cx="320040" cy="6858000"/>
          </a:xfrm>
          <a:prstGeom prst="rect">
            <a:avLst/>
          </a:prstGeom>
          <a:solidFill>
            <a:srgbClr val="065A82"/>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822960" y="1920240"/>
            <a:ext cx="1051560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Linguistic-Agnostic Speech Emotion Recognition</a:t>
            </a:r>
            <a:endParaRPr b="0" i="0" sz="4400" u="none" cap="none" strike="noStrike">
              <a:solidFill>
                <a:schemeClr val="dk1"/>
              </a:solidFill>
              <a:latin typeface="Calibri"/>
              <a:ea typeface="Calibri"/>
              <a:cs typeface="Calibri"/>
              <a:sym typeface="Calibri"/>
            </a:endParaRPr>
          </a:p>
        </p:txBody>
      </p:sp>
      <p:sp>
        <p:nvSpPr>
          <p:cNvPr id="20" name="Google Shape;20;p1"/>
          <p:cNvSpPr/>
          <p:nvPr/>
        </p:nvSpPr>
        <p:spPr>
          <a:xfrm>
            <a:off x="822960" y="3246120"/>
            <a:ext cx="10515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2200"/>
              <a:buFont typeface="Calibri"/>
              <a:buNone/>
            </a:pPr>
            <a:r>
              <a:rPr b="0" i="1" lang="en-US" sz="2200" u="none" cap="none" strike="noStrike">
                <a:solidFill>
                  <a:srgbClr val="CADCFC"/>
                </a:solidFill>
                <a:latin typeface="Calibri"/>
                <a:ea typeface="Calibri"/>
                <a:cs typeface="Calibri"/>
                <a:sym typeface="Calibri"/>
              </a:rPr>
              <a:t>A Probing Approach to Acoustic Emotion Encoding</a:t>
            </a:r>
            <a:endParaRPr b="0" i="0" sz="2200" u="none" cap="none" strike="noStrike">
              <a:solidFill>
                <a:schemeClr val="dk1"/>
              </a:solidFill>
              <a:latin typeface="Calibri"/>
              <a:ea typeface="Calibri"/>
              <a:cs typeface="Calibri"/>
              <a:sym typeface="Calibri"/>
            </a:endParaRPr>
          </a:p>
        </p:txBody>
      </p:sp>
      <p:sp>
        <p:nvSpPr>
          <p:cNvPr id="21" name="Google Shape;21;p1"/>
          <p:cNvSpPr/>
          <p:nvPr/>
        </p:nvSpPr>
        <p:spPr>
          <a:xfrm>
            <a:off x="822960" y="3977640"/>
            <a:ext cx="1371600" cy="36576"/>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822960" y="4206240"/>
            <a:ext cx="1051560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  Nima Kelidari  ·  Minoo Ahmadi  ·  </a:t>
            </a:r>
            <a:r>
              <a:rPr b="0" i="0" lang="en-US" sz="1600" u="none" cap="none" strike="noStrike">
                <a:solidFill>
                  <a:schemeClr val="lt1"/>
                </a:solidFill>
                <a:latin typeface="Calibri"/>
                <a:ea typeface="Calibri"/>
                <a:cs typeface="Calibri"/>
                <a:sym typeface="Calibri"/>
              </a:rPr>
              <a:t>Chaitanya Parwatkar ·  </a:t>
            </a:r>
            <a:r>
              <a:rPr b="0" i="0" lang="en-US" sz="1600" u="none" cap="none" strike="noStrike">
                <a:solidFill>
                  <a:srgbClr val="FFFFFF"/>
                </a:solidFill>
                <a:latin typeface="Calibri"/>
                <a:ea typeface="Calibri"/>
                <a:cs typeface="Calibri"/>
                <a:sym typeface="Calibri"/>
              </a:rPr>
              <a:t>Xiangxu Lin</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CADCFC"/>
              </a:buClr>
              <a:buSzPts val="1400"/>
              <a:buFont typeface="Calibri"/>
              <a:buNone/>
            </a:pPr>
            <a:r>
              <a:rPr b="0" i="1" lang="en-US" sz="1400" u="none" cap="none" strike="noStrike">
                <a:solidFill>
                  <a:srgbClr val="CADCFC"/>
                </a:solidFill>
                <a:latin typeface="Calibri"/>
                <a:ea typeface="Calibri"/>
                <a:cs typeface="Calibri"/>
                <a:sym typeface="Calibri"/>
              </a:rPr>
              <a:t>      CSCI 535  ·  Prof. Mohammad Soleymani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g3dab19ec515_8_12"/>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 name="Google Shape;29;g3dab19ec515_8_12"/>
          <p:cNvSpPr/>
          <p:nvPr/>
        </p:nvSpPr>
        <p:spPr>
          <a:xfrm>
            <a:off x="0" y="0"/>
            <a:ext cx="1417320" cy="4572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 name="Google Shape;30;g3dab19ec515_8_12"/>
          <p:cNvSpPr txBox="1"/>
          <p:nvPr/>
        </p:nvSpPr>
        <p:spPr>
          <a:xfrm>
            <a:off x="164592" y="118872"/>
            <a:ext cx="1280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PROBLEM</a:t>
            </a:r>
            <a:endParaRPr/>
          </a:p>
        </p:txBody>
      </p:sp>
      <p:sp>
        <p:nvSpPr>
          <p:cNvPr id="31" name="Google Shape;31;g3dab19ec515_8_12"/>
          <p:cNvSpPr txBox="1"/>
          <p:nvPr/>
        </p:nvSpPr>
        <p:spPr>
          <a:xfrm>
            <a:off x="502920" y="658368"/>
            <a:ext cx="11430000" cy="65836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3400" u="none" cap="none" strike="noStrike">
                <a:solidFill>
                  <a:srgbClr val="1A2A57"/>
                </a:solidFill>
                <a:latin typeface="Calibri"/>
                <a:ea typeface="Calibri"/>
                <a:cs typeface="Calibri"/>
                <a:sym typeface="Calibri"/>
              </a:rPr>
              <a:t>Where does emotion live in speech transformers?</a:t>
            </a:r>
            <a:endParaRPr/>
          </a:p>
        </p:txBody>
      </p:sp>
      <p:sp>
        <p:nvSpPr>
          <p:cNvPr id="32" name="Google Shape;32;g3dab19ec515_8_12"/>
          <p:cNvSpPr txBox="1"/>
          <p:nvPr/>
        </p:nvSpPr>
        <p:spPr>
          <a:xfrm>
            <a:off x="502920" y="1275873"/>
            <a:ext cx="11430000" cy="27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1" lang="en-US" sz="1800" u="none" cap="none" strike="noStrike">
                <a:solidFill>
                  <a:srgbClr val="6B7280"/>
                </a:solidFill>
                <a:latin typeface="Calibri"/>
                <a:ea typeface="Calibri"/>
                <a:cs typeface="Calibri"/>
                <a:sym typeface="Calibri"/>
              </a:rPr>
              <a:t>Are SOTA SER models hearing the voice  or just reading the words?</a:t>
            </a:r>
            <a:endParaRPr b="1" sz="1700"/>
          </a:p>
        </p:txBody>
      </p:sp>
      <p:sp>
        <p:nvSpPr>
          <p:cNvPr id="33" name="Google Shape;33;g3dab19ec515_8_12"/>
          <p:cNvSpPr txBox="1"/>
          <p:nvPr/>
        </p:nvSpPr>
        <p:spPr>
          <a:xfrm>
            <a:off x="453570" y="1747806"/>
            <a:ext cx="5989200" cy="354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300" u="none" cap="none" strike="noStrike">
                <a:solidFill>
                  <a:srgbClr val="1A2A57"/>
                </a:solidFill>
                <a:latin typeface="Calibri"/>
                <a:ea typeface="Calibri"/>
                <a:cs typeface="Calibri"/>
                <a:sym typeface="Calibri"/>
              </a:rPr>
              <a:t>The setup</a:t>
            </a:r>
            <a:endParaRPr sz="2300"/>
          </a:p>
        </p:txBody>
      </p:sp>
      <p:sp>
        <p:nvSpPr>
          <p:cNvPr id="34" name="Google Shape;34;g3dab19ec515_8_12"/>
          <p:cNvSpPr txBox="1"/>
          <p:nvPr/>
        </p:nvSpPr>
        <p:spPr>
          <a:xfrm>
            <a:off x="502925" y="2185425"/>
            <a:ext cx="5717100" cy="1431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1500" u="none" cap="none" strike="noStrike">
                <a:solidFill>
                  <a:srgbClr val="1F293D"/>
                </a:solidFill>
                <a:latin typeface="Calibri"/>
                <a:ea typeface="Calibri"/>
                <a:cs typeface="Calibri"/>
                <a:sym typeface="Calibri"/>
              </a:rPr>
              <a:t>wav2vec 2.0, HuBERT, Whisper, WavLM, MERT, w2v-BERT</a:t>
            </a:r>
            <a:r>
              <a:rPr b="0" i="0" lang="en-US" sz="1500" u="none" cap="none" strike="noStrike">
                <a:solidFill>
                  <a:srgbClr val="1F293D"/>
                </a:solidFill>
                <a:latin typeface="Calibri"/>
                <a:ea typeface="Calibri"/>
                <a:cs typeface="Calibri"/>
                <a:sym typeface="Calibri"/>
              </a:rPr>
              <a:t> (all of them with </a:t>
            </a:r>
            <a:r>
              <a:rPr lang="en-US" sz="1500">
                <a:solidFill>
                  <a:srgbClr val="1F293D"/>
                </a:solidFill>
                <a:latin typeface="Calibri"/>
                <a:ea typeface="Calibri"/>
                <a:cs typeface="Calibri"/>
                <a:sym typeface="Calibri"/>
              </a:rPr>
              <a:t>24 layers), </a:t>
            </a:r>
            <a:r>
              <a:rPr b="0" i="0" lang="en-US" sz="1500" u="none" cap="none" strike="noStrike">
                <a:solidFill>
                  <a:srgbClr val="1F293D"/>
                </a:solidFill>
                <a:latin typeface="Calibri"/>
                <a:ea typeface="Calibri"/>
                <a:cs typeface="Calibri"/>
                <a:sym typeface="Calibri"/>
              </a:rPr>
              <a:t>all hit state-of-the-art on SER </a:t>
            </a:r>
            <a:r>
              <a:rPr lang="en-US" sz="1500">
                <a:solidFill>
                  <a:srgbClr val="1F293D"/>
                </a:solidFill>
                <a:latin typeface="Calibri"/>
                <a:ea typeface="Calibri"/>
                <a:cs typeface="Calibri"/>
                <a:sym typeface="Calibri"/>
              </a:rPr>
              <a:t>- </a:t>
            </a:r>
            <a:r>
              <a:rPr b="0" i="0" lang="en-US" sz="1500" u="none" cap="none" strike="noStrike">
                <a:solidFill>
                  <a:srgbClr val="1F293D"/>
                </a:solidFill>
                <a:latin typeface="Calibri"/>
                <a:ea typeface="Calibri"/>
                <a:cs typeface="Calibri"/>
                <a:sym typeface="Calibri"/>
              </a:rPr>
              <a:t> but every one was pretrained for </a:t>
            </a:r>
            <a:r>
              <a:rPr b="0" i="1" lang="en-US" sz="1500" u="none" cap="none" strike="noStrike">
                <a:solidFill>
                  <a:srgbClr val="1F293D"/>
                </a:solidFill>
                <a:latin typeface="Calibri"/>
                <a:ea typeface="Calibri"/>
                <a:cs typeface="Calibri"/>
                <a:sym typeface="Calibri"/>
              </a:rPr>
              <a:t>speech recognition, not emotion</a:t>
            </a:r>
            <a:r>
              <a:rPr b="0" i="0" lang="en-US" sz="1500" u="none" cap="none" strike="noStrike">
                <a:solidFill>
                  <a:srgbClr val="1F293D"/>
                </a:solidFill>
                <a:latin typeface="Calibri"/>
                <a:ea typeface="Calibri"/>
                <a:cs typeface="Calibri"/>
                <a:sym typeface="Calibri"/>
              </a:rPr>
              <a:t>. So when a probe predicts an emotion, is the model </a:t>
            </a:r>
            <a:r>
              <a:rPr b="1" i="0" lang="en-US" sz="1500" u="none" cap="none" strike="noStrike">
                <a:solidFill>
                  <a:srgbClr val="1A2A57"/>
                </a:solidFill>
                <a:latin typeface="Calibri"/>
                <a:ea typeface="Calibri"/>
                <a:cs typeface="Calibri"/>
                <a:sym typeface="Calibri"/>
              </a:rPr>
              <a:t>hearing the voice</a:t>
            </a:r>
            <a:r>
              <a:rPr b="0" i="0" lang="en-US" sz="1500" u="none" cap="none" strike="noStrike">
                <a:solidFill>
                  <a:srgbClr val="1F293D"/>
                </a:solidFill>
                <a:latin typeface="Calibri"/>
                <a:ea typeface="Calibri"/>
                <a:cs typeface="Calibri"/>
                <a:sym typeface="Calibri"/>
              </a:rPr>
              <a:t>, or just </a:t>
            </a:r>
            <a:r>
              <a:rPr b="1" i="0" lang="en-US" sz="1500" u="none" cap="none" strike="noStrike">
                <a:solidFill>
                  <a:srgbClr val="C9732C"/>
                </a:solidFill>
                <a:latin typeface="Calibri"/>
                <a:ea typeface="Calibri"/>
                <a:cs typeface="Calibri"/>
                <a:sym typeface="Calibri"/>
              </a:rPr>
              <a:t>reading the words</a:t>
            </a:r>
            <a:r>
              <a:rPr b="0" i="0" lang="en-US" sz="1500" u="none" cap="none" strike="noStrike">
                <a:solidFill>
                  <a:srgbClr val="1F293D"/>
                </a:solidFill>
                <a:latin typeface="Calibri"/>
                <a:ea typeface="Calibri"/>
                <a:cs typeface="Calibri"/>
                <a:sym typeface="Calibri"/>
              </a:rPr>
              <a:t> it implicitly transcribed?</a:t>
            </a:r>
            <a:endParaRPr sz="1600"/>
          </a:p>
        </p:txBody>
      </p:sp>
      <p:sp>
        <p:nvSpPr>
          <p:cNvPr id="35" name="Google Shape;35;g3dab19ec515_8_12"/>
          <p:cNvSpPr/>
          <p:nvPr/>
        </p:nvSpPr>
        <p:spPr>
          <a:xfrm>
            <a:off x="453545" y="4112871"/>
            <a:ext cx="201300" cy="201300"/>
          </a:xfrm>
          <a:prstGeom prst="ellipse">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 name="Google Shape;36;g3dab19ec515_8_12"/>
          <p:cNvSpPr txBox="1"/>
          <p:nvPr/>
        </p:nvSpPr>
        <p:spPr>
          <a:xfrm>
            <a:off x="819305" y="4085439"/>
            <a:ext cx="5623500" cy="4479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550" u="none" cap="none" strike="noStrike">
                <a:solidFill>
                  <a:srgbClr val="1A2A57"/>
                </a:solidFill>
                <a:latin typeface="Calibri"/>
                <a:ea typeface="Calibri"/>
                <a:cs typeface="Calibri"/>
                <a:sym typeface="Calibri"/>
              </a:rPr>
              <a:t>Language-dependent</a:t>
            </a:r>
            <a:endParaRPr sz="1600"/>
          </a:p>
          <a:p>
            <a:pPr indent="0" lvl="0" marL="0" marR="0" rtl="0" algn="l">
              <a:lnSpc>
                <a:spcPct val="120000"/>
              </a:lnSpc>
              <a:spcBef>
                <a:spcPts val="100"/>
              </a:spcBef>
              <a:spcAft>
                <a:spcPts val="0"/>
              </a:spcAft>
              <a:buNone/>
            </a:pPr>
            <a:r>
              <a:rPr b="0" i="0" lang="en-US" sz="1200" u="none" cap="none" strike="noStrike">
                <a:solidFill>
                  <a:srgbClr val="404755"/>
                </a:solidFill>
                <a:latin typeface="Calibri"/>
                <a:ea typeface="Calibri"/>
                <a:cs typeface="Calibri"/>
                <a:sym typeface="Calibri"/>
              </a:rPr>
              <a:t>fails on languages the encoder never saw during pretraining.</a:t>
            </a:r>
            <a:endParaRPr/>
          </a:p>
        </p:txBody>
      </p:sp>
      <p:sp>
        <p:nvSpPr>
          <p:cNvPr id="37" name="Google Shape;37;g3dab19ec515_8_12"/>
          <p:cNvSpPr/>
          <p:nvPr/>
        </p:nvSpPr>
        <p:spPr>
          <a:xfrm>
            <a:off x="453545" y="4789527"/>
            <a:ext cx="201300" cy="201300"/>
          </a:xfrm>
          <a:prstGeom prst="ellipse">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 name="Google Shape;38;g3dab19ec515_8_12"/>
          <p:cNvSpPr txBox="1"/>
          <p:nvPr/>
        </p:nvSpPr>
        <p:spPr>
          <a:xfrm>
            <a:off x="819305" y="4762095"/>
            <a:ext cx="5623500" cy="4479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550" u="none" cap="none" strike="noStrike">
                <a:solidFill>
                  <a:srgbClr val="1A2A57"/>
                </a:solidFill>
                <a:latin typeface="Calibri"/>
                <a:ea typeface="Calibri"/>
                <a:cs typeface="Calibri"/>
                <a:sym typeface="Calibri"/>
              </a:rPr>
              <a:t>Sarcasm-blind</a:t>
            </a:r>
            <a:endParaRPr sz="1600"/>
          </a:p>
          <a:p>
            <a:pPr indent="0" lvl="0" marL="0" marR="0" rtl="0" algn="l">
              <a:lnSpc>
                <a:spcPct val="120000"/>
              </a:lnSpc>
              <a:spcBef>
                <a:spcPts val="100"/>
              </a:spcBef>
              <a:spcAft>
                <a:spcPts val="0"/>
              </a:spcAft>
              <a:buNone/>
            </a:pPr>
            <a:r>
              <a:rPr b="0" i="0" lang="en-US" sz="1200" u="none" cap="none" strike="noStrike">
                <a:solidFill>
                  <a:srgbClr val="404755"/>
                </a:solidFill>
                <a:latin typeface="Calibri"/>
                <a:ea typeface="Calibri"/>
                <a:cs typeface="Calibri"/>
                <a:sym typeface="Calibri"/>
              </a:rPr>
              <a:t>wrong when words and delivery disagree.</a:t>
            </a:r>
            <a:endParaRPr/>
          </a:p>
        </p:txBody>
      </p:sp>
      <p:sp>
        <p:nvSpPr>
          <p:cNvPr id="39" name="Google Shape;39;g3dab19ec515_8_12"/>
          <p:cNvSpPr/>
          <p:nvPr/>
        </p:nvSpPr>
        <p:spPr>
          <a:xfrm>
            <a:off x="453545" y="5466183"/>
            <a:ext cx="201300" cy="201300"/>
          </a:xfrm>
          <a:prstGeom prst="ellipse">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0" name="Google Shape;40;g3dab19ec515_8_12"/>
          <p:cNvSpPr txBox="1"/>
          <p:nvPr/>
        </p:nvSpPr>
        <p:spPr>
          <a:xfrm>
            <a:off x="819305" y="5438751"/>
            <a:ext cx="5623500" cy="4479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550" u="none" cap="none" strike="noStrike">
                <a:solidFill>
                  <a:srgbClr val="1A2A57"/>
                </a:solidFill>
                <a:latin typeface="Calibri"/>
                <a:ea typeface="Calibri"/>
                <a:cs typeface="Calibri"/>
                <a:sym typeface="Calibri"/>
              </a:rPr>
              <a:t>Context-fragile</a:t>
            </a:r>
            <a:endParaRPr sz="1600"/>
          </a:p>
          <a:p>
            <a:pPr indent="0" lvl="0" marL="0" marR="0" rtl="0" algn="l">
              <a:lnSpc>
                <a:spcPct val="120000"/>
              </a:lnSpc>
              <a:spcBef>
                <a:spcPts val="100"/>
              </a:spcBef>
              <a:spcAft>
                <a:spcPts val="0"/>
              </a:spcAft>
              <a:buNone/>
            </a:pPr>
            <a:r>
              <a:rPr b="0" i="0" lang="en-US" sz="1200" u="none" cap="none" strike="noStrike">
                <a:solidFill>
                  <a:srgbClr val="404755"/>
                </a:solidFill>
                <a:latin typeface="Calibri"/>
                <a:ea typeface="Calibri"/>
                <a:cs typeface="Calibri"/>
                <a:sym typeface="Calibri"/>
              </a:rPr>
              <a:t>drifts under noise, accents, and unscripted conversation.</a:t>
            </a:r>
            <a:endParaRPr/>
          </a:p>
        </p:txBody>
      </p:sp>
      <p:sp>
        <p:nvSpPr>
          <p:cNvPr id="41" name="Google Shape;41;g3dab19ec515_8_12"/>
          <p:cNvSpPr/>
          <p:nvPr/>
        </p:nvSpPr>
        <p:spPr>
          <a:xfrm>
            <a:off x="6523175" y="1874525"/>
            <a:ext cx="5226900" cy="4251900"/>
          </a:xfrm>
          <a:prstGeom prst="rect">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 name="Google Shape;42;g3dab19ec515_8_12"/>
          <p:cNvSpPr txBox="1"/>
          <p:nvPr/>
        </p:nvSpPr>
        <p:spPr>
          <a:xfrm>
            <a:off x="6890255" y="2066458"/>
            <a:ext cx="44349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1" lang="en-US" sz="2400" u="none" cap="none" strike="noStrike">
                <a:solidFill>
                  <a:srgbClr val="1A2A57"/>
                </a:solidFill>
                <a:latin typeface="Calibri"/>
                <a:ea typeface="Calibri"/>
                <a:cs typeface="Calibri"/>
                <a:sym typeface="Calibri"/>
              </a:rPr>
              <a:t>“That was great”</a:t>
            </a:r>
            <a:endParaRPr sz="1800"/>
          </a:p>
        </p:txBody>
      </p:sp>
      <p:sp>
        <p:nvSpPr>
          <p:cNvPr id="43" name="Google Shape;43;g3dab19ec515_8_12"/>
          <p:cNvSpPr txBox="1"/>
          <p:nvPr/>
        </p:nvSpPr>
        <p:spPr>
          <a:xfrm>
            <a:off x="6919180" y="2435750"/>
            <a:ext cx="4434900" cy="22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1" lang="en-US" sz="1450" u="none" cap="none" strike="noStrike">
                <a:solidFill>
                  <a:srgbClr val="6B7280"/>
                </a:solidFill>
                <a:latin typeface="Calibri"/>
                <a:ea typeface="Calibri"/>
                <a:cs typeface="Calibri"/>
                <a:sym typeface="Calibri"/>
              </a:rPr>
              <a:t>Same words. Two voices. Two different truths.</a:t>
            </a:r>
            <a:endParaRPr b="1" sz="1700"/>
          </a:p>
        </p:txBody>
      </p:sp>
      <p:sp>
        <p:nvSpPr>
          <p:cNvPr id="44" name="Google Shape;44;g3dab19ec515_8_12"/>
          <p:cNvSpPr txBox="1"/>
          <p:nvPr/>
        </p:nvSpPr>
        <p:spPr>
          <a:xfrm>
            <a:off x="7013874" y="2926575"/>
            <a:ext cx="9852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6B7280"/>
                </a:solidFill>
                <a:latin typeface="Calibri"/>
                <a:ea typeface="Calibri"/>
                <a:cs typeface="Calibri"/>
                <a:sym typeface="Calibri"/>
              </a:rPr>
              <a:t>Tone</a:t>
            </a:r>
            <a:endParaRPr sz="1600"/>
          </a:p>
        </p:txBody>
      </p:sp>
      <p:sp>
        <p:nvSpPr>
          <p:cNvPr id="45" name="Google Shape;45;g3dab19ec515_8_12"/>
          <p:cNvSpPr txBox="1"/>
          <p:nvPr/>
        </p:nvSpPr>
        <p:spPr>
          <a:xfrm>
            <a:off x="7998953" y="2926575"/>
            <a:ext cx="1108800" cy="2001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6B7280"/>
                </a:solidFill>
                <a:latin typeface="Calibri"/>
                <a:ea typeface="Calibri"/>
                <a:cs typeface="Calibri"/>
                <a:sym typeface="Calibri"/>
              </a:rPr>
              <a:t>Words</a:t>
            </a:r>
            <a:endParaRPr sz="1600"/>
          </a:p>
        </p:txBody>
      </p:sp>
      <p:sp>
        <p:nvSpPr>
          <p:cNvPr id="46" name="Google Shape;46;g3dab19ec515_8_12"/>
          <p:cNvSpPr txBox="1"/>
          <p:nvPr/>
        </p:nvSpPr>
        <p:spPr>
          <a:xfrm>
            <a:off x="9107663" y="2926575"/>
            <a:ext cx="1108800" cy="2001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6B7280"/>
                </a:solidFill>
                <a:latin typeface="Calibri"/>
                <a:ea typeface="Calibri"/>
                <a:cs typeface="Calibri"/>
                <a:sym typeface="Calibri"/>
              </a:rPr>
              <a:t>Voice</a:t>
            </a:r>
            <a:endParaRPr sz="1600"/>
          </a:p>
        </p:txBody>
      </p:sp>
      <p:sp>
        <p:nvSpPr>
          <p:cNvPr id="47" name="Google Shape;47;g3dab19ec515_8_12"/>
          <p:cNvSpPr txBox="1"/>
          <p:nvPr/>
        </p:nvSpPr>
        <p:spPr>
          <a:xfrm>
            <a:off x="10216373" y="2926575"/>
            <a:ext cx="1108800" cy="2001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6B7280"/>
                </a:solidFill>
                <a:latin typeface="Calibri"/>
                <a:ea typeface="Calibri"/>
                <a:cs typeface="Calibri"/>
                <a:sym typeface="Calibri"/>
              </a:rPr>
              <a:t>Result</a:t>
            </a:r>
            <a:endParaRPr sz="1600"/>
          </a:p>
        </p:txBody>
      </p:sp>
      <p:cxnSp>
        <p:nvCxnSpPr>
          <p:cNvPr id="48" name="Google Shape;48;g3dab19ec515_8_12"/>
          <p:cNvCxnSpPr/>
          <p:nvPr/>
        </p:nvCxnSpPr>
        <p:spPr>
          <a:xfrm flipH="1" rot="10800000">
            <a:off x="6739650" y="3264325"/>
            <a:ext cx="4736100" cy="11700"/>
          </a:xfrm>
          <a:prstGeom prst="straightConnector1">
            <a:avLst/>
          </a:prstGeom>
          <a:noFill/>
          <a:ln cap="flat" cmpd="sng" w="9525">
            <a:solidFill>
              <a:srgbClr val="D5DBE8"/>
            </a:solidFill>
            <a:prstDash val="solid"/>
            <a:round/>
            <a:headEnd len="sm" w="sm" type="none"/>
            <a:tailEnd len="sm" w="sm" type="none"/>
          </a:ln>
          <a:effectLst>
            <a:outerShdw blurRad="40000" rotWithShape="0" dir="5400000" dist="20000">
              <a:srgbClr val="000000">
                <a:alpha val="38039"/>
              </a:srgbClr>
            </a:outerShdw>
          </a:effectLst>
        </p:spPr>
      </p:cxnSp>
      <p:sp>
        <p:nvSpPr>
          <p:cNvPr id="49" name="Google Shape;49;g3dab19ec515_8_12"/>
          <p:cNvSpPr txBox="1"/>
          <p:nvPr/>
        </p:nvSpPr>
        <p:spPr>
          <a:xfrm>
            <a:off x="6890280" y="3406132"/>
            <a:ext cx="11088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600" u="none" cap="none" strike="noStrike">
                <a:solidFill>
                  <a:srgbClr val="1A2A57"/>
                </a:solidFill>
                <a:latin typeface="Calibri"/>
                <a:ea typeface="Calibri"/>
                <a:cs typeface="Calibri"/>
                <a:sym typeface="Calibri"/>
              </a:rPr>
              <a:t>Enthusiastic</a:t>
            </a:r>
            <a:endParaRPr sz="1600"/>
          </a:p>
        </p:txBody>
      </p:sp>
      <p:sp>
        <p:nvSpPr>
          <p:cNvPr id="50" name="Google Shape;50;g3dab19ec515_8_12"/>
          <p:cNvSpPr txBox="1"/>
          <p:nvPr/>
        </p:nvSpPr>
        <p:spPr>
          <a:xfrm>
            <a:off x="7998990" y="3406132"/>
            <a:ext cx="1108800" cy="231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1500" u="none" cap="none" strike="noStrike">
                <a:solidFill>
                  <a:srgbClr val="1F293D"/>
                </a:solidFill>
                <a:latin typeface="Calibri"/>
                <a:ea typeface="Calibri"/>
                <a:cs typeface="Calibri"/>
                <a:sym typeface="Calibri"/>
              </a:rPr>
              <a:t>positive</a:t>
            </a:r>
            <a:endParaRPr sz="1600"/>
          </a:p>
        </p:txBody>
      </p:sp>
      <p:sp>
        <p:nvSpPr>
          <p:cNvPr id="51" name="Google Shape;51;g3dab19ec515_8_12"/>
          <p:cNvSpPr txBox="1"/>
          <p:nvPr/>
        </p:nvSpPr>
        <p:spPr>
          <a:xfrm>
            <a:off x="9107700" y="3406132"/>
            <a:ext cx="1108800" cy="231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1500" u="none" cap="none" strike="noStrike">
                <a:solidFill>
                  <a:srgbClr val="1F293D"/>
                </a:solidFill>
                <a:latin typeface="Calibri"/>
                <a:ea typeface="Calibri"/>
                <a:cs typeface="Calibri"/>
                <a:sym typeface="Calibri"/>
              </a:rPr>
              <a:t>happy</a:t>
            </a:r>
            <a:endParaRPr sz="1600"/>
          </a:p>
        </p:txBody>
      </p:sp>
      <p:sp>
        <p:nvSpPr>
          <p:cNvPr id="52" name="Google Shape;52;g3dab19ec515_8_12"/>
          <p:cNvSpPr txBox="1"/>
          <p:nvPr/>
        </p:nvSpPr>
        <p:spPr>
          <a:xfrm>
            <a:off x="10216410" y="3406132"/>
            <a:ext cx="1108800" cy="2463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600" u="none" cap="none" strike="noStrike">
                <a:solidFill>
                  <a:srgbClr val="2E8B57"/>
                </a:solidFill>
                <a:latin typeface="Calibri"/>
                <a:ea typeface="Calibri"/>
                <a:cs typeface="Calibri"/>
                <a:sym typeface="Calibri"/>
              </a:rPr>
              <a:t>agree</a:t>
            </a:r>
            <a:endParaRPr sz="1600"/>
          </a:p>
        </p:txBody>
      </p:sp>
      <p:sp>
        <p:nvSpPr>
          <p:cNvPr id="53" name="Google Shape;53;g3dab19ec515_8_12"/>
          <p:cNvSpPr txBox="1"/>
          <p:nvPr/>
        </p:nvSpPr>
        <p:spPr>
          <a:xfrm>
            <a:off x="6890280" y="3936485"/>
            <a:ext cx="11088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600" u="none" cap="none" strike="noStrike">
                <a:solidFill>
                  <a:srgbClr val="1A2A57"/>
                </a:solidFill>
                <a:latin typeface="Calibri"/>
                <a:ea typeface="Calibri"/>
                <a:cs typeface="Calibri"/>
                <a:sym typeface="Calibri"/>
              </a:rPr>
              <a:t>Sarcastic</a:t>
            </a:r>
            <a:endParaRPr sz="1600"/>
          </a:p>
        </p:txBody>
      </p:sp>
      <p:sp>
        <p:nvSpPr>
          <p:cNvPr id="54" name="Google Shape;54;g3dab19ec515_8_12"/>
          <p:cNvSpPr txBox="1"/>
          <p:nvPr/>
        </p:nvSpPr>
        <p:spPr>
          <a:xfrm>
            <a:off x="7998990" y="3936485"/>
            <a:ext cx="1108800" cy="231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1500" u="none" cap="none" strike="noStrike">
                <a:solidFill>
                  <a:srgbClr val="1F293D"/>
                </a:solidFill>
                <a:latin typeface="Calibri"/>
                <a:ea typeface="Calibri"/>
                <a:cs typeface="Calibri"/>
                <a:sym typeface="Calibri"/>
              </a:rPr>
              <a:t>positive</a:t>
            </a:r>
            <a:endParaRPr sz="1600"/>
          </a:p>
        </p:txBody>
      </p:sp>
      <p:sp>
        <p:nvSpPr>
          <p:cNvPr id="55" name="Google Shape;55;g3dab19ec515_8_12"/>
          <p:cNvSpPr txBox="1"/>
          <p:nvPr/>
        </p:nvSpPr>
        <p:spPr>
          <a:xfrm>
            <a:off x="9107700" y="3936485"/>
            <a:ext cx="1108800" cy="231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1500" u="none" cap="none" strike="noStrike">
                <a:solidFill>
                  <a:srgbClr val="1F293D"/>
                </a:solidFill>
                <a:latin typeface="Calibri"/>
                <a:ea typeface="Calibri"/>
                <a:cs typeface="Calibri"/>
                <a:sym typeface="Calibri"/>
              </a:rPr>
              <a:t>angry</a:t>
            </a:r>
            <a:endParaRPr sz="1600"/>
          </a:p>
        </p:txBody>
      </p:sp>
      <p:sp>
        <p:nvSpPr>
          <p:cNvPr id="56" name="Google Shape;56;g3dab19ec515_8_12"/>
          <p:cNvSpPr txBox="1"/>
          <p:nvPr/>
        </p:nvSpPr>
        <p:spPr>
          <a:xfrm>
            <a:off x="10216410" y="3936485"/>
            <a:ext cx="1108800" cy="2463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600" u="none" cap="none" strike="noStrike">
                <a:solidFill>
                  <a:srgbClr val="C24545"/>
                </a:solidFill>
                <a:latin typeface="Calibri"/>
                <a:ea typeface="Calibri"/>
                <a:cs typeface="Calibri"/>
                <a:sym typeface="Calibri"/>
              </a:rPr>
              <a:t>disagree</a:t>
            </a:r>
            <a:endParaRPr sz="1600"/>
          </a:p>
        </p:txBody>
      </p:sp>
      <p:sp>
        <p:nvSpPr>
          <p:cNvPr id="57" name="Google Shape;57;g3dab19ec515_8_12"/>
          <p:cNvSpPr txBox="1"/>
          <p:nvPr/>
        </p:nvSpPr>
        <p:spPr>
          <a:xfrm>
            <a:off x="6782975" y="4843213"/>
            <a:ext cx="4707300" cy="5880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550" u="none" cap="none" strike="noStrike">
                <a:solidFill>
                  <a:srgbClr val="1F293D"/>
                </a:solidFill>
                <a:latin typeface="Calibri"/>
                <a:ea typeface="Calibri"/>
                <a:cs typeface="Calibri"/>
                <a:sym typeface="Calibri"/>
              </a:rPr>
              <a:t>Both rows correct →</a:t>
            </a:r>
            <a:r>
              <a:rPr b="1" i="0" lang="en-US" sz="1550" u="none" cap="none" strike="noStrike">
                <a:solidFill>
                  <a:srgbClr val="2E8B57"/>
                </a:solidFill>
                <a:latin typeface="Calibri"/>
                <a:ea typeface="Calibri"/>
                <a:cs typeface="Calibri"/>
                <a:sym typeface="Calibri"/>
              </a:rPr>
              <a:t> the model is listening to the voice.</a:t>
            </a:r>
            <a:endParaRPr sz="1700"/>
          </a:p>
          <a:p>
            <a:pPr indent="0" lvl="0" marL="0" marR="0" rtl="0" algn="l">
              <a:lnSpc>
                <a:spcPct val="125000"/>
              </a:lnSpc>
              <a:spcBef>
                <a:spcPts val="400"/>
              </a:spcBef>
              <a:spcAft>
                <a:spcPts val="0"/>
              </a:spcAft>
              <a:buNone/>
            </a:pPr>
            <a:r>
              <a:rPr b="0" i="0" lang="en-US" sz="1550" u="none" cap="none" strike="noStrike">
                <a:solidFill>
                  <a:srgbClr val="1F293D"/>
                </a:solidFill>
                <a:latin typeface="Calibri"/>
                <a:ea typeface="Calibri"/>
                <a:cs typeface="Calibri"/>
                <a:sym typeface="Calibri"/>
              </a:rPr>
              <a:t>Sarcastic row wrong →</a:t>
            </a:r>
            <a:r>
              <a:rPr b="1" i="0" lang="en-US" sz="1550" u="none" cap="none" strike="noStrike">
                <a:solidFill>
                  <a:srgbClr val="C24545"/>
                </a:solidFill>
                <a:latin typeface="Calibri"/>
                <a:ea typeface="Calibri"/>
                <a:cs typeface="Calibri"/>
                <a:sym typeface="Calibri"/>
              </a:rPr>
              <a:t> it’s just reading the words.</a:t>
            </a:r>
            <a:endParaRPr sz="1700"/>
          </a:p>
        </p:txBody>
      </p:sp>
      <p:sp>
        <p:nvSpPr>
          <p:cNvPr id="58" name="Google Shape;58;g3dab19ec515_8_12"/>
          <p:cNvSpPr/>
          <p:nvPr/>
        </p:nvSpPr>
        <p:spPr>
          <a:xfrm>
            <a:off x="0" y="6355080"/>
            <a:ext cx="12191695" cy="50292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 name="Google Shape;59;g3dab19ec515_8_12"/>
          <p:cNvSpPr txBox="1"/>
          <p:nvPr/>
        </p:nvSpPr>
        <p:spPr>
          <a:xfrm>
            <a:off x="502920" y="6446520"/>
            <a:ext cx="1133856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00" u="none" cap="none" strike="noStrike">
                <a:solidFill>
                  <a:srgbClr val="E8924A"/>
                </a:solidFill>
                <a:latin typeface="Calibri"/>
                <a:ea typeface="Calibri"/>
                <a:cs typeface="Calibri"/>
                <a:sym typeface="Calibri"/>
              </a:rPr>
              <a:t>Our answer:  </a:t>
            </a:r>
            <a:r>
              <a:rPr b="0" i="0" lang="en-US" sz="1300" u="none" cap="none" strike="noStrike">
                <a:solidFill>
                  <a:srgbClr val="FFFFFF"/>
                </a:solidFill>
                <a:latin typeface="Calibri"/>
                <a:ea typeface="Calibri"/>
                <a:cs typeface="Calibri"/>
                <a:sym typeface="Calibri"/>
              </a:rPr>
              <a:t>12 targeted experiments across </a:t>
            </a:r>
            <a:r>
              <a:rPr b="1" i="0" lang="en-US" sz="1300" u="none" cap="none" strike="noStrike">
                <a:solidFill>
                  <a:srgbClr val="FFFFFF"/>
                </a:solidFill>
                <a:latin typeface="Calibri"/>
                <a:ea typeface="Calibri"/>
                <a:cs typeface="Calibri"/>
                <a:sym typeface="Calibri"/>
              </a:rPr>
              <a:t>6 encoders · 8 datasets · 7 languages</a:t>
            </a:r>
            <a:r>
              <a:rPr b="0" i="0" lang="en-US" sz="1300" u="none" cap="none" strike="noStrike">
                <a:solidFill>
                  <a:srgbClr val="FFFFFF"/>
                </a:solidFill>
                <a:latin typeface="Calibri"/>
                <a:ea typeface="Calibri"/>
                <a:cs typeface="Calibri"/>
                <a:sym typeface="Calibri"/>
              </a:rPr>
              <a:t> — to prove the signal is acoustic, not lexical.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g3dab19ec515_8_48"/>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 name="Google Shape;66;g3dab19ec515_8_48"/>
          <p:cNvSpPr/>
          <p:nvPr/>
        </p:nvSpPr>
        <p:spPr>
          <a:xfrm>
            <a:off x="0" y="0"/>
            <a:ext cx="1417320" cy="4572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 name="Google Shape;67;g3dab19ec515_8_48"/>
          <p:cNvSpPr txBox="1"/>
          <p:nvPr/>
        </p:nvSpPr>
        <p:spPr>
          <a:xfrm>
            <a:off x="164592" y="118872"/>
            <a:ext cx="1280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BACKGROUND</a:t>
            </a:r>
            <a:endParaRPr/>
          </a:p>
        </p:txBody>
      </p:sp>
      <p:sp>
        <p:nvSpPr>
          <p:cNvPr id="68" name="Google Shape;68;g3dab19ec515_8_48"/>
          <p:cNvSpPr txBox="1"/>
          <p:nvPr/>
        </p:nvSpPr>
        <p:spPr>
          <a:xfrm>
            <a:off x="502920" y="658368"/>
            <a:ext cx="11430000" cy="5541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3600" u="none" cap="none" strike="noStrike">
                <a:solidFill>
                  <a:srgbClr val="1A2A57"/>
                </a:solidFill>
                <a:latin typeface="Calibri"/>
                <a:ea typeface="Calibri"/>
                <a:cs typeface="Calibri"/>
                <a:sym typeface="Calibri"/>
              </a:rPr>
              <a:t>What we know already</a:t>
            </a:r>
            <a:endParaRPr sz="1600"/>
          </a:p>
        </p:txBody>
      </p:sp>
      <p:sp>
        <p:nvSpPr>
          <p:cNvPr id="69" name="Google Shape;69;g3dab19ec515_8_48"/>
          <p:cNvSpPr txBox="1"/>
          <p:nvPr/>
        </p:nvSpPr>
        <p:spPr>
          <a:xfrm>
            <a:off x="502920" y="1298448"/>
            <a:ext cx="11430000" cy="26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1" lang="en-US" sz="1700" u="none" cap="none" strike="noStrike">
                <a:solidFill>
                  <a:srgbClr val="6B7280"/>
                </a:solidFill>
                <a:latin typeface="Calibri"/>
                <a:ea typeface="Calibri"/>
                <a:cs typeface="Calibri"/>
                <a:sym typeface="Calibri"/>
              </a:rPr>
              <a:t>Three lines of prior evidence each one leaves a gap our project closes.</a:t>
            </a:r>
            <a:endParaRPr b="1" sz="1600"/>
          </a:p>
        </p:txBody>
      </p:sp>
      <p:sp>
        <p:nvSpPr>
          <p:cNvPr id="70" name="Google Shape;70;g3dab19ec515_8_48"/>
          <p:cNvSpPr/>
          <p:nvPr/>
        </p:nvSpPr>
        <p:spPr>
          <a:xfrm>
            <a:off x="502920" y="1874519"/>
            <a:ext cx="3657600" cy="3749039"/>
          </a:xfrm>
          <a:prstGeom prst="roundRect">
            <a:avLst>
              <a:gd fmla="val 4000" name="adj"/>
            </a:avLst>
          </a:prstGeom>
          <a:solidFill>
            <a:srgbClr val="FFFFFF"/>
          </a:solidFill>
          <a:ln cap="flat" cmpd="sng" w="12700">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 name="Google Shape;71;g3dab19ec515_8_48"/>
          <p:cNvSpPr/>
          <p:nvPr/>
        </p:nvSpPr>
        <p:spPr>
          <a:xfrm>
            <a:off x="502920" y="1874519"/>
            <a:ext cx="3657600" cy="91440"/>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 name="Google Shape;72;g3dab19ec515_8_48"/>
          <p:cNvSpPr txBox="1"/>
          <p:nvPr/>
        </p:nvSpPr>
        <p:spPr>
          <a:xfrm>
            <a:off x="777240" y="2057400"/>
            <a:ext cx="13716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200" u="none" cap="none" strike="noStrike">
                <a:solidFill>
                  <a:srgbClr val="E8924A"/>
                </a:solidFill>
                <a:latin typeface="Calibri"/>
                <a:ea typeface="Calibri"/>
                <a:cs typeface="Calibri"/>
                <a:sym typeface="Calibri"/>
              </a:rPr>
              <a:t>01</a:t>
            </a:r>
            <a:endParaRPr/>
          </a:p>
        </p:txBody>
      </p:sp>
      <p:sp>
        <p:nvSpPr>
          <p:cNvPr id="73" name="Google Shape;73;g3dab19ec515_8_48"/>
          <p:cNvSpPr txBox="1"/>
          <p:nvPr/>
        </p:nvSpPr>
        <p:spPr>
          <a:xfrm>
            <a:off x="777240" y="2743200"/>
            <a:ext cx="31089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200" u="none" cap="none" strike="noStrike">
                <a:solidFill>
                  <a:srgbClr val="6B7280"/>
                </a:solidFill>
                <a:latin typeface="Calibri"/>
                <a:ea typeface="Calibri"/>
                <a:cs typeface="Calibri"/>
                <a:sym typeface="Calibri"/>
              </a:rPr>
              <a:t>BEHAVIORAL EVIDENCE</a:t>
            </a:r>
            <a:endParaRPr sz="1600"/>
          </a:p>
        </p:txBody>
      </p:sp>
      <p:sp>
        <p:nvSpPr>
          <p:cNvPr id="74" name="Google Shape;74;g3dab19ec515_8_48"/>
          <p:cNvSpPr txBox="1"/>
          <p:nvPr/>
        </p:nvSpPr>
        <p:spPr>
          <a:xfrm>
            <a:off x="777240" y="2990087"/>
            <a:ext cx="3108900" cy="307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1A2A57"/>
                </a:solidFill>
                <a:latin typeface="Calibri"/>
                <a:ea typeface="Calibri"/>
                <a:cs typeface="Calibri"/>
                <a:sym typeface="Calibri"/>
              </a:rPr>
              <a:t>Text alone is enough</a:t>
            </a:r>
            <a:endParaRPr b="1" sz="1600"/>
          </a:p>
        </p:txBody>
      </p:sp>
      <p:sp>
        <p:nvSpPr>
          <p:cNvPr id="75" name="Google Shape;75;g3dab19ec515_8_48"/>
          <p:cNvSpPr txBox="1"/>
          <p:nvPr/>
        </p:nvSpPr>
        <p:spPr>
          <a:xfrm>
            <a:off x="777240" y="3813048"/>
            <a:ext cx="3108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300" u="none" cap="none" strike="noStrike">
                <a:solidFill>
                  <a:srgbClr val="6B7280"/>
                </a:solidFill>
                <a:latin typeface="Calibri"/>
                <a:ea typeface="Calibri"/>
                <a:cs typeface="Calibri"/>
                <a:sym typeface="Calibri"/>
              </a:rPr>
              <a:t>Wagner et al., TPAMI 2023</a:t>
            </a:r>
            <a:endParaRPr sz="1600"/>
          </a:p>
        </p:txBody>
      </p:sp>
      <p:sp>
        <p:nvSpPr>
          <p:cNvPr id="76" name="Google Shape;76;g3dab19ec515_8_48"/>
          <p:cNvSpPr txBox="1"/>
          <p:nvPr/>
        </p:nvSpPr>
        <p:spPr>
          <a:xfrm>
            <a:off x="777240" y="4123944"/>
            <a:ext cx="3108900" cy="1056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u="none" cap="none" strike="noStrike">
                <a:solidFill>
                  <a:srgbClr val="1F293D"/>
                </a:solidFill>
                <a:latin typeface="Calibri"/>
                <a:ea typeface="Calibri"/>
                <a:cs typeface="Calibri"/>
                <a:sym typeface="Calibri"/>
              </a:rPr>
              <a:t>Synthesized emotionless speech from transcripts; an SER model still recovered valence accurately — showing it had been listening to the words, not the voice.</a:t>
            </a:r>
            <a:endParaRPr b="1" sz="1600"/>
          </a:p>
        </p:txBody>
      </p:sp>
      <p:sp>
        <p:nvSpPr>
          <p:cNvPr id="77" name="Google Shape;77;g3dab19ec515_8_48"/>
          <p:cNvSpPr/>
          <p:nvPr/>
        </p:nvSpPr>
        <p:spPr>
          <a:xfrm>
            <a:off x="502925" y="5361955"/>
            <a:ext cx="3657600" cy="261600"/>
          </a:xfrm>
          <a:prstGeom prst="rect">
            <a:avLst/>
          </a:prstGeom>
          <a:solidFill>
            <a:srgbClr val="E3E9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8" name="Google Shape;78;g3dab19ec515_8_48"/>
          <p:cNvSpPr txBox="1"/>
          <p:nvPr/>
        </p:nvSpPr>
        <p:spPr>
          <a:xfrm>
            <a:off x="777240" y="5383274"/>
            <a:ext cx="31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u="none" cap="none" strike="noStrike">
                <a:solidFill>
                  <a:srgbClr val="1A2A57"/>
                </a:solidFill>
                <a:latin typeface="Calibri"/>
                <a:ea typeface="Calibri"/>
                <a:cs typeface="Calibri"/>
                <a:sym typeface="Calibri"/>
              </a:rPr>
              <a:t>Gap:  </a:t>
            </a:r>
            <a:r>
              <a:rPr b="0" i="1" lang="en-US" u="none" cap="none" strike="noStrike">
                <a:solidFill>
                  <a:srgbClr val="404755"/>
                </a:solidFill>
                <a:latin typeface="Calibri"/>
                <a:ea typeface="Calibri"/>
                <a:cs typeface="Calibri"/>
                <a:sym typeface="Calibri"/>
              </a:rPr>
              <a:t>Single dataset, single architecture.</a:t>
            </a:r>
            <a:endParaRPr sz="1700"/>
          </a:p>
        </p:txBody>
      </p:sp>
      <p:sp>
        <p:nvSpPr>
          <p:cNvPr id="79" name="Google Shape;79;g3dab19ec515_8_48"/>
          <p:cNvSpPr/>
          <p:nvPr/>
        </p:nvSpPr>
        <p:spPr>
          <a:xfrm>
            <a:off x="4251959" y="1874519"/>
            <a:ext cx="3657600" cy="3749039"/>
          </a:xfrm>
          <a:prstGeom prst="roundRect">
            <a:avLst>
              <a:gd fmla="val 4000" name="adj"/>
            </a:avLst>
          </a:prstGeom>
          <a:solidFill>
            <a:srgbClr val="FFFFFF"/>
          </a:solidFill>
          <a:ln cap="flat" cmpd="sng" w="12700">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 name="Google Shape;80;g3dab19ec515_8_48"/>
          <p:cNvSpPr/>
          <p:nvPr/>
        </p:nvSpPr>
        <p:spPr>
          <a:xfrm>
            <a:off x="4251959" y="1874519"/>
            <a:ext cx="3657600" cy="91440"/>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 name="Google Shape;81;g3dab19ec515_8_48"/>
          <p:cNvSpPr txBox="1"/>
          <p:nvPr/>
        </p:nvSpPr>
        <p:spPr>
          <a:xfrm>
            <a:off x="4526279" y="2057400"/>
            <a:ext cx="13716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200" u="none" cap="none" strike="noStrike">
                <a:solidFill>
                  <a:srgbClr val="E8924A"/>
                </a:solidFill>
                <a:latin typeface="Calibri"/>
                <a:ea typeface="Calibri"/>
                <a:cs typeface="Calibri"/>
                <a:sym typeface="Calibri"/>
              </a:rPr>
              <a:t>02</a:t>
            </a:r>
            <a:endParaRPr/>
          </a:p>
        </p:txBody>
      </p:sp>
      <p:sp>
        <p:nvSpPr>
          <p:cNvPr id="82" name="Google Shape;82;g3dab19ec515_8_48"/>
          <p:cNvSpPr txBox="1"/>
          <p:nvPr/>
        </p:nvSpPr>
        <p:spPr>
          <a:xfrm>
            <a:off x="4526279" y="2743200"/>
            <a:ext cx="31089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200" u="none" cap="none" strike="noStrike">
                <a:solidFill>
                  <a:srgbClr val="6B7280"/>
                </a:solidFill>
                <a:latin typeface="Calibri"/>
                <a:ea typeface="Calibri"/>
                <a:cs typeface="Calibri"/>
                <a:sym typeface="Calibri"/>
              </a:rPr>
              <a:t>REPRESENTATION EVIDENCE</a:t>
            </a:r>
            <a:endParaRPr sz="1600"/>
          </a:p>
        </p:txBody>
      </p:sp>
      <p:sp>
        <p:nvSpPr>
          <p:cNvPr id="83" name="Google Shape;83;g3dab19ec515_8_48"/>
          <p:cNvSpPr txBox="1"/>
          <p:nvPr/>
        </p:nvSpPr>
        <p:spPr>
          <a:xfrm>
            <a:off x="4526279" y="2990087"/>
            <a:ext cx="3108900" cy="646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1A2A57"/>
                </a:solidFill>
                <a:latin typeface="Calibri"/>
                <a:ea typeface="Calibri"/>
                <a:cs typeface="Calibri"/>
                <a:sym typeface="Calibri"/>
              </a:rPr>
              <a:t>Layers swap acoustic for linguistic</a:t>
            </a:r>
            <a:endParaRPr sz="1600"/>
          </a:p>
        </p:txBody>
      </p:sp>
      <p:sp>
        <p:nvSpPr>
          <p:cNvPr id="84" name="Google Shape;84;g3dab19ec515_8_48"/>
          <p:cNvSpPr txBox="1"/>
          <p:nvPr/>
        </p:nvSpPr>
        <p:spPr>
          <a:xfrm>
            <a:off x="4526279" y="3813048"/>
            <a:ext cx="3108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300" u="none" cap="none" strike="noStrike">
                <a:solidFill>
                  <a:srgbClr val="6B7280"/>
                </a:solidFill>
                <a:latin typeface="Calibri"/>
                <a:ea typeface="Calibri"/>
                <a:cs typeface="Calibri"/>
                <a:sym typeface="Calibri"/>
              </a:rPr>
              <a:t>Pasad 2021 · Shah 2021</a:t>
            </a:r>
            <a:endParaRPr sz="1600"/>
          </a:p>
        </p:txBody>
      </p:sp>
      <p:sp>
        <p:nvSpPr>
          <p:cNvPr id="85" name="Google Shape;85;g3dab19ec515_8_48"/>
          <p:cNvSpPr txBox="1"/>
          <p:nvPr/>
        </p:nvSpPr>
        <p:spPr>
          <a:xfrm>
            <a:off x="4526279" y="4123944"/>
            <a:ext cx="3108900" cy="1056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u="none" cap="none" strike="noStrike">
                <a:solidFill>
                  <a:srgbClr val="1F293D"/>
                </a:solidFill>
                <a:latin typeface="Calibri"/>
                <a:ea typeface="Calibri"/>
                <a:cs typeface="Calibri"/>
                <a:sym typeface="Calibri"/>
              </a:rPr>
              <a:t>In wav2vec 2.0 information flows acoustic → linguistic → acoustic across depth. HuBERT keeps signal deeper thanks to its iterative clustering objective.</a:t>
            </a:r>
            <a:endParaRPr b="1" sz="1600"/>
          </a:p>
        </p:txBody>
      </p:sp>
      <p:sp>
        <p:nvSpPr>
          <p:cNvPr id="86" name="Google Shape;86;g3dab19ec515_8_48"/>
          <p:cNvSpPr/>
          <p:nvPr/>
        </p:nvSpPr>
        <p:spPr>
          <a:xfrm>
            <a:off x="4251962" y="5361955"/>
            <a:ext cx="3657600" cy="261600"/>
          </a:xfrm>
          <a:prstGeom prst="rect">
            <a:avLst/>
          </a:prstGeom>
          <a:solidFill>
            <a:srgbClr val="E3E9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 name="Google Shape;87;g3dab19ec515_8_48"/>
          <p:cNvSpPr txBox="1"/>
          <p:nvPr/>
        </p:nvSpPr>
        <p:spPr>
          <a:xfrm>
            <a:off x="4526279" y="5383274"/>
            <a:ext cx="3108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1A2A57"/>
                </a:solidFill>
                <a:latin typeface="Calibri"/>
                <a:ea typeface="Calibri"/>
                <a:cs typeface="Calibri"/>
                <a:sym typeface="Calibri"/>
              </a:rPr>
              <a:t>Gap:  </a:t>
            </a:r>
            <a:r>
              <a:rPr b="0" i="1" lang="en-US" sz="1300" u="none" cap="none" strike="noStrike">
                <a:solidFill>
                  <a:srgbClr val="404755"/>
                </a:solidFill>
                <a:latin typeface="Calibri"/>
                <a:ea typeface="Calibri"/>
                <a:cs typeface="Calibri"/>
                <a:sym typeface="Calibri"/>
              </a:rPr>
              <a:t>Phonetic content only — not emotion.</a:t>
            </a:r>
            <a:endParaRPr sz="1600"/>
          </a:p>
        </p:txBody>
      </p:sp>
      <p:sp>
        <p:nvSpPr>
          <p:cNvPr id="88" name="Google Shape;88;g3dab19ec515_8_48"/>
          <p:cNvSpPr/>
          <p:nvPr/>
        </p:nvSpPr>
        <p:spPr>
          <a:xfrm>
            <a:off x="8001000" y="1874519"/>
            <a:ext cx="3657600" cy="3749039"/>
          </a:xfrm>
          <a:prstGeom prst="roundRect">
            <a:avLst>
              <a:gd fmla="val 4000" name="adj"/>
            </a:avLst>
          </a:prstGeom>
          <a:solidFill>
            <a:srgbClr val="FFFFFF"/>
          </a:solidFill>
          <a:ln cap="flat" cmpd="sng" w="12700">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 name="Google Shape;89;g3dab19ec515_8_48"/>
          <p:cNvSpPr/>
          <p:nvPr/>
        </p:nvSpPr>
        <p:spPr>
          <a:xfrm>
            <a:off x="8001000" y="1874519"/>
            <a:ext cx="3657600" cy="91440"/>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 name="Google Shape;90;g3dab19ec515_8_48"/>
          <p:cNvSpPr txBox="1"/>
          <p:nvPr/>
        </p:nvSpPr>
        <p:spPr>
          <a:xfrm>
            <a:off x="8275320" y="2057400"/>
            <a:ext cx="13716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200" u="none" cap="none" strike="noStrike">
                <a:solidFill>
                  <a:srgbClr val="E8924A"/>
                </a:solidFill>
                <a:latin typeface="Calibri"/>
                <a:ea typeface="Calibri"/>
                <a:cs typeface="Calibri"/>
                <a:sym typeface="Calibri"/>
              </a:rPr>
              <a:t>03</a:t>
            </a:r>
            <a:endParaRPr/>
          </a:p>
        </p:txBody>
      </p:sp>
      <p:sp>
        <p:nvSpPr>
          <p:cNvPr id="91" name="Google Shape;91;g3dab19ec515_8_48"/>
          <p:cNvSpPr txBox="1"/>
          <p:nvPr/>
        </p:nvSpPr>
        <p:spPr>
          <a:xfrm>
            <a:off x="8275320" y="2743200"/>
            <a:ext cx="31089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200" u="none" cap="none" strike="noStrike">
                <a:solidFill>
                  <a:srgbClr val="6B7280"/>
                </a:solidFill>
                <a:latin typeface="Calibri"/>
                <a:ea typeface="Calibri"/>
                <a:cs typeface="Calibri"/>
                <a:sym typeface="Calibri"/>
              </a:rPr>
              <a:t>EMOTION-PROBING EVIDENCE</a:t>
            </a:r>
            <a:endParaRPr sz="1600"/>
          </a:p>
        </p:txBody>
      </p:sp>
      <p:sp>
        <p:nvSpPr>
          <p:cNvPr id="92" name="Google Shape;92;g3dab19ec515_8_48"/>
          <p:cNvSpPr txBox="1"/>
          <p:nvPr/>
        </p:nvSpPr>
        <p:spPr>
          <a:xfrm>
            <a:off x="8275320" y="2990087"/>
            <a:ext cx="3108900" cy="646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1A2A57"/>
                </a:solidFill>
                <a:latin typeface="Calibri"/>
                <a:ea typeface="Calibri"/>
                <a:cs typeface="Calibri"/>
                <a:sym typeface="Calibri"/>
              </a:rPr>
              <a:t>Emotion peaks where language peaks</a:t>
            </a:r>
            <a:endParaRPr sz="1600"/>
          </a:p>
        </p:txBody>
      </p:sp>
      <p:sp>
        <p:nvSpPr>
          <p:cNvPr id="93" name="Google Shape;93;g3dab19ec515_8_48"/>
          <p:cNvSpPr txBox="1"/>
          <p:nvPr/>
        </p:nvSpPr>
        <p:spPr>
          <a:xfrm>
            <a:off x="8275320" y="3813048"/>
            <a:ext cx="3108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300" u="none" cap="none" strike="noStrike">
                <a:solidFill>
                  <a:srgbClr val="6B7280"/>
                </a:solidFill>
                <a:latin typeface="Calibri"/>
                <a:ea typeface="Calibri"/>
                <a:cs typeface="Calibri"/>
                <a:sym typeface="Calibri"/>
              </a:rPr>
              <a:t>Triantafyllopoulos 2022 · Singh 2023</a:t>
            </a:r>
            <a:endParaRPr sz="1600"/>
          </a:p>
        </p:txBody>
      </p:sp>
      <p:sp>
        <p:nvSpPr>
          <p:cNvPr id="94" name="Google Shape;94;g3dab19ec515_8_48"/>
          <p:cNvSpPr txBox="1"/>
          <p:nvPr/>
        </p:nvSpPr>
        <p:spPr>
          <a:xfrm>
            <a:off x="8275320" y="4123944"/>
            <a:ext cx="3108900" cy="1056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u="none" cap="none" strike="noStrike">
                <a:solidFill>
                  <a:srgbClr val="1F293D"/>
                </a:solidFill>
                <a:latin typeface="Calibri"/>
                <a:ea typeface="Calibri"/>
                <a:cs typeface="Calibri"/>
                <a:sym typeface="Calibri"/>
              </a:rPr>
              <a:t>Probes find that emotion accuracy peaks in the same middle layers where linguistic content peaks. The confound is suggested… but never directly broken.</a:t>
            </a:r>
            <a:endParaRPr b="1" sz="1600"/>
          </a:p>
        </p:txBody>
      </p:sp>
      <p:sp>
        <p:nvSpPr>
          <p:cNvPr id="95" name="Google Shape;95;g3dab19ec515_8_48"/>
          <p:cNvSpPr/>
          <p:nvPr/>
        </p:nvSpPr>
        <p:spPr>
          <a:xfrm>
            <a:off x="8001002" y="5361955"/>
            <a:ext cx="3657600" cy="261600"/>
          </a:xfrm>
          <a:prstGeom prst="rect">
            <a:avLst/>
          </a:prstGeom>
          <a:solidFill>
            <a:srgbClr val="E3E9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 name="Google Shape;96;g3dab19ec515_8_48"/>
          <p:cNvSpPr txBox="1"/>
          <p:nvPr/>
        </p:nvSpPr>
        <p:spPr>
          <a:xfrm>
            <a:off x="8275320" y="5383274"/>
            <a:ext cx="3108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1A2A57"/>
                </a:solidFill>
                <a:latin typeface="Calibri"/>
                <a:ea typeface="Calibri"/>
                <a:cs typeface="Calibri"/>
                <a:sym typeface="Calibri"/>
              </a:rPr>
              <a:t>Gap:  </a:t>
            </a:r>
            <a:r>
              <a:rPr b="0" i="1" lang="en-US" sz="1300" u="none" cap="none" strike="noStrike">
                <a:solidFill>
                  <a:srgbClr val="404755"/>
                </a:solidFill>
                <a:latin typeface="Calibri"/>
                <a:ea typeface="Calibri"/>
                <a:cs typeface="Calibri"/>
                <a:sym typeface="Calibri"/>
              </a:rPr>
              <a:t>Correlation observed, never falsified.</a:t>
            </a:r>
            <a:endParaRPr sz="1600"/>
          </a:p>
        </p:txBody>
      </p:sp>
      <p:sp>
        <p:nvSpPr>
          <p:cNvPr id="97" name="Google Shape;97;g3dab19ec515_8_48"/>
          <p:cNvSpPr/>
          <p:nvPr/>
        </p:nvSpPr>
        <p:spPr>
          <a:xfrm>
            <a:off x="0" y="5852160"/>
            <a:ext cx="12191695" cy="100584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8" name="Google Shape;98;g3dab19ec515_8_48"/>
          <p:cNvSpPr/>
          <p:nvPr/>
        </p:nvSpPr>
        <p:spPr>
          <a:xfrm>
            <a:off x="0" y="5852160"/>
            <a:ext cx="12191695" cy="45720"/>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9" name="Google Shape;99;g3dab19ec515_8_48"/>
          <p:cNvSpPr txBox="1"/>
          <p:nvPr/>
        </p:nvSpPr>
        <p:spPr>
          <a:xfrm>
            <a:off x="411470" y="5973713"/>
            <a:ext cx="11338500" cy="223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50" u="none" cap="none" strike="noStrike">
                <a:solidFill>
                  <a:srgbClr val="E8924A"/>
                </a:solidFill>
                <a:latin typeface="Calibri"/>
                <a:ea typeface="Calibri"/>
                <a:cs typeface="Calibri"/>
                <a:sym typeface="Calibri"/>
              </a:rPr>
              <a:t>Our contribution:  </a:t>
            </a:r>
            <a:r>
              <a:rPr b="1" i="0" lang="en-US" sz="1450" u="none" cap="none" strike="noStrike">
                <a:solidFill>
                  <a:srgbClr val="FFFFFF"/>
                </a:solidFill>
                <a:latin typeface="Calibri"/>
                <a:ea typeface="Calibri"/>
                <a:cs typeface="Calibri"/>
                <a:sym typeface="Calibri"/>
              </a:rPr>
              <a:t>scale + falsification — a 12-task framework.</a:t>
            </a:r>
            <a:endParaRPr sz="1500"/>
          </a:p>
        </p:txBody>
      </p:sp>
      <p:sp>
        <p:nvSpPr>
          <p:cNvPr id="100" name="Google Shape;100;g3dab19ec515_8_48"/>
          <p:cNvSpPr txBox="1"/>
          <p:nvPr/>
        </p:nvSpPr>
        <p:spPr>
          <a:xfrm>
            <a:off x="411470" y="6272784"/>
            <a:ext cx="11338500" cy="169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100" u="none" cap="none" strike="noStrike">
                <a:solidFill>
                  <a:srgbClr val="E8924A"/>
                </a:solidFill>
                <a:latin typeface="Calibri"/>
                <a:ea typeface="Calibri"/>
                <a:cs typeface="Calibri"/>
                <a:sym typeface="Calibri"/>
              </a:rPr>
              <a:t>Architecture:  </a:t>
            </a:r>
            <a:r>
              <a:rPr b="1" i="0" lang="en-US" sz="1100" u="none" cap="none" strike="noStrike">
                <a:solidFill>
                  <a:srgbClr val="FFFFFF"/>
                </a:solidFill>
                <a:latin typeface="Calibri"/>
                <a:ea typeface="Calibri"/>
                <a:cs typeface="Calibri"/>
                <a:sym typeface="Calibri"/>
              </a:rPr>
              <a:t>6 encoders + LoRA + learned layer-mixer    </a:t>
            </a:r>
            <a:r>
              <a:rPr b="1" i="0" lang="en-US" sz="1100" u="none" cap="none" strike="noStrike">
                <a:solidFill>
                  <a:srgbClr val="E8924A"/>
                </a:solidFill>
                <a:latin typeface="Calibri"/>
                <a:ea typeface="Calibri"/>
                <a:cs typeface="Calibri"/>
                <a:sym typeface="Calibri"/>
              </a:rPr>
              <a:t>Robustness:  </a:t>
            </a:r>
            <a:r>
              <a:rPr b="1" i="0" lang="en-US" sz="1100" u="none" cap="none" strike="noStrike">
                <a:solidFill>
                  <a:srgbClr val="FFFFFF"/>
                </a:solidFill>
                <a:latin typeface="Calibri"/>
                <a:ea typeface="Calibri"/>
                <a:cs typeface="Calibri"/>
                <a:sym typeface="Calibri"/>
              </a:rPr>
              <a:t>ESC-50 noise · LOSO speaker-independence    </a:t>
            </a:r>
            <a:r>
              <a:rPr b="1" i="0" lang="en-US" sz="1100" u="none" cap="none" strike="noStrike">
                <a:solidFill>
                  <a:srgbClr val="E8924A"/>
                </a:solidFill>
                <a:latin typeface="Calibri"/>
                <a:ea typeface="Calibri"/>
                <a:cs typeface="Calibri"/>
                <a:sym typeface="Calibri"/>
              </a:rPr>
              <a:t>Generalization:  </a:t>
            </a:r>
            <a:r>
              <a:rPr b="1" i="0" lang="en-US" sz="1100" u="none" cap="none" strike="noStrike">
                <a:solidFill>
                  <a:srgbClr val="FFFFFF"/>
                </a:solidFill>
                <a:latin typeface="Calibri"/>
                <a:ea typeface="Calibri"/>
                <a:cs typeface="Calibri"/>
                <a:sym typeface="Calibri"/>
              </a:rPr>
              <a:t>MSP-Podcast · SpeechCraft pooled benchmark</a:t>
            </a:r>
            <a:endParaRPr b="1"/>
          </a:p>
        </p:txBody>
      </p:sp>
      <p:sp>
        <p:nvSpPr>
          <p:cNvPr id="101" name="Google Shape;101;g3dab19ec515_8_48"/>
          <p:cNvSpPr txBox="1"/>
          <p:nvPr/>
        </p:nvSpPr>
        <p:spPr>
          <a:xfrm>
            <a:off x="405575" y="6529650"/>
            <a:ext cx="11533200" cy="169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100" u="none" cap="none" strike="noStrike">
                <a:solidFill>
                  <a:srgbClr val="E8924A"/>
                </a:solidFill>
                <a:latin typeface="Calibri"/>
                <a:ea typeface="Calibri"/>
                <a:cs typeface="Calibri"/>
                <a:sym typeface="Calibri"/>
              </a:rPr>
              <a:t>Linguistic-bias falsification:  </a:t>
            </a:r>
            <a:r>
              <a:rPr b="1" i="0" lang="en-US" sz="1100" u="none" cap="none" strike="noStrike">
                <a:solidFill>
                  <a:srgbClr val="FFFFFF"/>
                </a:solidFill>
                <a:latin typeface="Calibri"/>
                <a:ea typeface="Calibri"/>
                <a:cs typeface="Calibri"/>
                <a:sym typeface="Calibri"/>
              </a:rPr>
              <a:t>CREMA-D fixed-lexicon · BERT alignment (CCA / CKA) · GRL adversarial removal · EMIS congruent vs. incongruent    </a:t>
            </a:r>
            <a:r>
              <a:rPr b="1" i="0" lang="en-US" sz="1100" u="none" cap="none" strike="noStrike">
                <a:solidFill>
                  <a:srgbClr val="E8924A"/>
                </a:solidFill>
                <a:latin typeface="Calibri"/>
                <a:ea typeface="Calibri"/>
                <a:cs typeface="Calibri"/>
                <a:sym typeface="Calibri"/>
              </a:rPr>
              <a:t>Dimensional V/A/D:  </a:t>
            </a:r>
            <a:r>
              <a:rPr b="1" i="0" lang="en-US" sz="1100" u="none" cap="none" strike="noStrike">
                <a:solidFill>
                  <a:srgbClr val="FFFFFF"/>
                </a:solidFill>
                <a:latin typeface="Calibri"/>
                <a:ea typeface="Calibri"/>
                <a:cs typeface="Calibri"/>
                <a:sym typeface="Calibri"/>
              </a:rPr>
              <a:t>regression + features-for-classifier</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dab19ec515_10_0"/>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 name="Google Shape;108;g3dab19ec515_10_0"/>
          <p:cNvSpPr/>
          <p:nvPr/>
        </p:nvSpPr>
        <p:spPr>
          <a:xfrm>
            <a:off x="0" y="0"/>
            <a:ext cx="1417320" cy="4572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g3dab19ec515_10_0"/>
          <p:cNvSpPr txBox="1"/>
          <p:nvPr/>
        </p:nvSpPr>
        <p:spPr>
          <a:xfrm>
            <a:off x="164592" y="118872"/>
            <a:ext cx="1280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DATA</a:t>
            </a:r>
            <a:endParaRPr/>
          </a:p>
        </p:txBody>
      </p:sp>
      <p:sp>
        <p:nvSpPr>
          <p:cNvPr id="110" name="Google Shape;110;g3dab19ec515_10_0"/>
          <p:cNvSpPr txBox="1"/>
          <p:nvPr/>
        </p:nvSpPr>
        <p:spPr>
          <a:xfrm>
            <a:off x="502920" y="658368"/>
            <a:ext cx="11430000" cy="65836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3400" u="none" cap="none" strike="noStrike">
                <a:solidFill>
                  <a:srgbClr val="1A2A57"/>
                </a:solidFill>
                <a:latin typeface="Calibri"/>
                <a:ea typeface="Calibri"/>
                <a:cs typeface="Calibri"/>
                <a:sym typeface="Calibri"/>
              </a:rPr>
              <a:t>8 datasets, 7 languages, 29k utterances</a:t>
            </a:r>
            <a:endParaRPr/>
          </a:p>
        </p:txBody>
      </p:sp>
      <p:sp>
        <p:nvSpPr>
          <p:cNvPr id="111" name="Google Shape;111;g3dab19ec515_10_0"/>
          <p:cNvSpPr txBox="1"/>
          <p:nvPr/>
        </p:nvSpPr>
        <p:spPr>
          <a:xfrm>
            <a:off x="502920" y="1256098"/>
            <a:ext cx="11430000" cy="23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1" lang="en-US" sz="1500" u="none" cap="none" strike="noStrike">
                <a:solidFill>
                  <a:srgbClr val="6B7280"/>
                </a:solidFill>
                <a:latin typeface="Calibri"/>
                <a:ea typeface="Calibri"/>
                <a:cs typeface="Calibri"/>
                <a:sym typeface="Calibri"/>
              </a:rPr>
              <a:t>Each dataset is doing a specific job — isolating language, speaker, or lexical confounds.</a:t>
            </a:r>
            <a:endParaRPr b="1"/>
          </a:p>
        </p:txBody>
      </p:sp>
      <p:sp>
        <p:nvSpPr>
          <p:cNvPr id="112" name="Google Shape;112;g3dab19ec515_10_0"/>
          <p:cNvSpPr txBox="1"/>
          <p:nvPr/>
        </p:nvSpPr>
        <p:spPr>
          <a:xfrm>
            <a:off x="502920" y="1783080"/>
            <a:ext cx="1417320" cy="50292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3200" u="none" cap="none" strike="noStrike">
                <a:solidFill>
                  <a:srgbClr val="1A2A57"/>
                </a:solidFill>
                <a:latin typeface="Calibri"/>
                <a:ea typeface="Calibri"/>
                <a:cs typeface="Calibri"/>
                <a:sym typeface="Calibri"/>
              </a:rPr>
              <a:t>29k</a:t>
            </a:r>
            <a:endParaRPr/>
          </a:p>
        </p:txBody>
      </p:sp>
      <p:sp>
        <p:nvSpPr>
          <p:cNvPr id="113" name="Google Shape;113;g3dab19ec515_10_0"/>
          <p:cNvSpPr txBox="1"/>
          <p:nvPr/>
        </p:nvSpPr>
        <p:spPr>
          <a:xfrm>
            <a:off x="502920" y="2286000"/>
            <a:ext cx="141732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6B7280"/>
                </a:solidFill>
                <a:latin typeface="Calibri"/>
                <a:ea typeface="Calibri"/>
                <a:cs typeface="Calibri"/>
                <a:sym typeface="Calibri"/>
              </a:rPr>
              <a:t>utterances</a:t>
            </a:r>
            <a:endParaRPr/>
          </a:p>
        </p:txBody>
      </p:sp>
      <p:sp>
        <p:nvSpPr>
          <p:cNvPr id="114" name="Google Shape;114;g3dab19ec515_10_0"/>
          <p:cNvSpPr txBox="1"/>
          <p:nvPr/>
        </p:nvSpPr>
        <p:spPr>
          <a:xfrm>
            <a:off x="2011680" y="1783080"/>
            <a:ext cx="1417320" cy="50292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3200" u="none" cap="none" strike="noStrike">
                <a:solidFill>
                  <a:srgbClr val="1A2A57"/>
                </a:solidFill>
                <a:latin typeface="Calibri"/>
                <a:ea typeface="Calibri"/>
                <a:cs typeface="Calibri"/>
                <a:sym typeface="Calibri"/>
              </a:rPr>
              <a:t>8</a:t>
            </a:r>
            <a:endParaRPr/>
          </a:p>
        </p:txBody>
      </p:sp>
      <p:sp>
        <p:nvSpPr>
          <p:cNvPr id="115" name="Google Shape;115;g3dab19ec515_10_0"/>
          <p:cNvSpPr txBox="1"/>
          <p:nvPr/>
        </p:nvSpPr>
        <p:spPr>
          <a:xfrm>
            <a:off x="2011680" y="2286000"/>
            <a:ext cx="141732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6B7280"/>
                </a:solidFill>
                <a:latin typeface="Calibri"/>
                <a:ea typeface="Calibri"/>
                <a:cs typeface="Calibri"/>
                <a:sym typeface="Calibri"/>
              </a:rPr>
              <a:t>datasets</a:t>
            </a:r>
            <a:endParaRPr/>
          </a:p>
        </p:txBody>
      </p:sp>
      <p:sp>
        <p:nvSpPr>
          <p:cNvPr id="116" name="Google Shape;116;g3dab19ec515_10_0"/>
          <p:cNvSpPr txBox="1"/>
          <p:nvPr/>
        </p:nvSpPr>
        <p:spPr>
          <a:xfrm>
            <a:off x="3520440" y="1783080"/>
            <a:ext cx="1417320" cy="50292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3200" u="none" cap="none" strike="noStrike">
                <a:solidFill>
                  <a:srgbClr val="1A2A57"/>
                </a:solidFill>
                <a:latin typeface="Calibri"/>
                <a:ea typeface="Calibri"/>
                <a:cs typeface="Calibri"/>
                <a:sym typeface="Calibri"/>
              </a:rPr>
              <a:t>7</a:t>
            </a:r>
            <a:endParaRPr/>
          </a:p>
        </p:txBody>
      </p:sp>
      <p:sp>
        <p:nvSpPr>
          <p:cNvPr id="117" name="Google Shape;117;g3dab19ec515_10_0"/>
          <p:cNvSpPr txBox="1"/>
          <p:nvPr/>
        </p:nvSpPr>
        <p:spPr>
          <a:xfrm>
            <a:off x="3520440" y="2286000"/>
            <a:ext cx="141732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6B7280"/>
                </a:solidFill>
                <a:latin typeface="Calibri"/>
                <a:ea typeface="Calibri"/>
                <a:cs typeface="Calibri"/>
                <a:sym typeface="Calibri"/>
              </a:rPr>
              <a:t>languages</a:t>
            </a:r>
            <a:endParaRPr/>
          </a:p>
        </p:txBody>
      </p:sp>
      <p:sp>
        <p:nvSpPr>
          <p:cNvPr id="118" name="Google Shape;118;g3dab19ec515_10_0"/>
          <p:cNvSpPr txBox="1"/>
          <p:nvPr/>
        </p:nvSpPr>
        <p:spPr>
          <a:xfrm>
            <a:off x="5029200" y="1783080"/>
            <a:ext cx="1417320" cy="50292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3200" u="none" cap="none" strike="noStrike">
                <a:solidFill>
                  <a:srgbClr val="1A2A57"/>
                </a:solidFill>
                <a:latin typeface="Calibri"/>
                <a:ea typeface="Calibri"/>
                <a:cs typeface="Calibri"/>
                <a:sym typeface="Calibri"/>
              </a:rPr>
              <a:t>3</a:t>
            </a:r>
            <a:endParaRPr/>
          </a:p>
        </p:txBody>
      </p:sp>
      <p:sp>
        <p:nvSpPr>
          <p:cNvPr id="119" name="Google Shape;119;g3dab19ec515_10_0"/>
          <p:cNvSpPr txBox="1"/>
          <p:nvPr/>
        </p:nvSpPr>
        <p:spPr>
          <a:xfrm>
            <a:off x="5029200" y="2286000"/>
            <a:ext cx="141732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6B7280"/>
                </a:solidFill>
                <a:latin typeface="Calibri"/>
                <a:ea typeface="Calibri"/>
                <a:cs typeface="Calibri"/>
                <a:sym typeface="Calibri"/>
              </a:rPr>
              <a:t>control regimes</a:t>
            </a:r>
            <a:endParaRPr/>
          </a:p>
        </p:txBody>
      </p:sp>
      <p:sp>
        <p:nvSpPr>
          <p:cNvPr id="120" name="Google Shape;120;g3dab19ec515_10_0"/>
          <p:cNvSpPr/>
          <p:nvPr/>
        </p:nvSpPr>
        <p:spPr>
          <a:xfrm>
            <a:off x="502920" y="2697480"/>
            <a:ext cx="3618890" cy="3383280"/>
          </a:xfrm>
          <a:prstGeom prst="roundRect">
            <a:avLst>
              <a:gd fmla="val 3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g3dab19ec515_10_0"/>
          <p:cNvSpPr/>
          <p:nvPr/>
        </p:nvSpPr>
        <p:spPr>
          <a:xfrm>
            <a:off x="502920" y="2697480"/>
            <a:ext cx="3618890" cy="384048"/>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 name="Google Shape;122;g3dab19ec515_10_0"/>
          <p:cNvSpPr txBox="1"/>
          <p:nvPr/>
        </p:nvSpPr>
        <p:spPr>
          <a:xfrm>
            <a:off x="685800" y="2788920"/>
            <a:ext cx="325313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050" u="none" cap="none" strike="noStrike">
                <a:solidFill>
                  <a:srgbClr val="FFFFFF"/>
                </a:solidFill>
                <a:latin typeface="Calibri"/>
                <a:ea typeface="Calibri"/>
                <a:cs typeface="Calibri"/>
                <a:sym typeface="Calibri"/>
              </a:rPr>
              <a:t>GROUP A  ·  CROSS-LINGUAL</a:t>
            </a:r>
            <a:endParaRPr/>
          </a:p>
        </p:txBody>
      </p:sp>
      <p:sp>
        <p:nvSpPr>
          <p:cNvPr id="123" name="Google Shape;123;g3dab19ec515_10_0"/>
          <p:cNvSpPr txBox="1"/>
          <p:nvPr/>
        </p:nvSpPr>
        <p:spPr>
          <a:xfrm>
            <a:off x="685800" y="3200400"/>
            <a:ext cx="3253130"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600" u="none" cap="none" strike="noStrike">
                <a:solidFill>
                  <a:srgbClr val="1A2A57"/>
                </a:solidFill>
                <a:latin typeface="Calibri"/>
                <a:ea typeface="Calibri"/>
                <a:cs typeface="Calibri"/>
                <a:sym typeface="Calibri"/>
              </a:rPr>
              <a:t>Acted, four languages</a:t>
            </a:r>
            <a:endParaRPr/>
          </a:p>
        </p:txBody>
      </p:sp>
      <p:sp>
        <p:nvSpPr>
          <p:cNvPr id="124" name="Google Shape;124;g3dab19ec515_10_0"/>
          <p:cNvSpPr txBox="1"/>
          <p:nvPr/>
        </p:nvSpPr>
        <p:spPr>
          <a:xfrm>
            <a:off x="685800" y="3611880"/>
            <a:ext cx="3253200" cy="440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1" lang="en-US" sz="1300" u="none" cap="none" strike="noStrike">
                <a:solidFill>
                  <a:srgbClr val="404755"/>
                </a:solidFill>
                <a:latin typeface="Calibri"/>
                <a:ea typeface="Calibri"/>
                <a:cs typeface="Calibri"/>
                <a:sym typeface="Calibri"/>
              </a:rPr>
              <a:t>Pretrained on English only — do middle-layer peaks survive Greek, German, Spanish?</a:t>
            </a:r>
            <a:endParaRPr sz="1300"/>
          </a:p>
        </p:txBody>
      </p:sp>
      <p:cxnSp>
        <p:nvCxnSpPr>
          <p:cNvPr id="125" name="Google Shape;125;g3dab19ec515_10_0"/>
          <p:cNvCxnSpPr/>
          <p:nvPr/>
        </p:nvCxnSpPr>
        <p:spPr>
          <a:xfrm>
            <a:off x="685725" y="4504545"/>
            <a:ext cx="3253200" cy="0"/>
          </a:xfrm>
          <a:prstGeom prst="straightConnector1">
            <a:avLst/>
          </a:prstGeom>
          <a:noFill/>
          <a:ln cap="flat" cmpd="sng" w="9525">
            <a:solidFill>
              <a:srgbClr val="D5DBE8"/>
            </a:solidFill>
            <a:prstDash val="solid"/>
            <a:round/>
            <a:headEnd len="sm" w="sm" type="none"/>
            <a:tailEnd len="sm" w="sm" type="none"/>
          </a:ln>
          <a:effectLst>
            <a:outerShdw blurRad="40000" rotWithShape="0" dir="5400000" dist="20000">
              <a:srgbClr val="000000">
                <a:alpha val="38039"/>
              </a:srgbClr>
            </a:outerShdw>
          </a:effectLst>
        </p:spPr>
      </p:cxnSp>
      <p:sp>
        <p:nvSpPr>
          <p:cNvPr id="126" name="Google Shape;126;g3dab19ec515_10_0"/>
          <p:cNvSpPr txBox="1"/>
          <p:nvPr/>
        </p:nvSpPr>
        <p:spPr>
          <a:xfrm>
            <a:off x="640125" y="4269203"/>
            <a:ext cx="11886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Dataset</a:t>
            </a:r>
            <a:endParaRPr sz="1600"/>
          </a:p>
        </p:txBody>
      </p:sp>
      <p:sp>
        <p:nvSpPr>
          <p:cNvPr id="127" name="Google Shape;127;g3dab19ec515_10_0"/>
          <p:cNvSpPr txBox="1"/>
          <p:nvPr/>
        </p:nvSpPr>
        <p:spPr>
          <a:xfrm>
            <a:off x="1828844" y="4269203"/>
            <a:ext cx="9600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Language</a:t>
            </a:r>
            <a:endParaRPr sz="1600"/>
          </a:p>
        </p:txBody>
      </p:sp>
      <p:sp>
        <p:nvSpPr>
          <p:cNvPr id="128" name="Google Shape;128;g3dab19ec515_10_0"/>
          <p:cNvSpPr txBox="1"/>
          <p:nvPr/>
        </p:nvSpPr>
        <p:spPr>
          <a:xfrm>
            <a:off x="2788964" y="4269203"/>
            <a:ext cx="594300" cy="1770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Files</a:t>
            </a:r>
            <a:endParaRPr sz="1600"/>
          </a:p>
        </p:txBody>
      </p:sp>
      <p:sp>
        <p:nvSpPr>
          <p:cNvPr id="129" name="Google Shape;129;g3dab19ec515_10_0"/>
          <p:cNvSpPr txBox="1"/>
          <p:nvPr/>
        </p:nvSpPr>
        <p:spPr>
          <a:xfrm>
            <a:off x="3429044" y="4269203"/>
            <a:ext cx="594300" cy="1770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Classes</a:t>
            </a:r>
            <a:endParaRPr sz="1600"/>
          </a:p>
        </p:txBody>
      </p:sp>
      <p:sp>
        <p:nvSpPr>
          <p:cNvPr id="130" name="Google Shape;130;g3dab19ec515_10_0"/>
          <p:cNvSpPr txBox="1"/>
          <p:nvPr/>
        </p:nvSpPr>
        <p:spPr>
          <a:xfrm>
            <a:off x="685800" y="4663440"/>
            <a:ext cx="11886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1A2A57"/>
                </a:solidFill>
                <a:latin typeface="Calibri"/>
                <a:ea typeface="Calibri"/>
                <a:cs typeface="Calibri"/>
                <a:sym typeface="Calibri"/>
              </a:rPr>
              <a:t>RAVDESS</a:t>
            </a:r>
            <a:endParaRPr sz="1600"/>
          </a:p>
        </p:txBody>
      </p:sp>
      <p:sp>
        <p:nvSpPr>
          <p:cNvPr id="131" name="Google Shape;131;g3dab19ec515_10_0"/>
          <p:cNvSpPr txBox="1"/>
          <p:nvPr/>
        </p:nvSpPr>
        <p:spPr>
          <a:xfrm>
            <a:off x="1874519" y="4663440"/>
            <a:ext cx="960000" cy="192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50" u="none" cap="none" strike="noStrike">
                <a:solidFill>
                  <a:srgbClr val="1F293D"/>
                </a:solidFill>
                <a:latin typeface="Calibri"/>
                <a:ea typeface="Calibri"/>
                <a:cs typeface="Calibri"/>
                <a:sym typeface="Calibri"/>
              </a:rPr>
              <a:t>English</a:t>
            </a:r>
            <a:endParaRPr sz="1600"/>
          </a:p>
        </p:txBody>
      </p:sp>
      <p:sp>
        <p:nvSpPr>
          <p:cNvPr id="132" name="Google Shape;132;g3dab19ec515_10_0"/>
          <p:cNvSpPr txBox="1"/>
          <p:nvPr/>
        </p:nvSpPr>
        <p:spPr>
          <a:xfrm>
            <a:off x="2834639" y="4663440"/>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250" u="none" cap="none" strike="noStrike">
                <a:solidFill>
                  <a:srgbClr val="1F293D"/>
                </a:solidFill>
                <a:latin typeface="Calibri"/>
                <a:ea typeface="Calibri"/>
                <a:cs typeface="Calibri"/>
                <a:sym typeface="Calibri"/>
              </a:rPr>
              <a:t>1,440</a:t>
            </a:r>
            <a:endParaRPr sz="1600"/>
          </a:p>
        </p:txBody>
      </p:sp>
      <p:sp>
        <p:nvSpPr>
          <p:cNvPr id="133" name="Google Shape;133;g3dab19ec515_10_0"/>
          <p:cNvSpPr txBox="1"/>
          <p:nvPr/>
        </p:nvSpPr>
        <p:spPr>
          <a:xfrm>
            <a:off x="3474719" y="4663440"/>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250" u="none" cap="none" strike="noStrike">
                <a:solidFill>
                  <a:srgbClr val="6B7280"/>
                </a:solidFill>
                <a:latin typeface="Calibri"/>
                <a:ea typeface="Calibri"/>
                <a:cs typeface="Calibri"/>
                <a:sym typeface="Calibri"/>
              </a:rPr>
              <a:t>8 cls</a:t>
            </a:r>
            <a:endParaRPr sz="1600"/>
          </a:p>
        </p:txBody>
      </p:sp>
      <p:sp>
        <p:nvSpPr>
          <p:cNvPr id="134" name="Google Shape;134;g3dab19ec515_10_0"/>
          <p:cNvSpPr txBox="1"/>
          <p:nvPr/>
        </p:nvSpPr>
        <p:spPr>
          <a:xfrm>
            <a:off x="685800" y="4956048"/>
            <a:ext cx="11886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1A2A57"/>
                </a:solidFill>
                <a:latin typeface="Calibri"/>
                <a:ea typeface="Calibri"/>
                <a:cs typeface="Calibri"/>
                <a:sym typeface="Calibri"/>
              </a:rPr>
              <a:t>EmoDB</a:t>
            </a:r>
            <a:endParaRPr sz="1600"/>
          </a:p>
        </p:txBody>
      </p:sp>
      <p:sp>
        <p:nvSpPr>
          <p:cNvPr id="135" name="Google Shape;135;g3dab19ec515_10_0"/>
          <p:cNvSpPr txBox="1"/>
          <p:nvPr/>
        </p:nvSpPr>
        <p:spPr>
          <a:xfrm>
            <a:off x="1874519" y="4956048"/>
            <a:ext cx="960000" cy="192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50" u="none" cap="none" strike="noStrike">
                <a:solidFill>
                  <a:srgbClr val="1F293D"/>
                </a:solidFill>
                <a:latin typeface="Calibri"/>
                <a:ea typeface="Calibri"/>
                <a:cs typeface="Calibri"/>
                <a:sym typeface="Calibri"/>
              </a:rPr>
              <a:t>German</a:t>
            </a:r>
            <a:endParaRPr sz="1600"/>
          </a:p>
        </p:txBody>
      </p:sp>
      <p:sp>
        <p:nvSpPr>
          <p:cNvPr id="136" name="Google Shape;136;g3dab19ec515_10_0"/>
          <p:cNvSpPr txBox="1"/>
          <p:nvPr/>
        </p:nvSpPr>
        <p:spPr>
          <a:xfrm>
            <a:off x="2834639" y="4956048"/>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250" u="none" cap="none" strike="noStrike">
                <a:solidFill>
                  <a:srgbClr val="1F293D"/>
                </a:solidFill>
                <a:latin typeface="Calibri"/>
                <a:ea typeface="Calibri"/>
                <a:cs typeface="Calibri"/>
                <a:sym typeface="Calibri"/>
              </a:rPr>
              <a:t>535</a:t>
            </a:r>
            <a:endParaRPr sz="1600"/>
          </a:p>
        </p:txBody>
      </p:sp>
      <p:sp>
        <p:nvSpPr>
          <p:cNvPr id="137" name="Google Shape;137;g3dab19ec515_10_0"/>
          <p:cNvSpPr txBox="1"/>
          <p:nvPr/>
        </p:nvSpPr>
        <p:spPr>
          <a:xfrm>
            <a:off x="3474719" y="4956048"/>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250" u="none" cap="none" strike="noStrike">
                <a:solidFill>
                  <a:srgbClr val="6B7280"/>
                </a:solidFill>
                <a:latin typeface="Calibri"/>
                <a:ea typeface="Calibri"/>
                <a:cs typeface="Calibri"/>
                <a:sym typeface="Calibri"/>
              </a:rPr>
              <a:t>7 cls</a:t>
            </a:r>
            <a:endParaRPr sz="1600"/>
          </a:p>
        </p:txBody>
      </p:sp>
      <p:sp>
        <p:nvSpPr>
          <p:cNvPr id="138" name="Google Shape;138;g3dab19ec515_10_0"/>
          <p:cNvSpPr txBox="1"/>
          <p:nvPr/>
        </p:nvSpPr>
        <p:spPr>
          <a:xfrm>
            <a:off x="685800" y="5248656"/>
            <a:ext cx="11886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1A2A57"/>
                </a:solidFill>
                <a:latin typeface="Calibri"/>
                <a:ea typeface="Calibri"/>
                <a:cs typeface="Calibri"/>
                <a:sym typeface="Calibri"/>
              </a:rPr>
              <a:t>SAVEE</a:t>
            </a:r>
            <a:endParaRPr sz="1600"/>
          </a:p>
        </p:txBody>
      </p:sp>
      <p:sp>
        <p:nvSpPr>
          <p:cNvPr id="139" name="Google Shape;139;g3dab19ec515_10_0"/>
          <p:cNvSpPr txBox="1"/>
          <p:nvPr/>
        </p:nvSpPr>
        <p:spPr>
          <a:xfrm>
            <a:off x="1874519" y="5248656"/>
            <a:ext cx="960000" cy="192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50" u="none" cap="none" strike="noStrike">
                <a:solidFill>
                  <a:srgbClr val="1F293D"/>
                </a:solidFill>
                <a:latin typeface="Calibri"/>
                <a:ea typeface="Calibri"/>
                <a:cs typeface="Calibri"/>
                <a:sym typeface="Calibri"/>
              </a:rPr>
              <a:t>British EN</a:t>
            </a:r>
            <a:endParaRPr sz="1600"/>
          </a:p>
        </p:txBody>
      </p:sp>
      <p:sp>
        <p:nvSpPr>
          <p:cNvPr id="140" name="Google Shape;140;g3dab19ec515_10_0"/>
          <p:cNvSpPr txBox="1"/>
          <p:nvPr/>
        </p:nvSpPr>
        <p:spPr>
          <a:xfrm>
            <a:off x="2834639" y="5248656"/>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250" u="none" cap="none" strike="noStrike">
                <a:solidFill>
                  <a:srgbClr val="1F293D"/>
                </a:solidFill>
                <a:latin typeface="Calibri"/>
                <a:ea typeface="Calibri"/>
                <a:cs typeface="Calibri"/>
                <a:sym typeface="Calibri"/>
              </a:rPr>
              <a:t>480</a:t>
            </a:r>
            <a:endParaRPr sz="1600"/>
          </a:p>
        </p:txBody>
      </p:sp>
      <p:sp>
        <p:nvSpPr>
          <p:cNvPr id="141" name="Google Shape;141;g3dab19ec515_10_0"/>
          <p:cNvSpPr txBox="1"/>
          <p:nvPr/>
        </p:nvSpPr>
        <p:spPr>
          <a:xfrm>
            <a:off x="3474719" y="5248656"/>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250" u="none" cap="none" strike="noStrike">
                <a:solidFill>
                  <a:srgbClr val="6B7280"/>
                </a:solidFill>
                <a:latin typeface="Calibri"/>
                <a:ea typeface="Calibri"/>
                <a:cs typeface="Calibri"/>
                <a:sym typeface="Calibri"/>
              </a:rPr>
              <a:t>7 cls</a:t>
            </a:r>
            <a:endParaRPr sz="1600"/>
          </a:p>
        </p:txBody>
      </p:sp>
      <p:sp>
        <p:nvSpPr>
          <p:cNvPr id="142" name="Google Shape;142;g3dab19ec515_10_0"/>
          <p:cNvSpPr txBox="1"/>
          <p:nvPr/>
        </p:nvSpPr>
        <p:spPr>
          <a:xfrm>
            <a:off x="685800" y="5541264"/>
            <a:ext cx="11886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1A2A57"/>
                </a:solidFill>
                <a:latin typeface="Calibri"/>
                <a:ea typeface="Calibri"/>
                <a:cs typeface="Calibri"/>
                <a:sym typeface="Calibri"/>
              </a:rPr>
              <a:t>AESDD</a:t>
            </a:r>
            <a:endParaRPr sz="1600"/>
          </a:p>
        </p:txBody>
      </p:sp>
      <p:sp>
        <p:nvSpPr>
          <p:cNvPr id="143" name="Google Shape;143;g3dab19ec515_10_0"/>
          <p:cNvSpPr txBox="1"/>
          <p:nvPr/>
        </p:nvSpPr>
        <p:spPr>
          <a:xfrm>
            <a:off x="1874519" y="5541264"/>
            <a:ext cx="960000" cy="192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50" u="none" cap="none" strike="noStrike">
                <a:solidFill>
                  <a:srgbClr val="1F293D"/>
                </a:solidFill>
                <a:latin typeface="Calibri"/>
                <a:ea typeface="Calibri"/>
                <a:cs typeface="Calibri"/>
                <a:sym typeface="Calibri"/>
              </a:rPr>
              <a:t>Greek</a:t>
            </a:r>
            <a:endParaRPr sz="1600"/>
          </a:p>
        </p:txBody>
      </p:sp>
      <p:sp>
        <p:nvSpPr>
          <p:cNvPr id="144" name="Google Shape;144;g3dab19ec515_10_0"/>
          <p:cNvSpPr txBox="1"/>
          <p:nvPr/>
        </p:nvSpPr>
        <p:spPr>
          <a:xfrm>
            <a:off x="2834639" y="5541264"/>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250" u="none" cap="none" strike="noStrike">
                <a:solidFill>
                  <a:srgbClr val="1F293D"/>
                </a:solidFill>
                <a:latin typeface="Calibri"/>
                <a:ea typeface="Calibri"/>
                <a:cs typeface="Calibri"/>
                <a:sym typeface="Calibri"/>
              </a:rPr>
              <a:t>604</a:t>
            </a:r>
            <a:endParaRPr sz="1600"/>
          </a:p>
        </p:txBody>
      </p:sp>
      <p:sp>
        <p:nvSpPr>
          <p:cNvPr id="145" name="Google Shape;145;g3dab19ec515_10_0"/>
          <p:cNvSpPr txBox="1"/>
          <p:nvPr/>
        </p:nvSpPr>
        <p:spPr>
          <a:xfrm>
            <a:off x="3474719" y="5541264"/>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250" u="none" cap="none" strike="noStrike">
                <a:solidFill>
                  <a:srgbClr val="6B7280"/>
                </a:solidFill>
                <a:latin typeface="Calibri"/>
                <a:ea typeface="Calibri"/>
                <a:cs typeface="Calibri"/>
                <a:sym typeface="Calibri"/>
              </a:rPr>
              <a:t>5 cls</a:t>
            </a:r>
            <a:endParaRPr sz="1600"/>
          </a:p>
        </p:txBody>
      </p:sp>
      <p:sp>
        <p:nvSpPr>
          <p:cNvPr id="146" name="Google Shape;146;g3dab19ec515_10_0"/>
          <p:cNvSpPr txBox="1"/>
          <p:nvPr/>
        </p:nvSpPr>
        <p:spPr>
          <a:xfrm>
            <a:off x="685800" y="5833872"/>
            <a:ext cx="11886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1A2A57"/>
                </a:solidFill>
                <a:latin typeface="Calibri"/>
                <a:ea typeface="Calibri"/>
                <a:cs typeface="Calibri"/>
                <a:sym typeface="Calibri"/>
              </a:rPr>
              <a:t>MESD</a:t>
            </a:r>
            <a:endParaRPr sz="1600"/>
          </a:p>
        </p:txBody>
      </p:sp>
      <p:sp>
        <p:nvSpPr>
          <p:cNvPr id="147" name="Google Shape;147;g3dab19ec515_10_0"/>
          <p:cNvSpPr txBox="1"/>
          <p:nvPr/>
        </p:nvSpPr>
        <p:spPr>
          <a:xfrm>
            <a:off x="1874519" y="5833872"/>
            <a:ext cx="960000" cy="192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50" u="none" cap="none" strike="noStrike">
                <a:solidFill>
                  <a:srgbClr val="1F293D"/>
                </a:solidFill>
                <a:latin typeface="Calibri"/>
                <a:ea typeface="Calibri"/>
                <a:cs typeface="Calibri"/>
                <a:sym typeface="Calibri"/>
              </a:rPr>
              <a:t>Spanish</a:t>
            </a:r>
            <a:endParaRPr sz="1600"/>
          </a:p>
        </p:txBody>
      </p:sp>
      <p:sp>
        <p:nvSpPr>
          <p:cNvPr id="148" name="Google Shape;148;g3dab19ec515_10_0"/>
          <p:cNvSpPr txBox="1"/>
          <p:nvPr/>
        </p:nvSpPr>
        <p:spPr>
          <a:xfrm>
            <a:off x="2834639" y="5833872"/>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250" u="none" cap="none" strike="noStrike">
                <a:solidFill>
                  <a:srgbClr val="1F293D"/>
                </a:solidFill>
                <a:latin typeface="Calibri"/>
                <a:ea typeface="Calibri"/>
                <a:cs typeface="Calibri"/>
                <a:sym typeface="Calibri"/>
              </a:rPr>
              <a:t>862</a:t>
            </a:r>
            <a:endParaRPr sz="1600"/>
          </a:p>
        </p:txBody>
      </p:sp>
      <p:sp>
        <p:nvSpPr>
          <p:cNvPr id="149" name="Google Shape;149;g3dab19ec515_10_0"/>
          <p:cNvSpPr txBox="1"/>
          <p:nvPr/>
        </p:nvSpPr>
        <p:spPr>
          <a:xfrm>
            <a:off x="3474719" y="5833872"/>
            <a:ext cx="594300" cy="1923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250" u="none" cap="none" strike="noStrike">
                <a:solidFill>
                  <a:srgbClr val="6B7280"/>
                </a:solidFill>
                <a:latin typeface="Calibri"/>
                <a:ea typeface="Calibri"/>
                <a:cs typeface="Calibri"/>
                <a:sym typeface="Calibri"/>
              </a:rPr>
              <a:t>6 cls</a:t>
            </a:r>
            <a:endParaRPr sz="1600"/>
          </a:p>
        </p:txBody>
      </p:sp>
      <p:sp>
        <p:nvSpPr>
          <p:cNvPr id="150" name="Google Shape;150;g3dab19ec515_10_0"/>
          <p:cNvSpPr/>
          <p:nvPr/>
        </p:nvSpPr>
        <p:spPr>
          <a:xfrm>
            <a:off x="4286402" y="2697480"/>
            <a:ext cx="3618890" cy="3383280"/>
          </a:xfrm>
          <a:prstGeom prst="roundRect">
            <a:avLst>
              <a:gd fmla="val 3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g3dab19ec515_10_0"/>
          <p:cNvSpPr/>
          <p:nvPr/>
        </p:nvSpPr>
        <p:spPr>
          <a:xfrm>
            <a:off x="4286402" y="2697480"/>
            <a:ext cx="3618890" cy="384048"/>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g3dab19ec515_10_0"/>
          <p:cNvSpPr txBox="1"/>
          <p:nvPr/>
        </p:nvSpPr>
        <p:spPr>
          <a:xfrm>
            <a:off x="4469282" y="2788920"/>
            <a:ext cx="325313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050" u="none" cap="none" strike="noStrike">
                <a:solidFill>
                  <a:srgbClr val="FFFFFF"/>
                </a:solidFill>
                <a:latin typeface="Calibri"/>
                <a:ea typeface="Calibri"/>
                <a:cs typeface="Calibri"/>
                <a:sym typeface="Calibri"/>
              </a:rPr>
              <a:t>GROUP B  ·  SPONTANEOUS</a:t>
            </a:r>
            <a:endParaRPr/>
          </a:p>
        </p:txBody>
      </p:sp>
      <p:sp>
        <p:nvSpPr>
          <p:cNvPr id="153" name="Google Shape;153;g3dab19ec515_10_0"/>
          <p:cNvSpPr txBox="1"/>
          <p:nvPr/>
        </p:nvSpPr>
        <p:spPr>
          <a:xfrm>
            <a:off x="4469282" y="3200400"/>
            <a:ext cx="3253130"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600" u="none" cap="none" strike="noStrike">
                <a:solidFill>
                  <a:srgbClr val="1A2A57"/>
                </a:solidFill>
                <a:latin typeface="Calibri"/>
                <a:ea typeface="Calibri"/>
                <a:cs typeface="Calibri"/>
                <a:sym typeface="Calibri"/>
              </a:rPr>
              <a:t>Real conversation</a:t>
            </a:r>
            <a:endParaRPr/>
          </a:p>
        </p:txBody>
      </p:sp>
      <p:sp>
        <p:nvSpPr>
          <p:cNvPr id="154" name="Google Shape;154;g3dab19ec515_10_0"/>
          <p:cNvSpPr txBox="1"/>
          <p:nvPr/>
        </p:nvSpPr>
        <p:spPr>
          <a:xfrm>
            <a:off x="4469282" y="3611880"/>
            <a:ext cx="3253200" cy="440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1" lang="en-US" sz="1300" u="none" cap="none" strike="noStrike">
                <a:solidFill>
                  <a:srgbClr val="404755"/>
                </a:solidFill>
                <a:latin typeface="Calibri"/>
                <a:ea typeface="Calibri"/>
                <a:cs typeface="Calibri"/>
                <a:sym typeface="Calibri"/>
              </a:rPr>
              <a:t>Unscripted dialogue, real noise, dimensional V/A/D labels — the realistic stress test.</a:t>
            </a:r>
            <a:endParaRPr sz="1300"/>
          </a:p>
        </p:txBody>
      </p:sp>
      <p:cxnSp>
        <p:nvCxnSpPr>
          <p:cNvPr id="155" name="Google Shape;155;g3dab19ec515_10_0"/>
          <p:cNvCxnSpPr/>
          <p:nvPr/>
        </p:nvCxnSpPr>
        <p:spPr>
          <a:xfrm>
            <a:off x="4469244" y="4504570"/>
            <a:ext cx="3253200" cy="0"/>
          </a:xfrm>
          <a:prstGeom prst="straightConnector1">
            <a:avLst/>
          </a:prstGeom>
          <a:noFill/>
          <a:ln cap="flat" cmpd="sng" w="9525">
            <a:solidFill>
              <a:srgbClr val="D5DBE8"/>
            </a:solidFill>
            <a:prstDash val="solid"/>
            <a:round/>
            <a:headEnd len="sm" w="sm" type="none"/>
            <a:tailEnd len="sm" w="sm" type="none"/>
          </a:ln>
          <a:effectLst>
            <a:outerShdw blurRad="40000" rotWithShape="0" dir="5400000" dist="20000">
              <a:srgbClr val="000000">
                <a:alpha val="38039"/>
              </a:srgbClr>
            </a:outerShdw>
          </a:effectLst>
        </p:spPr>
      </p:cxnSp>
      <p:sp>
        <p:nvSpPr>
          <p:cNvPr id="156" name="Google Shape;156;g3dab19ec515_10_0"/>
          <p:cNvSpPr txBox="1"/>
          <p:nvPr/>
        </p:nvSpPr>
        <p:spPr>
          <a:xfrm>
            <a:off x="4404232" y="4276865"/>
            <a:ext cx="11886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Dataset</a:t>
            </a:r>
            <a:endParaRPr sz="1600"/>
          </a:p>
        </p:txBody>
      </p:sp>
      <p:sp>
        <p:nvSpPr>
          <p:cNvPr id="157" name="Google Shape;157;g3dab19ec515_10_0"/>
          <p:cNvSpPr txBox="1"/>
          <p:nvPr/>
        </p:nvSpPr>
        <p:spPr>
          <a:xfrm>
            <a:off x="5592952" y="4276865"/>
            <a:ext cx="9600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Language</a:t>
            </a:r>
            <a:endParaRPr sz="1600"/>
          </a:p>
        </p:txBody>
      </p:sp>
      <p:sp>
        <p:nvSpPr>
          <p:cNvPr id="158" name="Google Shape;158;g3dab19ec515_10_0"/>
          <p:cNvSpPr txBox="1"/>
          <p:nvPr/>
        </p:nvSpPr>
        <p:spPr>
          <a:xfrm>
            <a:off x="6553072" y="4276865"/>
            <a:ext cx="594300" cy="1770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Files</a:t>
            </a:r>
            <a:endParaRPr sz="1600"/>
          </a:p>
        </p:txBody>
      </p:sp>
      <p:sp>
        <p:nvSpPr>
          <p:cNvPr id="159" name="Google Shape;159;g3dab19ec515_10_0"/>
          <p:cNvSpPr txBox="1"/>
          <p:nvPr/>
        </p:nvSpPr>
        <p:spPr>
          <a:xfrm>
            <a:off x="7193152" y="4276865"/>
            <a:ext cx="594300" cy="1770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Classes</a:t>
            </a:r>
            <a:endParaRPr sz="1600"/>
          </a:p>
        </p:txBody>
      </p:sp>
      <p:sp>
        <p:nvSpPr>
          <p:cNvPr id="160" name="Google Shape;160;g3dab19ec515_10_0"/>
          <p:cNvSpPr txBox="1"/>
          <p:nvPr/>
        </p:nvSpPr>
        <p:spPr>
          <a:xfrm>
            <a:off x="4469282" y="4663440"/>
            <a:ext cx="11886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u="none" cap="none" strike="noStrike">
                <a:solidFill>
                  <a:srgbClr val="1A2A57"/>
                </a:solidFill>
                <a:latin typeface="Calibri"/>
                <a:ea typeface="Calibri"/>
                <a:cs typeface="Calibri"/>
                <a:sym typeface="Calibri"/>
              </a:rPr>
              <a:t>IEMOCAP</a:t>
            </a:r>
            <a:endParaRPr sz="1700"/>
          </a:p>
        </p:txBody>
      </p:sp>
      <p:sp>
        <p:nvSpPr>
          <p:cNvPr id="161" name="Google Shape;161;g3dab19ec515_10_0"/>
          <p:cNvSpPr txBox="1"/>
          <p:nvPr/>
        </p:nvSpPr>
        <p:spPr>
          <a:xfrm>
            <a:off x="5658002" y="4663440"/>
            <a:ext cx="960000" cy="207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50" u="none" cap="none" strike="noStrike">
                <a:solidFill>
                  <a:srgbClr val="1F293D"/>
                </a:solidFill>
                <a:latin typeface="Calibri"/>
                <a:ea typeface="Calibri"/>
                <a:cs typeface="Calibri"/>
                <a:sym typeface="Calibri"/>
              </a:rPr>
              <a:t>English</a:t>
            </a:r>
            <a:endParaRPr sz="1700"/>
          </a:p>
        </p:txBody>
      </p:sp>
      <p:sp>
        <p:nvSpPr>
          <p:cNvPr id="162" name="Google Shape;162;g3dab19ec515_10_0"/>
          <p:cNvSpPr txBox="1"/>
          <p:nvPr/>
        </p:nvSpPr>
        <p:spPr>
          <a:xfrm>
            <a:off x="6618122" y="4663440"/>
            <a:ext cx="594300" cy="2079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350" u="none" cap="none" strike="noStrike">
                <a:solidFill>
                  <a:srgbClr val="1F293D"/>
                </a:solidFill>
                <a:latin typeface="Calibri"/>
                <a:ea typeface="Calibri"/>
                <a:cs typeface="Calibri"/>
                <a:sym typeface="Calibri"/>
              </a:rPr>
              <a:t>5,460</a:t>
            </a:r>
            <a:endParaRPr sz="1700"/>
          </a:p>
        </p:txBody>
      </p:sp>
      <p:sp>
        <p:nvSpPr>
          <p:cNvPr id="163" name="Google Shape;163;g3dab19ec515_10_0"/>
          <p:cNvSpPr txBox="1"/>
          <p:nvPr/>
        </p:nvSpPr>
        <p:spPr>
          <a:xfrm>
            <a:off x="7258202" y="4663440"/>
            <a:ext cx="594300" cy="2079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350" u="none" cap="none" strike="noStrike">
                <a:solidFill>
                  <a:srgbClr val="6B7280"/>
                </a:solidFill>
                <a:latin typeface="Calibri"/>
                <a:ea typeface="Calibri"/>
                <a:cs typeface="Calibri"/>
                <a:sym typeface="Calibri"/>
              </a:rPr>
              <a:t>4 cls</a:t>
            </a:r>
            <a:endParaRPr sz="1700"/>
          </a:p>
        </p:txBody>
      </p:sp>
      <p:sp>
        <p:nvSpPr>
          <p:cNvPr id="164" name="Google Shape;164;g3dab19ec515_10_0"/>
          <p:cNvSpPr txBox="1"/>
          <p:nvPr/>
        </p:nvSpPr>
        <p:spPr>
          <a:xfrm>
            <a:off x="4469282" y="4956048"/>
            <a:ext cx="11886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u="none" cap="none" strike="noStrike">
                <a:solidFill>
                  <a:srgbClr val="1A2A57"/>
                </a:solidFill>
                <a:latin typeface="Calibri"/>
                <a:ea typeface="Calibri"/>
                <a:cs typeface="Calibri"/>
                <a:sym typeface="Calibri"/>
              </a:rPr>
              <a:t>MSP-Podcast</a:t>
            </a:r>
            <a:endParaRPr sz="1700"/>
          </a:p>
        </p:txBody>
      </p:sp>
      <p:sp>
        <p:nvSpPr>
          <p:cNvPr id="165" name="Google Shape;165;g3dab19ec515_10_0"/>
          <p:cNvSpPr txBox="1"/>
          <p:nvPr/>
        </p:nvSpPr>
        <p:spPr>
          <a:xfrm>
            <a:off x="5658002" y="4956048"/>
            <a:ext cx="960000" cy="207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50" u="none" cap="none" strike="noStrike">
                <a:solidFill>
                  <a:srgbClr val="1F293D"/>
                </a:solidFill>
                <a:latin typeface="Calibri"/>
                <a:ea typeface="Calibri"/>
                <a:cs typeface="Calibri"/>
                <a:sym typeface="Calibri"/>
              </a:rPr>
              <a:t>English</a:t>
            </a:r>
            <a:endParaRPr sz="1700"/>
          </a:p>
        </p:txBody>
      </p:sp>
      <p:sp>
        <p:nvSpPr>
          <p:cNvPr id="166" name="Google Shape;166;g3dab19ec515_10_0"/>
          <p:cNvSpPr txBox="1"/>
          <p:nvPr/>
        </p:nvSpPr>
        <p:spPr>
          <a:xfrm>
            <a:off x="6618122" y="4956048"/>
            <a:ext cx="594300" cy="2079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350" u="none" cap="none" strike="noStrike">
                <a:solidFill>
                  <a:srgbClr val="1F293D"/>
                </a:solidFill>
                <a:latin typeface="Calibri"/>
                <a:ea typeface="Calibri"/>
                <a:cs typeface="Calibri"/>
                <a:sym typeface="Calibri"/>
              </a:rPr>
              <a:t>10,779</a:t>
            </a:r>
            <a:endParaRPr sz="1700"/>
          </a:p>
        </p:txBody>
      </p:sp>
      <p:sp>
        <p:nvSpPr>
          <p:cNvPr id="167" name="Google Shape;167;g3dab19ec515_10_0"/>
          <p:cNvSpPr txBox="1"/>
          <p:nvPr/>
        </p:nvSpPr>
        <p:spPr>
          <a:xfrm>
            <a:off x="7258202" y="4956048"/>
            <a:ext cx="594300" cy="2079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350" u="none" cap="none" strike="noStrike">
                <a:solidFill>
                  <a:srgbClr val="6B7280"/>
                </a:solidFill>
                <a:latin typeface="Calibri"/>
                <a:ea typeface="Calibri"/>
                <a:cs typeface="Calibri"/>
                <a:sym typeface="Calibri"/>
              </a:rPr>
              <a:t>4 / 8 cls</a:t>
            </a:r>
            <a:endParaRPr sz="1700"/>
          </a:p>
        </p:txBody>
      </p:sp>
      <p:sp>
        <p:nvSpPr>
          <p:cNvPr id="168" name="Google Shape;168;g3dab19ec515_10_0"/>
          <p:cNvSpPr/>
          <p:nvPr/>
        </p:nvSpPr>
        <p:spPr>
          <a:xfrm>
            <a:off x="8069884" y="2697480"/>
            <a:ext cx="3618890" cy="3383280"/>
          </a:xfrm>
          <a:prstGeom prst="roundRect">
            <a:avLst>
              <a:gd fmla="val 3000" name="adj"/>
            </a:avLst>
          </a:prstGeom>
          <a:solidFill>
            <a:srgbClr val="FFFFFF"/>
          </a:solidFill>
          <a:ln cap="flat" cmpd="sng" w="19050">
            <a:solidFill>
              <a:srgbClr val="E892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9" name="Google Shape;169;g3dab19ec515_10_0"/>
          <p:cNvSpPr/>
          <p:nvPr/>
        </p:nvSpPr>
        <p:spPr>
          <a:xfrm>
            <a:off x="8069884" y="2697480"/>
            <a:ext cx="3618890" cy="384048"/>
          </a:xfrm>
          <a:prstGeom prst="rect">
            <a:avLst/>
          </a:prstGeom>
          <a:solidFill>
            <a:srgbClr val="C973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 name="Google Shape;170;g3dab19ec515_10_0"/>
          <p:cNvSpPr txBox="1"/>
          <p:nvPr/>
        </p:nvSpPr>
        <p:spPr>
          <a:xfrm>
            <a:off x="8252764" y="2788920"/>
            <a:ext cx="325313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050" u="none" cap="none" strike="noStrike">
                <a:solidFill>
                  <a:srgbClr val="FFFFFF"/>
                </a:solidFill>
                <a:latin typeface="Calibri"/>
                <a:ea typeface="Calibri"/>
                <a:cs typeface="Calibri"/>
                <a:sym typeface="Calibri"/>
              </a:rPr>
              <a:t>GROUP C  ·  LEXICALLY CONTROLLED</a:t>
            </a:r>
            <a:endParaRPr/>
          </a:p>
        </p:txBody>
      </p:sp>
      <p:sp>
        <p:nvSpPr>
          <p:cNvPr id="171" name="Google Shape;171;g3dab19ec515_10_0"/>
          <p:cNvSpPr txBox="1"/>
          <p:nvPr/>
        </p:nvSpPr>
        <p:spPr>
          <a:xfrm>
            <a:off x="8252764" y="3200400"/>
            <a:ext cx="3253130"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600" u="none" cap="none" strike="noStrike">
                <a:solidFill>
                  <a:srgbClr val="1A2A57"/>
                </a:solidFill>
                <a:latin typeface="Calibri"/>
                <a:ea typeface="Calibri"/>
                <a:cs typeface="Calibri"/>
                <a:sym typeface="Calibri"/>
              </a:rPr>
              <a:t>Words held constant</a:t>
            </a:r>
            <a:endParaRPr/>
          </a:p>
        </p:txBody>
      </p:sp>
      <p:sp>
        <p:nvSpPr>
          <p:cNvPr id="172" name="Google Shape;172;g3dab19ec515_10_0"/>
          <p:cNvSpPr txBox="1"/>
          <p:nvPr/>
        </p:nvSpPr>
        <p:spPr>
          <a:xfrm>
            <a:off x="8252764" y="3611880"/>
            <a:ext cx="3253200" cy="440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1" lang="en-US" sz="1300" u="none" cap="none" strike="noStrike">
                <a:solidFill>
                  <a:srgbClr val="404755"/>
                </a:solidFill>
                <a:latin typeface="Calibri"/>
                <a:ea typeface="Calibri"/>
                <a:cs typeface="Calibri"/>
                <a:sym typeface="Calibri"/>
              </a:rPr>
              <a:t>91 actors say the same 12 sentences — any signal here MUST be acoustic.</a:t>
            </a:r>
            <a:endParaRPr sz="1300"/>
          </a:p>
        </p:txBody>
      </p:sp>
      <p:cxnSp>
        <p:nvCxnSpPr>
          <p:cNvPr id="173" name="Google Shape;173;g3dab19ec515_10_0"/>
          <p:cNvCxnSpPr/>
          <p:nvPr/>
        </p:nvCxnSpPr>
        <p:spPr>
          <a:xfrm>
            <a:off x="8256252" y="4504570"/>
            <a:ext cx="3253200" cy="0"/>
          </a:xfrm>
          <a:prstGeom prst="straightConnector1">
            <a:avLst/>
          </a:prstGeom>
          <a:noFill/>
          <a:ln cap="flat" cmpd="sng" w="9525">
            <a:solidFill>
              <a:srgbClr val="D5DBE8"/>
            </a:solidFill>
            <a:prstDash val="solid"/>
            <a:round/>
            <a:headEnd len="sm" w="sm" type="none"/>
            <a:tailEnd len="sm" w="sm" type="none"/>
          </a:ln>
          <a:effectLst>
            <a:outerShdw blurRad="40000" rotWithShape="0" dir="5400000" dist="20000">
              <a:srgbClr val="000000">
                <a:alpha val="38039"/>
              </a:srgbClr>
            </a:outerShdw>
          </a:effectLst>
        </p:spPr>
      </p:cxnSp>
      <p:sp>
        <p:nvSpPr>
          <p:cNvPr id="174" name="Google Shape;174;g3dab19ec515_10_0"/>
          <p:cNvSpPr txBox="1"/>
          <p:nvPr/>
        </p:nvSpPr>
        <p:spPr>
          <a:xfrm>
            <a:off x="8168339" y="4291590"/>
            <a:ext cx="11886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Dataset</a:t>
            </a:r>
            <a:endParaRPr sz="1600"/>
          </a:p>
        </p:txBody>
      </p:sp>
      <p:sp>
        <p:nvSpPr>
          <p:cNvPr id="175" name="Google Shape;175;g3dab19ec515_10_0"/>
          <p:cNvSpPr txBox="1"/>
          <p:nvPr/>
        </p:nvSpPr>
        <p:spPr>
          <a:xfrm>
            <a:off x="9402859" y="4291590"/>
            <a:ext cx="9600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Language</a:t>
            </a:r>
            <a:endParaRPr sz="1600"/>
          </a:p>
        </p:txBody>
      </p:sp>
      <p:sp>
        <p:nvSpPr>
          <p:cNvPr id="176" name="Google Shape;176;g3dab19ec515_10_0"/>
          <p:cNvSpPr txBox="1"/>
          <p:nvPr/>
        </p:nvSpPr>
        <p:spPr>
          <a:xfrm>
            <a:off x="10317179" y="4291590"/>
            <a:ext cx="594300" cy="1770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Files</a:t>
            </a:r>
            <a:endParaRPr sz="1600"/>
          </a:p>
        </p:txBody>
      </p:sp>
      <p:sp>
        <p:nvSpPr>
          <p:cNvPr id="177" name="Google Shape;177;g3dab19ec515_10_0"/>
          <p:cNvSpPr txBox="1"/>
          <p:nvPr/>
        </p:nvSpPr>
        <p:spPr>
          <a:xfrm>
            <a:off x="10957259" y="4291590"/>
            <a:ext cx="594300" cy="1770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150" u="none" cap="none" strike="noStrike">
                <a:solidFill>
                  <a:srgbClr val="6B7280"/>
                </a:solidFill>
                <a:latin typeface="Calibri"/>
                <a:ea typeface="Calibri"/>
                <a:cs typeface="Calibri"/>
                <a:sym typeface="Calibri"/>
              </a:rPr>
              <a:t>Classes</a:t>
            </a:r>
            <a:endParaRPr sz="1600"/>
          </a:p>
        </p:txBody>
      </p:sp>
      <p:sp>
        <p:nvSpPr>
          <p:cNvPr id="178" name="Google Shape;178;g3dab19ec515_10_0"/>
          <p:cNvSpPr txBox="1"/>
          <p:nvPr/>
        </p:nvSpPr>
        <p:spPr>
          <a:xfrm>
            <a:off x="8206964" y="4692890"/>
            <a:ext cx="1188600" cy="23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A2A57"/>
                </a:solidFill>
                <a:latin typeface="Calibri"/>
                <a:ea typeface="Calibri"/>
                <a:cs typeface="Calibri"/>
                <a:sym typeface="Calibri"/>
              </a:rPr>
              <a:t>CREMA-D</a:t>
            </a:r>
            <a:endParaRPr sz="1800"/>
          </a:p>
        </p:txBody>
      </p:sp>
      <p:sp>
        <p:nvSpPr>
          <p:cNvPr id="179" name="Google Shape;179;g3dab19ec515_10_0"/>
          <p:cNvSpPr txBox="1"/>
          <p:nvPr/>
        </p:nvSpPr>
        <p:spPr>
          <a:xfrm>
            <a:off x="9395684" y="4692890"/>
            <a:ext cx="960000" cy="22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50" u="none" cap="none" strike="noStrike">
                <a:solidFill>
                  <a:srgbClr val="1F293D"/>
                </a:solidFill>
                <a:latin typeface="Calibri"/>
                <a:ea typeface="Calibri"/>
                <a:cs typeface="Calibri"/>
                <a:sym typeface="Calibri"/>
              </a:rPr>
              <a:t>English</a:t>
            </a:r>
            <a:endParaRPr sz="1800"/>
          </a:p>
        </p:txBody>
      </p:sp>
      <p:sp>
        <p:nvSpPr>
          <p:cNvPr id="180" name="Google Shape;180;g3dab19ec515_10_0"/>
          <p:cNvSpPr txBox="1"/>
          <p:nvPr/>
        </p:nvSpPr>
        <p:spPr>
          <a:xfrm>
            <a:off x="10355804" y="4692890"/>
            <a:ext cx="594300" cy="223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1" i="0" lang="en-US" sz="1450" u="none" cap="none" strike="noStrike">
                <a:solidFill>
                  <a:srgbClr val="1F293D"/>
                </a:solidFill>
                <a:latin typeface="Calibri"/>
                <a:ea typeface="Calibri"/>
                <a:cs typeface="Calibri"/>
                <a:sym typeface="Calibri"/>
              </a:rPr>
              <a:t>7,442</a:t>
            </a:r>
            <a:endParaRPr sz="1800"/>
          </a:p>
        </p:txBody>
      </p:sp>
      <p:sp>
        <p:nvSpPr>
          <p:cNvPr id="181" name="Google Shape;181;g3dab19ec515_10_0"/>
          <p:cNvSpPr txBox="1"/>
          <p:nvPr/>
        </p:nvSpPr>
        <p:spPr>
          <a:xfrm>
            <a:off x="10995884" y="4692890"/>
            <a:ext cx="594300" cy="223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450" u="none" cap="none" strike="noStrike">
                <a:solidFill>
                  <a:srgbClr val="6B7280"/>
                </a:solidFill>
                <a:latin typeface="Calibri"/>
                <a:ea typeface="Calibri"/>
                <a:cs typeface="Calibri"/>
                <a:sym typeface="Calibri"/>
              </a:rPr>
              <a:t>6 cls</a:t>
            </a:r>
            <a:endParaRPr sz="1800"/>
          </a:p>
        </p:txBody>
      </p:sp>
      <p:sp>
        <p:nvSpPr>
          <p:cNvPr id="182" name="Google Shape;182;g3dab19ec515_10_0"/>
          <p:cNvSpPr/>
          <p:nvPr/>
        </p:nvSpPr>
        <p:spPr>
          <a:xfrm>
            <a:off x="0" y="6172200"/>
            <a:ext cx="12191695" cy="6858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g3dab19ec515_10_0"/>
          <p:cNvSpPr txBox="1"/>
          <p:nvPr/>
        </p:nvSpPr>
        <p:spPr>
          <a:xfrm>
            <a:off x="502920" y="6245352"/>
            <a:ext cx="1133856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E8924A"/>
                </a:solidFill>
                <a:latin typeface="Calibri"/>
                <a:ea typeface="Calibri"/>
                <a:cs typeface="Calibri"/>
                <a:sym typeface="Calibri"/>
              </a:rPr>
              <a:t>Plus extensions:  </a:t>
            </a:r>
            <a:r>
              <a:rPr b="0" i="0" lang="en-US" sz="1150" u="none" cap="none" strike="noStrike">
                <a:solidFill>
                  <a:srgbClr val="FFFFFF"/>
                </a:solidFill>
                <a:latin typeface="Calibri"/>
                <a:ea typeface="Calibri"/>
                <a:cs typeface="Calibri"/>
                <a:sym typeface="Calibri"/>
              </a:rPr>
              <a:t>ESC-50 noise mixed at </a:t>
            </a:r>
            <a:r>
              <a:rPr b="1" i="0" lang="en-US" sz="1150" u="none" cap="none" strike="noStrike">
                <a:solidFill>
                  <a:srgbClr val="FFFFFF"/>
                </a:solidFill>
                <a:latin typeface="Calibri"/>
                <a:ea typeface="Calibri"/>
                <a:cs typeface="Calibri"/>
                <a:sym typeface="Calibri"/>
              </a:rPr>
              <a:t>4 SNR levels (20 / 10 / 5 / 0 dB)</a:t>
            </a:r>
            <a:r>
              <a:rPr b="0" i="0" lang="en-US" sz="1150" u="none" cap="none" strike="noStrike">
                <a:solidFill>
                  <a:srgbClr val="FFFFFF"/>
                </a:solidFill>
                <a:latin typeface="Calibri"/>
                <a:ea typeface="Calibri"/>
                <a:cs typeface="Calibri"/>
                <a:sym typeface="Calibri"/>
              </a:rPr>
              <a:t> for robustness    -    </a:t>
            </a:r>
            <a:r>
              <a:rPr b="1" i="0" lang="en-US" sz="1150" u="none" cap="none" strike="noStrike">
                <a:solidFill>
                  <a:srgbClr val="FFFFFF"/>
                </a:solidFill>
                <a:latin typeface="Calibri"/>
                <a:ea typeface="Calibri"/>
                <a:cs typeface="Calibri"/>
                <a:sym typeface="Calibri"/>
              </a:rPr>
              <a:t>EMIS</a:t>
            </a:r>
            <a:r>
              <a:rPr b="0" i="0" lang="en-US" sz="1150" u="none" cap="none" strike="noStrike">
                <a:solidFill>
                  <a:srgbClr val="FFFFFF"/>
                </a:solidFill>
                <a:latin typeface="Calibri"/>
                <a:ea typeface="Calibri"/>
                <a:cs typeface="Calibri"/>
                <a:sym typeface="Calibri"/>
              </a:rPr>
              <a:t> congruent / incongruent text-emotion pairs (Task 7)</a:t>
            </a:r>
            <a:endParaRPr/>
          </a:p>
        </p:txBody>
      </p:sp>
      <p:sp>
        <p:nvSpPr>
          <p:cNvPr id="184" name="Google Shape;184;g3dab19ec515_10_0"/>
          <p:cNvSpPr txBox="1"/>
          <p:nvPr/>
        </p:nvSpPr>
        <p:spPr>
          <a:xfrm>
            <a:off x="502920" y="6519672"/>
            <a:ext cx="1133856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E8924A"/>
                </a:solidFill>
                <a:latin typeface="Calibri"/>
                <a:ea typeface="Calibri"/>
                <a:cs typeface="Calibri"/>
                <a:sym typeface="Calibri"/>
              </a:rPr>
              <a:t>SpeechCraft pooled benchmark</a:t>
            </a:r>
            <a:r>
              <a:rPr b="0" i="0" lang="en-US" sz="1150" u="none" cap="none" strike="noStrike">
                <a:solidFill>
                  <a:srgbClr val="FFFFFF"/>
                </a:solidFill>
                <a:latin typeface="Calibri"/>
                <a:ea typeface="Calibri"/>
                <a:cs typeface="Calibri"/>
                <a:sym typeface="Calibri"/>
              </a:rPr>
              <a:t>  -  large-scale cross-lingual stress test on a balanced GigaSpeech-M four-class manifest (~20k clips, Task 9).</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dab19ec515_10_83"/>
          <p:cNvSpPr/>
          <p:nvPr/>
        </p:nvSpPr>
        <p:spPr>
          <a:xfrm>
            <a:off x="0" y="0"/>
            <a:ext cx="1417320" cy="4572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1" name="Google Shape;191;g3dab19ec515_10_83"/>
          <p:cNvSpPr txBox="1"/>
          <p:nvPr/>
        </p:nvSpPr>
        <p:spPr>
          <a:xfrm>
            <a:off x="164592" y="118872"/>
            <a:ext cx="1280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METHOD</a:t>
            </a:r>
            <a:endParaRPr/>
          </a:p>
        </p:txBody>
      </p:sp>
      <p:sp>
        <p:nvSpPr>
          <p:cNvPr id="192" name="Google Shape;192;g3dab19ec515_10_83"/>
          <p:cNvSpPr txBox="1"/>
          <p:nvPr/>
        </p:nvSpPr>
        <p:spPr>
          <a:xfrm>
            <a:off x="493800" y="593713"/>
            <a:ext cx="11430000" cy="15993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2900">
                <a:solidFill>
                  <a:srgbClr val="1A2A57"/>
                </a:solidFill>
                <a:latin typeface="Calibri"/>
                <a:ea typeface="Calibri"/>
                <a:cs typeface="Calibri"/>
                <a:sym typeface="Calibri"/>
              </a:rPr>
              <a:t>One frozen probe pipeline, twelve experiments testing where emotion</a:t>
            </a:r>
            <a:endParaRPr b="1" sz="2900">
              <a:solidFill>
                <a:srgbClr val="1A2A57"/>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marR="0" rtl="0" algn="l">
              <a:lnSpc>
                <a:spcPct val="105000"/>
              </a:lnSpc>
              <a:spcBef>
                <a:spcPts val="0"/>
              </a:spcBef>
              <a:spcAft>
                <a:spcPts val="0"/>
              </a:spcAft>
              <a:buNone/>
            </a:pPr>
            <a:r>
              <a:rPr b="1" lang="en-US" sz="2900">
                <a:solidFill>
                  <a:srgbClr val="1A2A57"/>
                </a:solidFill>
                <a:latin typeface="Calibri"/>
                <a:ea typeface="Calibri"/>
                <a:cs typeface="Calibri"/>
                <a:sym typeface="Calibri"/>
              </a:rPr>
              <a:t> lives</a:t>
            </a:r>
            <a:endParaRPr b="1" sz="2900">
              <a:solidFill>
                <a:srgbClr val="1A2A57"/>
              </a:solidFill>
              <a:latin typeface="Calibri"/>
              <a:ea typeface="Calibri"/>
              <a:cs typeface="Calibri"/>
              <a:sym typeface="Calibri"/>
            </a:endParaRPr>
          </a:p>
          <a:p>
            <a:pPr indent="0" lvl="0" marL="0" marR="0" rtl="0" algn="l">
              <a:lnSpc>
                <a:spcPct val="105000"/>
              </a:lnSpc>
              <a:spcBef>
                <a:spcPts val="0"/>
              </a:spcBef>
              <a:spcAft>
                <a:spcPts val="0"/>
              </a:spcAft>
              <a:buNone/>
            </a:pPr>
            <a:r>
              <a:t/>
            </a:r>
            <a:endParaRPr b="1" sz="2900">
              <a:solidFill>
                <a:srgbClr val="1A2A57"/>
              </a:solidFill>
              <a:latin typeface="Calibri"/>
              <a:ea typeface="Calibri"/>
              <a:cs typeface="Calibri"/>
              <a:sym typeface="Calibri"/>
            </a:endParaRPr>
          </a:p>
        </p:txBody>
      </p:sp>
      <p:sp>
        <p:nvSpPr>
          <p:cNvPr id="193" name="Google Shape;193;g3dab19ec515_10_83"/>
          <p:cNvSpPr/>
          <p:nvPr/>
        </p:nvSpPr>
        <p:spPr>
          <a:xfrm>
            <a:off x="502925" y="1252625"/>
            <a:ext cx="2032200" cy="1362000"/>
          </a:xfrm>
          <a:prstGeom prst="roundRect">
            <a:avLst>
              <a:gd fmla="val 5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4" name="Google Shape;194;g3dab19ec515_10_83"/>
          <p:cNvSpPr/>
          <p:nvPr/>
        </p:nvSpPr>
        <p:spPr>
          <a:xfrm>
            <a:off x="502925" y="1252636"/>
            <a:ext cx="2032200" cy="3522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g3dab19ec515_10_83"/>
          <p:cNvSpPr txBox="1"/>
          <p:nvPr/>
        </p:nvSpPr>
        <p:spPr>
          <a:xfrm>
            <a:off x="612653" y="1325192"/>
            <a:ext cx="18129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FFFFFF"/>
                </a:solidFill>
                <a:latin typeface="Calibri"/>
                <a:ea typeface="Calibri"/>
                <a:cs typeface="Calibri"/>
                <a:sym typeface="Calibri"/>
              </a:rPr>
              <a:t>INPUT</a:t>
            </a:r>
            <a:endParaRPr/>
          </a:p>
        </p:txBody>
      </p:sp>
      <p:sp>
        <p:nvSpPr>
          <p:cNvPr id="196" name="Google Shape;196;g3dab19ec515_10_83"/>
          <p:cNvSpPr txBox="1"/>
          <p:nvPr/>
        </p:nvSpPr>
        <p:spPr>
          <a:xfrm>
            <a:off x="640085" y="1687970"/>
            <a:ext cx="1758000" cy="231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500" u="none" cap="none" strike="noStrike">
                <a:solidFill>
                  <a:srgbClr val="1A2A57"/>
                </a:solidFill>
                <a:latin typeface="Calibri"/>
                <a:ea typeface="Calibri"/>
                <a:cs typeface="Calibri"/>
                <a:sym typeface="Calibri"/>
              </a:rPr>
              <a:t>Raw audio</a:t>
            </a:r>
            <a:endParaRPr/>
          </a:p>
        </p:txBody>
      </p:sp>
      <p:sp>
        <p:nvSpPr>
          <p:cNvPr id="197" name="Google Shape;197;g3dab19ec515_10_83"/>
          <p:cNvSpPr txBox="1"/>
          <p:nvPr/>
        </p:nvSpPr>
        <p:spPr>
          <a:xfrm>
            <a:off x="640085" y="2123306"/>
            <a:ext cx="1758000" cy="4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 u="none" cap="none" strike="noStrike">
                <a:solidFill>
                  <a:srgbClr val="404755"/>
                </a:solidFill>
                <a:latin typeface="Calibri"/>
                <a:ea typeface="Calibri"/>
                <a:cs typeface="Calibri"/>
                <a:sym typeface="Calibri"/>
              </a:rPr>
              <a:t>16 kHz · mono · mean-pooled</a:t>
            </a:r>
            <a:endParaRPr/>
          </a:p>
        </p:txBody>
      </p:sp>
      <p:sp>
        <p:nvSpPr>
          <p:cNvPr id="198" name="Google Shape;198;g3dab19ec515_10_83"/>
          <p:cNvSpPr/>
          <p:nvPr/>
        </p:nvSpPr>
        <p:spPr>
          <a:xfrm>
            <a:off x="2553558" y="1900456"/>
            <a:ext cx="219600" cy="207300"/>
          </a:xfrm>
          <a:prstGeom prst="rightArrow">
            <a:avLst>
              <a:gd fmla="val 50000" name="adj1"/>
              <a:gd fmla="val 50000" name="adj2"/>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9" name="Google Shape;199;g3dab19ec515_10_83"/>
          <p:cNvSpPr/>
          <p:nvPr/>
        </p:nvSpPr>
        <p:spPr>
          <a:xfrm>
            <a:off x="2791300" y="1252625"/>
            <a:ext cx="2032500" cy="1362000"/>
          </a:xfrm>
          <a:prstGeom prst="roundRect">
            <a:avLst>
              <a:gd fmla="val 5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g3dab19ec515_10_83"/>
          <p:cNvSpPr/>
          <p:nvPr/>
        </p:nvSpPr>
        <p:spPr>
          <a:xfrm>
            <a:off x="2791302" y="1252636"/>
            <a:ext cx="2032200" cy="3522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g3dab19ec515_10_83"/>
          <p:cNvSpPr txBox="1"/>
          <p:nvPr/>
        </p:nvSpPr>
        <p:spPr>
          <a:xfrm>
            <a:off x="2901030" y="1325192"/>
            <a:ext cx="18129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FFFFFF"/>
                </a:solidFill>
                <a:latin typeface="Calibri"/>
                <a:ea typeface="Calibri"/>
                <a:cs typeface="Calibri"/>
                <a:sym typeface="Calibri"/>
              </a:rPr>
              <a:t>ENCODER</a:t>
            </a:r>
            <a:endParaRPr/>
          </a:p>
        </p:txBody>
      </p:sp>
      <p:sp>
        <p:nvSpPr>
          <p:cNvPr id="202" name="Google Shape;202;g3dab19ec515_10_83"/>
          <p:cNvSpPr txBox="1"/>
          <p:nvPr/>
        </p:nvSpPr>
        <p:spPr>
          <a:xfrm>
            <a:off x="2928462" y="1687970"/>
            <a:ext cx="1758000" cy="231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500" u="none" cap="none" strike="noStrike">
                <a:solidFill>
                  <a:srgbClr val="1A2A57"/>
                </a:solidFill>
                <a:latin typeface="Calibri"/>
                <a:ea typeface="Calibri"/>
                <a:cs typeface="Calibri"/>
                <a:sym typeface="Calibri"/>
              </a:rPr>
              <a:t>6 frozen transformers</a:t>
            </a:r>
            <a:endParaRPr/>
          </a:p>
        </p:txBody>
      </p:sp>
      <p:sp>
        <p:nvSpPr>
          <p:cNvPr id="203" name="Google Shape;203;g3dab19ec515_10_83"/>
          <p:cNvSpPr txBox="1"/>
          <p:nvPr/>
        </p:nvSpPr>
        <p:spPr>
          <a:xfrm>
            <a:off x="2928549" y="1946931"/>
            <a:ext cx="1758000" cy="627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 u="none" cap="none" strike="noStrike">
                <a:solidFill>
                  <a:srgbClr val="404755"/>
                </a:solidFill>
                <a:latin typeface="Calibri"/>
                <a:ea typeface="Calibri"/>
                <a:cs typeface="Calibri"/>
                <a:sym typeface="Calibri"/>
              </a:rPr>
              <a:t>wav2vec2 · HuBERT · Whisper · WavLM · MERT · w2v-BERT</a:t>
            </a:r>
            <a:endParaRPr/>
          </a:p>
        </p:txBody>
      </p:sp>
      <p:sp>
        <p:nvSpPr>
          <p:cNvPr id="204" name="Google Shape;204;g3dab19ec515_10_83"/>
          <p:cNvSpPr/>
          <p:nvPr/>
        </p:nvSpPr>
        <p:spPr>
          <a:xfrm>
            <a:off x="4841935" y="1900456"/>
            <a:ext cx="219600" cy="207300"/>
          </a:xfrm>
          <a:prstGeom prst="rightArrow">
            <a:avLst>
              <a:gd fmla="val 50000" name="adj1"/>
              <a:gd fmla="val 50000" name="adj2"/>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5" name="Google Shape;205;g3dab19ec515_10_83"/>
          <p:cNvSpPr/>
          <p:nvPr/>
        </p:nvSpPr>
        <p:spPr>
          <a:xfrm>
            <a:off x="5079675" y="1252625"/>
            <a:ext cx="2032200" cy="1362000"/>
          </a:xfrm>
          <a:prstGeom prst="roundRect">
            <a:avLst>
              <a:gd fmla="val 5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g3dab19ec515_10_83"/>
          <p:cNvSpPr/>
          <p:nvPr/>
        </p:nvSpPr>
        <p:spPr>
          <a:xfrm>
            <a:off x="5079679" y="1252636"/>
            <a:ext cx="2032200" cy="3522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7" name="Google Shape;207;g3dab19ec515_10_83"/>
          <p:cNvSpPr txBox="1"/>
          <p:nvPr/>
        </p:nvSpPr>
        <p:spPr>
          <a:xfrm>
            <a:off x="5189407" y="1325192"/>
            <a:ext cx="18129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FFFFFF"/>
                </a:solidFill>
                <a:latin typeface="Calibri"/>
                <a:ea typeface="Calibri"/>
                <a:cs typeface="Calibri"/>
                <a:sym typeface="Calibri"/>
              </a:rPr>
              <a:t>REPRESENTATION</a:t>
            </a:r>
            <a:endParaRPr/>
          </a:p>
        </p:txBody>
      </p:sp>
      <p:sp>
        <p:nvSpPr>
          <p:cNvPr id="208" name="Google Shape;208;g3dab19ec515_10_83"/>
          <p:cNvSpPr txBox="1"/>
          <p:nvPr/>
        </p:nvSpPr>
        <p:spPr>
          <a:xfrm>
            <a:off x="5216839" y="1687970"/>
            <a:ext cx="1758000" cy="231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500" u="none" cap="none" strike="noStrike">
                <a:solidFill>
                  <a:srgbClr val="1A2A57"/>
                </a:solidFill>
                <a:latin typeface="Calibri"/>
                <a:ea typeface="Calibri"/>
                <a:cs typeface="Calibri"/>
                <a:sym typeface="Calibri"/>
              </a:rPr>
              <a:t>Per-layer hidden state</a:t>
            </a:r>
            <a:endParaRPr/>
          </a:p>
        </p:txBody>
      </p:sp>
      <p:sp>
        <p:nvSpPr>
          <p:cNvPr id="209" name="Google Shape;209;g3dab19ec515_10_83"/>
          <p:cNvSpPr txBox="1"/>
          <p:nvPr/>
        </p:nvSpPr>
        <p:spPr>
          <a:xfrm>
            <a:off x="5216914" y="1969744"/>
            <a:ext cx="1758000" cy="4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 u="none" cap="none" strike="noStrike">
                <a:solidFill>
                  <a:srgbClr val="404755"/>
                </a:solidFill>
                <a:latin typeface="Calibri"/>
                <a:ea typeface="Calibri"/>
                <a:cs typeface="Calibri"/>
                <a:sym typeface="Calibri"/>
              </a:rPr>
              <a:t>up to 25 layers per encoder · 768-1024 dim</a:t>
            </a:r>
            <a:endParaRPr/>
          </a:p>
        </p:txBody>
      </p:sp>
      <p:sp>
        <p:nvSpPr>
          <p:cNvPr id="210" name="Google Shape;210;g3dab19ec515_10_83"/>
          <p:cNvSpPr/>
          <p:nvPr/>
        </p:nvSpPr>
        <p:spPr>
          <a:xfrm>
            <a:off x="7130313" y="1900456"/>
            <a:ext cx="219600" cy="207300"/>
          </a:xfrm>
          <a:prstGeom prst="rightArrow">
            <a:avLst>
              <a:gd fmla="val 50000" name="adj1"/>
              <a:gd fmla="val 50000" name="adj2"/>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1" name="Google Shape;211;g3dab19ec515_10_83"/>
          <p:cNvSpPr/>
          <p:nvPr/>
        </p:nvSpPr>
        <p:spPr>
          <a:xfrm>
            <a:off x="7368075" y="1252625"/>
            <a:ext cx="2032200" cy="1362000"/>
          </a:xfrm>
          <a:prstGeom prst="roundRect">
            <a:avLst>
              <a:gd fmla="val 5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g3dab19ec515_10_83"/>
          <p:cNvSpPr/>
          <p:nvPr/>
        </p:nvSpPr>
        <p:spPr>
          <a:xfrm>
            <a:off x="7368057" y="1252636"/>
            <a:ext cx="2032200" cy="3522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g3dab19ec515_10_83"/>
          <p:cNvSpPr txBox="1"/>
          <p:nvPr/>
        </p:nvSpPr>
        <p:spPr>
          <a:xfrm>
            <a:off x="7477785" y="1325192"/>
            <a:ext cx="18129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FFFFFF"/>
                </a:solidFill>
                <a:latin typeface="Calibri"/>
                <a:ea typeface="Calibri"/>
                <a:cs typeface="Calibri"/>
                <a:sym typeface="Calibri"/>
              </a:rPr>
              <a:t>PROBE</a:t>
            </a:r>
            <a:endParaRPr/>
          </a:p>
        </p:txBody>
      </p:sp>
      <p:sp>
        <p:nvSpPr>
          <p:cNvPr id="214" name="Google Shape;214;g3dab19ec515_10_83"/>
          <p:cNvSpPr txBox="1"/>
          <p:nvPr/>
        </p:nvSpPr>
        <p:spPr>
          <a:xfrm>
            <a:off x="7505217" y="1687970"/>
            <a:ext cx="1758000" cy="231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500" u="none" cap="none" strike="noStrike">
                <a:solidFill>
                  <a:srgbClr val="1A2A57"/>
                </a:solidFill>
                <a:latin typeface="Calibri"/>
                <a:ea typeface="Calibri"/>
                <a:cs typeface="Calibri"/>
                <a:sym typeface="Calibri"/>
              </a:rPr>
              <a:t>Logistic regression</a:t>
            </a:r>
            <a:endParaRPr/>
          </a:p>
        </p:txBody>
      </p:sp>
      <p:sp>
        <p:nvSpPr>
          <p:cNvPr id="215" name="Google Shape;215;g3dab19ec515_10_83"/>
          <p:cNvSpPr txBox="1"/>
          <p:nvPr/>
        </p:nvSpPr>
        <p:spPr>
          <a:xfrm>
            <a:off x="7505305" y="2021056"/>
            <a:ext cx="1758000" cy="4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 u="none" cap="none" strike="noStrike">
                <a:solidFill>
                  <a:srgbClr val="404755"/>
                </a:solidFill>
                <a:latin typeface="Calibri"/>
                <a:ea typeface="Calibri"/>
                <a:cs typeface="Calibri"/>
                <a:sym typeface="Calibri"/>
              </a:rPr>
              <a:t>StandardScaler + LogReg · 5-fold CV</a:t>
            </a:r>
            <a:endParaRPr/>
          </a:p>
        </p:txBody>
      </p:sp>
      <p:sp>
        <p:nvSpPr>
          <p:cNvPr id="216" name="Google Shape;216;g3dab19ec515_10_83"/>
          <p:cNvSpPr/>
          <p:nvPr/>
        </p:nvSpPr>
        <p:spPr>
          <a:xfrm>
            <a:off x="9418690" y="1900456"/>
            <a:ext cx="219600" cy="207300"/>
          </a:xfrm>
          <a:prstGeom prst="rightArrow">
            <a:avLst>
              <a:gd fmla="val 50000" name="adj1"/>
              <a:gd fmla="val 50000" name="adj2"/>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g3dab19ec515_10_83"/>
          <p:cNvSpPr/>
          <p:nvPr/>
        </p:nvSpPr>
        <p:spPr>
          <a:xfrm>
            <a:off x="9656425" y="1252627"/>
            <a:ext cx="2032200" cy="1322100"/>
          </a:xfrm>
          <a:prstGeom prst="roundRect">
            <a:avLst>
              <a:gd fmla="val 5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g3dab19ec515_10_83"/>
          <p:cNvSpPr/>
          <p:nvPr/>
        </p:nvSpPr>
        <p:spPr>
          <a:xfrm>
            <a:off x="9656434" y="1252636"/>
            <a:ext cx="2032200" cy="3522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g3dab19ec515_10_83"/>
          <p:cNvSpPr txBox="1"/>
          <p:nvPr/>
        </p:nvSpPr>
        <p:spPr>
          <a:xfrm>
            <a:off x="9766162" y="1325192"/>
            <a:ext cx="1812900" cy="17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FFFFFF"/>
                </a:solidFill>
                <a:latin typeface="Calibri"/>
                <a:ea typeface="Calibri"/>
                <a:cs typeface="Calibri"/>
                <a:sym typeface="Calibri"/>
              </a:rPr>
              <a:t>OUTPUT</a:t>
            </a:r>
            <a:endParaRPr/>
          </a:p>
        </p:txBody>
      </p:sp>
      <p:sp>
        <p:nvSpPr>
          <p:cNvPr id="220" name="Google Shape;220;g3dab19ec515_10_83"/>
          <p:cNvSpPr txBox="1"/>
          <p:nvPr/>
        </p:nvSpPr>
        <p:spPr>
          <a:xfrm>
            <a:off x="9793594" y="1687970"/>
            <a:ext cx="1758000" cy="231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500" u="none" cap="none" strike="noStrike">
                <a:solidFill>
                  <a:srgbClr val="1A2A57"/>
                </a:solidFill>
                <a:latin typeface="Calibri"/>
                <a:ea typeface="Calibri"/>
                <a:cs typeface="Calibri"/>
                <a:sym typeface="Calibri"/>
              </a:rPr>
              <a:t>Layer-wise score</a:t>
            </a:r>
            <a:endParaRPr/>
          </a:p>
        </p:txBody>
      </p:sp>
      <p:sp>
        <p:nvSpPr>
          <p:cNvPr id="221" name="Google Shape;221;g3dab19ec515_10_83"/>
          <p:cNvSpPr txBox="1"/>
          <p:nvPr/>
        </p:nvSpPr>
        <p:spPr>
          <a:xfrm>
            <a:off x="9793704" y="2025618"/>
            <a:ext cx="1758000" cy="4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 u="none" cap="none" strike="noStrike">
                <a:solidFill>
                  <a:srgbClr val="404755"/>
                </a:solidFill>
                <a:latin typeface="Calibri"/>
                <a:ea typeface="Calibri"/>
                <a:cs typeface="Calibri"/>
                <a:sym typeface="Calibri"/>
              </a:rPr>
              <a:t>Acc, F1 (classification) · RMSE (V/A/D)</a:t>
            </a:r>
            <a:endParaRPr/>
          </a:p>
        </p:txBody>
      </p:sp>
      <p:sp>
        <p:nvSpPr>
          <p:cNvPr id="222" name="Google Shape;222;g3dab19ec515_10_83"/>
          <p:cNvSpPr/>
          <p:nvPr/>
        </p:nvSpPr>
        <p:spPr>
          <a:xfrm>
            <a:off x="0" y="6400800"/>
            <a:ext cx="12191700" cy="4572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g3dab19ec515_10_83"/>
          <p:cNvSpPr/>
          <p:nvPr/>
        </p:nvSpPr>
        <p:spPr>
          <a:xfrm>
            <a:off x="-12" y="6361803"/>
            <a:ext cx="12191700" cy="36600"/>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g3dab19ec515_10_83"/>
          <p:cNvSpPr txBox="1"/>
          <p:nvPr/>
        </p:nvSpPr>
        <p:spPr>
          <a:xfrm>
            <a:off x="454020" y="6497475"/>
            <a:ext cx="11338500" cy="452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a:solidFill>
                  <a:srgbClr val="E8924A"/>
                </a:solidFill>
                <a:latin typeface="Calibri"/>
                <a:ea typeface="Calibri"/>
                <a:cs typeface="Calibri"/>
                <a:sym typeface="Calibri"/>
              </a:rPr>
              <a:t>Same pipeline, twelve angles.</a:t>
            </a:r>
            <a:r>
              <a:rPr b="1" i="0" lang="en-US" sz="1400" u="none" cap="none" strike="noStrike">
                <a:solidFill>
                  <a:srgbClr val="E8924A"/>
                </a:solidFill>
                <a:latin typeface="Calibri"/>
                <a:ea typeface="Calibri"/>
                <a:cs typeface="Calibri"/>
                <a:sym typeface="Calibri"/>
              </a:rPr>
              <a:t> </a:t>
            </a:r>
            <a:r>
              <a:rPr b="1" lang="en-US">
                <a:solidFill>
                  <a:srgbClr val="FFFFFF"/>
                </a:solidFill>
                <a:latin typeface="Calibri"/>
                <a:ea typeface="Calibri"/>
                <a:cs typeface="Calibri"/>
                <a:sym typeface="Calibri"/>
              </a:rPr>
              <a:t>If voice is really the signal, every one of these experiments should agree, and they do.</a:t>
            </a:r>
            <a:endParaRPr b="1">
              <a:solidFill>
                <a:srgbClr val="FFFFFF"/>
              </a:solidFill>
              <a:latin typeface="Calibri"/>
              <a:ea typeface="Calibri"/>
              <a:cs typeface="Calibri"/>
              <a:sym typeface="Calibri"/>
            </a:endParaRPr>
          </a:p>
          <a:p>
            <a:pPr indent="0" lvl="0" marL="0" marR="0" rtl="0" algn="l">
              <a:lnSpc>
                <a:spcPct val="110000"/>
              </a:lnSpc>
              <a:spcBef>
                <a:spcPts val="0"/>
              </a:spcBef>
              <a:spcAft>
                <a:spcPts val="0"/>
              </a:spcAft>
              <a:buNone/>
            </a:pPr>
            <a:r>
              <a:t/>
            </a:r>
            <a:endParaRPr b="1">
              <a:solidFill>
                <a:srgbClr val="FFFFFF"/>
              </a:solidFill>
              <a:latin typeface="Calibri"/>
              <a:ea typeface="Calibri"/>
              <a:cs typeface="Calibri"/>
              <a:sym typeface="Calibri"/>
            </a:endParaRPr>
          </a:p>
        </p:txBody>
      </p:sp>
      <p:sp>
        <p:nvSpPr>
          <p:cNvPr id="225" name="Google Shape;225;g3dab19ec515_10_83"/>
          <p:cNvSpPr txBox="1"/>
          <p:nvPr/>
        </p:nvSpPr>
        <p:spPr>
          <a:xfrm>
            <a:off x="457200" y="2632340"/>
            <a:ext cx="7315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chemeClr val="dk1"/>
                </a:solidFill>
                <a:latin typeface="Calibri"/>
                <a:ea typeface="Calibri"/>
                <a:cs typeface="Calibri"/>
                <a:sym typeface="Calibri"/>
              </a:rPr>
              <a:t>PROBING SETUPS</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what does each layer encode</a:t>
            </a:r>
            <a:endParaRPr b="1" sz="1500">
              <a:solidFill>
                <a:schemeClr val="dk1"/>
              </a:solidFill>
            </a:endParaRPr>
          </a:p>
        </p:txBody>
      </p:sp>
      <p:cxnSp>
        <p:nvCxnSpPr>
          <p:cNvPr id="226" name="Google Shape;226;g3dab19ec515_10_83"/>
          <p:cNvCxnSpPr/>
          <p:nvPr/>
        </p:nvCxnSpPr>
        <p:spPr>
          <a:xfrm>
            <a:off x="457200" y="2852928"/>
            <a:ext cx="11247000" cy="0"/>
          </a:xfrm>
          <a:prstGeom prst="straightConnector1">
            <a:avLst/>
          </a:prstGeom>
          <a:noFill/>
          <a:ln cap="flat" cmpd="sng" w="9525">
            <a:solidFill>
              <a:srgbClr val="D0D7E2"/>
            </a:solidFill>
            <a:prstDash val="solid"/>
            <a:round/>
            <a:headEnd len="sm" w="sm" type="none"/>
            <a:tailEnd len="sm" w="sm" type="none"/>
          </a:ln>
        </p:spPr>
      </p:cxnSp>
      <p:sp>
        <p:nvSpPr>
          <p:cNvPr id="227" name="Google Shape;227;g3dab19ec515_10_83"/>
          <p:cNvSpPr/>
          <p:nvPr/>
        </p:nvSpPr>
        <p:spPr>
          <a:xfrm>
            <a:off x="457200" y="2843784"/>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rgbClr val="000000"/>
              </a:solidFill>
              <a:latin typeface="Calibri"/>
              <a:ea typeface="Calibri"/>
              <a:cs typeface="Calibri"/>
              <a:sym typeface="Calibri"/>
            </a:endParaRPr>
          </a:p>
        </p:txBody>
      </p:sp>
      <p:sp>
        <p:nvSpPr>
          <p:cNvPr id="228" name="Google Shape;228;g3dab19ec515_10_83"/>
          <p:cNvSpPr/>
          <p:nvPr/>
        </p:nvSpPr>
        <p:spPr>
          <a:xfrm>
            <a:off x="457200" y="2843784"/>
            <a:ext cx="36600" cy="9144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29" name="Google Shape;229;g3dab19ec515_10_83"/>
          <p:cNvSpPr txBox="1"/>
          <p:nvPr/>
        </p:nvSpPr>
        <p:spPr>
          <a:xfrm>
            <a:off x="2807208" y="2916936"/>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01</a:t>
            </a:r>
            <a:endParaRPr/>
          </a:p>
        </p:txBody>
      </p:sp>
      <p:sp>
        <p:nvSpPr>
          <p:cNvPr id="230" name="Google Shape;230;g3dab19ec515_10_83"/>
          <p:cNvSpPr txBox="1"/>
          <p:nvPr/>
        </p:nvSpPr>
        <p:spPr>
          <a:xfrm>
            <a:off x="603504" y="2916936"/>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Frozen layer probing</a:t>
            </a:r>
            <a:endParaRPr/>
          </a:p>
        </p:txBody>
      </p:sp>
      <p:sp>
        <p:nvSpPr>
          <p:cNvPr id="231" name="Google Shape;231;g3dab19ec515_10_83"/>
          <p:cNvSpPr txBox="1"/>
          <p:nvPr/>
        </p:nvSpPr>
        <p:spPr>
          <a:xfrm>
            <a:off x="603504" y="3172968"/>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across 6 encoders and 8 datasets</a:t>
            </a:r>
            <a:endParaRPr b="1" sz="1500"/>
          </a:p>
        </p:txBody>
      </p:sp>
      <p:sp>
        <p:nvSpPr>
          <p:cNvPr id="232" name="Google Shape;232;g3dab19ec515_10_83"/>
          <p:cNvSpPr txBox="1"/>
          <p:nvPr/>
        </p:nvSpPr>
        <p:spPr>
          <a:xfrm>
            <a:off x="603504" y="3392424"/>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where does emotion peak across depth</a:t>
            </a:r>
            <a:endParaRPr/>
          </a:p>
        </p:txBody>
      </p:sp>
      <p:sp>
        <p:nvSpPr>
          <p:cNvPr id="233" name="Google Shape;233;g3dab19ec515_10_83"/>
          <p:cNvSpPr/>
          <p:nvPr/>
        </p:nvSpPr>
        <p:spPr>
          <a:xfrm>
            <a:off x="3355848" y="2843784"/>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34" name="Google Shape;234;g3dab19ec515_10_83"/>
          <p:cNvSpPr/>
          <p:nvPr/>
        </p:nvSpPr>
        <p:spPr>
          <a:xfrm>
            <a:off x="3355848" y="2843784"/>
            <a:ext cx="36600" cy="9144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35" name="Google Shape;235;g3dab19ec515_10_83"/>
          <p:cNvSpPr txBox="1"/>
          <p:nvPr/>
        </p:nvSpPr>
        <p:spPr>
          <a:xfrm>
            <a:off x="5705856" y="2916936"/>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02</a:t>
            </a:r>
            <a:endParaRPr/>
          </a:p>
        </p:txBody>
      </p:sp>
      <p:sp>
        <p:nvSpPr>
          <p:cNvPr id="236" name="Google Shape;236;g3dab19ec515_10_83"/>
          <p:cNvSpPr txBox="1"/>
          <p:nvPr/>
        </p:nvSpPr>
        <p:spPr>
          <a:xfrm>
            <a:off x="3502152" y="2916936"/>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Learned layer mixer</a:t>
            </a:r>
            <a:endParaRPr/>
          </a:p>
        </p:txBody>
      </p:sp>
      <p:sp>
        <p:nvSpPr>
          <p:cNvPr id="237" name="Google Shape;237;g3dab19ec515_10_83"/>
          <p:cNvSpPr txBox="1"/>
          <p:nvPr/>
        </p:nvSpPr>
        <p:spPr>
          <a:xfrm>
            <a:off x="3502152" y="3172968"/>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softmax attention over 25 layers</a:t>
            </a:r>
            <a:endParaRPr b="1" sz="1500"/>
          </a:p>
        </p:txBody>
      </p:sp>
      <p:sp>
        <p:nvSpPr>
          <p:cNvPr id="238" name="Google Shape;238;g3dab19ec515_10_83"/>
          <p:cNvSpPr txBox="1"/>
          <p:nvPr/>
        </p:nvSpPr>
        <p:spPr>
          <a:xfrm>
            <a:off x="3502152" y="3392424"/>
            <a:ext cx="2532900" cy="292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if middle layers matter, the mixer concentrates there</a:t>
            </a:r>
            <a:endParaRPr/>
          </a:p>
        </p:txBody>
      </p:sp>
      <p:sp>
        <p:nvSpPr>
          <p:cNvPr id="239" name="Google Shape;239;g3dab19ec515_10_83"/>
          <p:cNvSpPr/>
          <p:nvPr/>
        </p:nvSpPr>
        <p:spPr>
          <a:xfrm>
            <a:off x="6254496" y="2843784"/>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40" name="Google Shape;240;g3dab19ec515_10_83"/>
          <p:cNvSpPr/>
          <p:nvPr/>
        </p:nvSpPr>
        <p:spPr>
          <a:xfrm>
            <a:off x="6254496" y="2843784"/>
            <a:ext cx="36600" cy="9144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41" name="Google Shape;241;g3dab19ec515_10_83"/>
          <p:cNvSpPr txBox="1"/>
          <p:nvPr/>
        </p:nvSpPr>
        <p:spPr>
          <a:xfrm>
            <a:off x="8604504" y="2916936"/>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03</a:t>
            </a:r>
            <a:endParaRPr/>
          </a:p>
        </p:txBody>
      </p:sp>
      <p:sp>
        <p:nvSpPr>
          <p:cNvPr id="242" name="Google Shape;242;g3dab19ec515_10_83"/>
          <p:cNvSpPr txBox="1"/>
          <p:nvPr/>
        </p:nvSpPr>
        <p:spPr>
          <a:xfrm>
            <a:off x="6400800" y="2916936"/>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BERT alignment</a:t>
            </a:r>
            <a:endParaRPr/>
          </a:p>
        </p:txBody>
      </p:sp>
      <p:sp>
        <p:nvSpPr>
          <p:cNvPr id="243" name="Google Shape;243;g3dab19ec515_10_83"/>
          <p:cNvSpPr txBox="1"/>
          <p:nvPr/>
        </p:nvSpPr>
        <p:spPr>
          <a:xfrm>
            <a:off x="6400800" y="3172968"/>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CKA and Procrustes vs BERT base</a:t>
            </a:r>
            <a:endParaRPr b="1" sz="1500"/>
          </a:p>
        </p:txBody>
      </p:sp>
      <p:sp>
        <p:nvSpPr>
          <p:cNvPr id="244" name="Google Shape;244;g3dab19ec515_10_83"/>
          <p:cNvSpPr txBox="1"/>
          <p:nvPr/>
        </p:nvSpPr>
        <p:spPr>
          <a:xfrm>
            <a:off x="6400800" y="3392424"/>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more BERT like = more lexical, less acoustic</a:t>
            </a:r>
            <a:endParaRPr/>
          </a:p>
        </p:txBody>
      </p:sp>
      <p:sp>
        <p:nvSpPr>
          <p:cNvPr id="245" name="Google Shape;245;g3dab19ec515_10_83"/>
          <p:cNvSpPr/>
          <p:nvPr/>
        </p:nvSpPr>
        <p:spPr>
          <a:xfrm>
            <a:off x="9153144" y="2843784"/>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46" name="Google Shape;246;g3dab19ec515_10_83"/>
          <p:cNvSpPr/>
          <p:nvPr/>
        </p:nvSpPr>
        <p:spPr>
          <a:xfrm>
            <a:off x="9153144" y="2843784"/>
            <a:ext cx="36600" cy="9144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47" name="Google Shape;247;g3dab19ec515_10_83"/>
          <p:cNvSpPr txBox="1"/>
          <p:nvPr/>
        </p:nvSpPr>
        <p:spPr>
          <a:xfrm>
            <a:off x="11503152" y="2916936"/>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04</a:t>
            </a:r>
            <a:endParaRPr/>
          </a:p>
        </p:txBody>
      </p:sp>
      <p:sp>
        <p:nvSpPr>
          <p:cNvPr id="248" name="Google Shape;248;g3dab19ec515_10_83"/>
          <p:cNvSpPr txBox="1"/>
          <p:nvPr/>
        </p:nvSpPr>
        <p:spPr>
          <a:xfrm>
            <a:off x="9299448" y="2916936"/>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Frozen vs LoRA</a:t>
            </a:r>
            <a:endParaRPr/>
          </a:p>
        </p:txBody>
      </p:sp>
      <p:sp>
        <p:nvSpPr>
          <p:cNvPr id="249" name="Google Shape;249;g3dab19ec515_10_83"/>
          <p:cNvSpPr txBox="1"/>
          <p:nvPr/>
        </p:nvSpPr>
        <p:spPr>
          <a:xfrm>
            <a:off x="9299448" y="3172968"/>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tune a small adapter at the best layer</a:t>
            </a:r>
            <a:endParaRPr b="1" sz="1500"/>
          </a:p>
        </p:txBody>
      </p:sp>
      <p:sp>
        <p:nvSpPr>
          <p:cNvPr id="250" name="Google Shape;250;g3dab19ec515_10_83"/>
          <p:cNvSpPr txBox="1"/>
          <p:nvPr/>
        </p:nvSpPr>
        <p:spPr>
          <a:xfrm>
            <a:off x="9299448" y="3392424"/>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if features are already there, frozen suffices</a:t>
            </a:r>
            <a:endParaRPr/>
          </a:p>
        </p:txBody>
      </p:sp>
      <p:sp>
        <p:nvSpPr>
          <p:cNvPr id="251" name="Google Shape;251;g3dab19ec515_10_83"/>
          <p:cNvSpPr txBox="1"/>
          <p:nvPr/>
        </p:nvSpPr>
        <p:spPr>
          <a:xfrm>
            <a:off x="457200" y="3831336"/>
            <a:ext cx="7315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C2550C"/>
                </a:solidFill>
                <a:latin typeface="Calibri"/>
                <a:ea typeface="Calibri"/>
                <a:cs typeface="Calibri"/>
                <a:sym typeface="Calibri"/>
              </a:rPr>
              <a:t>LINGUISTIC BIAS FALSIFICATION</a:t>
            </a:r>
            <a:r>
              <a:rPr b="0" i="0" lang="en-US" sz="1100" u="none" cap="none" strike="noStrike">
                <a:solidFill>
                  <a:srgbClr val="8A92A3"/>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is the signal voice or words</a:t>
            </a:r>
            <a:endParaRPr b="1" sz="1500">
              <a:solidFill>
                <a:schemeClr val="dk1"/>
              </a:solidFill>
            </a:endParaRPr>
          </a:p>
        </p:txBody>
      </p:sp>
      <p:cxnSp>
        <p:nvCxnSpPr>
          <p:cNvPr id="252" name="Google Shape;252;g3dab19ec515_10_83"/>
          <p:cNvCxnSpPr/>
          <p:nvPr/>
        </p:nvCxnSpPr>
        <p:spPr>
          <a:xfrm>
            <a:off x="457200" y="4078224"/>
            <a:ext cx="11247000" cy="0"/>
          </a:xfrm>
          <a:prstGeom prst="straightConnector1">
            <a:avLst/>
          </a:prstGeom>
          <a:noFill/>
          <a:ln cap="flat" cmpd="sng" w="9525">
            <a:solidFill>
              <a:srgbClr val="D0D7E2"/>
            </a:solidFill>
            <a:prstDash val="solid"/>
            <a:round/>
            <a:headEnd len="sm" w="sm" type="none"/>
            <a:tailEnd len="sm" w="sm" type="none"/>
          </a:ln>
        </p:spPr>
      </p:cxnSp>
      <p:sp>
        <p:nvSpPr>
          <p:cNvPr id="253" name="Google Shape;253;g3dab19ec515_10_83"/>
          <p:cNvSpPr/>
          <p:nvPr/>
        </p:nvSpPr>
        <p:spPr>
          <a:xfrm>
            <a:off x="457200" y="4069080"/>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4" name="Google Shape;254;g3dab19ec515_10_83"/>
          <p:cNvSpPr/>
          <p:nvPr/>
        </p:nvSpPr>
        <p:spPr>
          <a:xfrm>
            <a:off x="457200" y="4069080"/>
            <a:ext cx="36600" cy="914400"/>
          </a:xfrm>
          <a:prstGeom prst="rect">
            <a:avLst/>
          </a:prstGeom>
          <a:solidFill>
            <a:srgbClr val="C255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5" name="Google Shape;255;g3dab19ec515_10_83"/>
          <p:cNvSpPr txBox="1"/>
          <p:nvPr/>
        </p:nvSpPr>
        <p:spPr>
          <a:xfrm>
            <a:off x="2807208" y="4142232"/>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05</a:t>
            </a:r>
            <a:endParaRPr/>
          </a:p>
        </p:txBody>
      </p:sp>
      <p:sp>
        <p:nvSpPr>
          <p:cNvPr id="256" name="Google Shape;256;g3dab19ec515_10_83"/>
          <p:cNvSpPr txBox="1"/>
          <p:nvPr/>
        </p:nvSpPr>
        <p:spPr>
          <a:xfrm>
            <a:off x="603504" y="4142232"/>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CREMA D fixed lexicon</a:t>
            </a:r>
            <a:endParaRPr/>
          </a:p>
        </p:txBody>
      </p:sp>
      <p:sp>
        <p:nvSpPr>
          <p:cNvPr id="257" name="Google Shape;257;g3dab19ec515_10_83"/>
          <p:cNvSpPr txBox="1"/>
          <p:nvPr/>
        </p:nvSpPr>
        <p:spPr>
          <a:xfrm>
            <a:off x="603504" y="4398264"/>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91 actors say the same 12 sentences</a:t>
            </a:r>
            <a:endParaRPr b="1" sz="1500"/>
          </a:p>
        </p:txBody>
      </p:sp>
      <p:sp>
        <p:nvSpPr>
          <p:cNvPr id="258" name="Google Shape;258;g3dab19ec515_10_83"/>
          <p:cNvSpPr txBox="1"/>
          <p:nvPr/>
        </p:nvSpPr>
        <p:spPr>
          <a:xfrm>
            <a:off x="603504" y="4617720"/>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any signal that survives must be acoustic</a:t>
            </a:r>
            <a:endParaRPr/>
          </a:p>
        </p:txBody>
      </p:sp>
      <p:sp>
        <p:nvSpPr>
          <p:cNvPr id="259" name="Google Shape;259;g3dab19ec515_10_83"/>
          <p:cNvSpPr/>
          <p:nvPr/>
        </p:nvSpPr>
        <p:spPr>
          <a:xfrm>
            <a:off x="3355848" y="4069080"/>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60" name="Google Shape;260;g3dab19ec515_10_83"/>
          <p:cNvSpPr/>
          <p:nvPr/>
        </p:nvSpPr>
        <p:spPr>
          <a:xfrm>
            <a:off x="3355848" y="4069080"/>
            <a:ext cx="36600" cy="914400"/>
          </a:xfrm>
          <a:prstGeom prst="rect">
            <a:avLst/>
          </a:prstGeom>
          <a:solidFill>
            <a:srgbClr val="C255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61" name="Google Shape;261;g3dab19ec515_10_83"/>
          <p:cNvSpPr txBox="1"/>
          <p:nvPr/>
        </p:nvSpPr>
        <p:spPr>
          <a:xfrm>
            <a:off x="5705856" y="4142232"/>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06</a:t>
            </a:r>
            <a:endParaRPr/>
          </a:p>
        </p:txBody>
      </p:sp>
      <p:sp>
        <p:nvSpPr>
          <p:cNvPr id="262" name="Google Shape;262;g3dab19ec515_10_83"/>
          <p:cNvSpPr txBox="1"/>
          <p:nvPr/>
        </p:nvSpPr>
        <p:spPr>
          <a:xfrm>
            <a:off x="3502152" y="4142232"/>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GRL adversarial</a:t>
            </a:r>
            <a:endParaRPr/>
          </a:p>
        </p:txBody>
      </p:sp>
      <p:sp>
        <p:nvSpPr>
          <p:cNvPr id="263" name="Google Shape;263;g3dab19ec515_10_83"/>
          <p:cNvSpPr txBox="1"/>
          <p:nvPr/>
        </p:nvSpPr>
        <p:spPr>
          <a:xfrm>
            <a:off x="3502152" y="4398264"/>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strip sentence identity from gradients</a:t>
            </a:r>
            <a:endParaRPr b="1" sz="1500"/>
          </a:p>
        </p:txBody>
      </p:sp>
      <p:sp>
        <p:nvSpPr>
          <p:cNvPr id="264" name="Google Shape;264;g3dab19ec515_10_83"/>
          <p:cNvSpPr txBox="1"/>
          <p:nvPr/>
        </p:nvSpPr>
        <p:spPr>
          <a:xfrm>
            <a:off x="3502152" y="4617720"/>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accuracy that survives is acoustic</a:t>
            </a:r>
            <a:endParaRPr/>
          </a:p>
        </p:txBody>
      </p:sp>
      <p:sp>
        <p:nvSpPr>
          <p:cNvPr id="265" name="Google Shape;265;g3dab19ec515_10_83"/>
          <p:cNvSpPr/>
          <p:nvPr/>
        </p:nvSpPr>
        <p:spPr>
          <a:xfrm>
            <a:off x="6254496" y="4069080"/>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66" name="Google Shape;266;g3dab19ec515_10_83"/>
          <p:cNvSpPr/>
          <p:nvPr/>
        </p:nvSpPr>
        <p:spPr>
          <a:xfrm>
            <a:off x="6254496" y="4069080"/>
            <a:ext cx="36600" cy="914400"/>
          </a:xfrm>
          <a:prstGeom prst="rect">
            <a:avLst/>
          </a:prstGeom>
          <a:solidFill>
            <a:srgbClr val="C255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67" name="Google Shape;267;g3dab19ec515_10_83"/>
          <p:cNvSpPr txBox="1"/>
          <p:nvPr/>
        </p:nvSpPr>
        <p:spPr>
          <a:xfrm>
            <a:off x="8604504" y="4142232"/>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07</a:t>
            </a:r>
            <a:endParaRPr/>
          </a:p>
        </p:txBody>
      </p:sp>
      <p:sp>
        <p:nvSpPr>
          <p:cNvPr id="268" name="Google Shape;268;g3dab19ec515_10_83"/>
          <p:cNvSpPr txBox="1"/>
          <p:nvPr/>
        </p:nvSpPr>
        <p:spPr>
          <a:xfrm>
            <a:off x="6400800" y="4142232"/>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EMIS congruent vs incongruent</a:t>
            </a:r>
            <a:endParaRPr/>
          </a:p>
        </p:txBody>
      </p:sp>
      <p:sp>
        <p:nvSpPr>
          <p:cNvPr id="269" name="Google Shape;269;g3dab19ec515_10_83"/>
          <p:cNvSpPr txBox="1"/>
          <p:nvPr/>
        </p:nvSpPr>
        <p:spPr>
          <a:xfrm>
            <a:off x="6400800" y="4398264"/>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force words and voice to disagree</a:t>
            </a:r>
            <a:endParaRPr b="1" sz="1500"/>
          </a:p>
        </p:txBody>
      </p:sp>
      <p:sp>
        <p:nvSpPr>
          <p:cNvPr id="270" name="Google Shape;270;g3dab19ec515_10_83"/>
          <p:cNvSpPr txBox="1"/>
          <p:nvPr/>
        </p:nvSpPr>
        <p:spPr>
          <a:xfrm>
            <a:off x="6400800" y="4617720"/>
            <a:ext cx="2532900" cy="292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tracks voice = grounded, tracks text = lexical shortcut</a:t>
            </a:r>
            <a:endParaRPr/>
          </a:p>
        </p:txBody>
      </p:sp>
      <p:sp>
        <p:nvSpPr>
          <p:cNvPr id="271" name="Google Shape;271;g3dab19ec515_10_83"/>
          <p:cNvSpPr/>
          <p:nvPr/>
        </p:nvSpPr>
        <p:spPr>
          <a:xfrm>
            <a:off x="9153144" y="4069080"/>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72" name="Google Shape;272;g3dab19ec515_10_83"/>
          <p:cNvSpPr/>
          <p:nvPr/>
        </p:nvSpPr>
        <p:spPr>
          <a:xfrm>
            <a:off x="9153144" y="4069080"/>
            <a:ext cx="36600" cy="914400"/>
          </a:xfrm>
          <a:prstGeom prst="rect">
            <a:avLst/>
          </a:prstGeom>
          <a:solidFill>
            <a:srgbClr val="C255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73" name="Google Shape;273;g3dab19ec515_10_83"/>
          <p:cNvSpPr txBox="1"/>
          <p:nvPr/>
        </p:nvSpPr>
        <p:spPr>
          <a:xfrm>
            <a:off x="11503152" y="4142232"/>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08</a:t>
            </a:r>
            <a:endParaRPr/>
          </a:p>
        </p:txBody>
      </p:sp>
      <p:sp>
        <p:nvSpPr>
          <p:cNvPr id="274" name="Google Shape;274;g3dab19ec515_10_83"/>
          <p:cNvSpPr txBox="1"/>
          <p:nvPr/>
        </p:nvSpPr>
        <p:spPr>
          <a:xfrm>
            <a:off x="9299448" y="4142232"/>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Speechcraft pooled</a:t>
            </a:r>
            <a:endParaRPr/>
          </a:p>
        </p:txBody>
      </p:sp>
      <p:sp>
        <p:nvSpPr>
          <p:cNvPr id="275" name="Google Shape;275;g3dab19ec515_10_83"/>
          <p:cNvSpPr txBox="1"/>
          <p:nvPr/>
        </p:nvSpPr>
        <p:spPr>
          <a:xfrm>
            <a:off x="9299448" y="4398264"/>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6 datasets pooled across 4 languages</a:t>
            </a:r>
            <a:endParaRPr b="1" sz="1500"/>
          </a:p>
        </p:txBody>
      </p:sp>
      <p:sp>
        <p:nvSpPr>
          <p:cNvPr id="276" name="Google Shape;276;g3dab19ec515_10_83"/>
          <p:cNvSpPr txBox="1"/>
          <p:nvPr/>
        </p:nvSpPr>
        <p:spPr>
          <a:xfrm>
            <a:off x="9299448" y="4617720"/>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acoustic signal should generalize across languages</a:t>
            </a:r>
            <a:endParaRPr/>
          </a:p>
        </p:txBody>
      </p:sp>
      <p:sp>
        <p:nvSpPr>
          <p:cNvPr id="277" name="Google Shape;277;g3dab19ec515_10_83"/>
          <p:cNvSpPr txBox="1"/>
          <p:nvPr/>
        </p:nvSpPr>
        <p:spPr>
          <a:xfrm>
            <a:off x="457200" y="5056632"/>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4A556B"/>
                </a:solidFill>
                <a:latin typeface="Calibri"/>
                <a:ea typeface="Calibri"/>
                <a:cs typeface="Calibri"/>
                <a:sym typeface="Calibri"/>
              </a:rPr>
              <a:t>GENERALIZATION AND ROBUSTNESS</a:t>
            </a:r>
            <a:r>
              <a:rPr b="0" i="0" lang="en-US" sz="1100" u="none" cap="none" strike="noStrike">
                <a:solidFill>
                  <a:srgbClr val="8A92A3"/>
                </a:solidFill>
                <a:latin typeface="Calibri"/>
                <a:ea typeface="Calibri"/>
                <a:cs typeface="Calibri"/>
                <a:sym typeface="Calibri"/>
              </a:rPr>
              <a:t>    </a:t>
            </a:r>
            <a:r>
              <a:rPr b="1" i="1" lang="en-US" sz="1200" u="none" cap="none" strike="noStrike">
                <a:solidFill>
                  <a:schemeClr val="dk1"/>
                </a:solidFill>
                <a:latin typeface="Calibri"/>
                <a:ea typeface="Calibri"/>
                <a:cs typeface="Calibri"/>
                <a:sym typeface="Calibri"/>
              </a:rPr>
              <a:t>does the signal transfer</a:t>
            </a:r>
            <a:endParaRPr b="1" sz="1600">
              <a:solidFill>
                <a:schemeClr val="dk1"/>
              </a:solidFill>
            </a:endParaRPr>
          </a:p>
        </p:txBody>
      </p:sp>
      <p:cxnSp>
        <p:nvCxnSpPr>
          <p:cNvPr id="278" name="Google Shape;278;g3dab19ec515_10_83"/>
          <p:cNvCxnSpPr/>
          <p:nvPr/>
        </p:nvCxnSpPr>
        <p:spPr>
          <a:xfrm>
            <a:off x="457200" y="5303520"/>
            <a:ext cx="11247000" cy="0"/>
          </a:xfrm>
          <a:prstGeom prst="straightConnector1">
            <a:avLst/>
          </a:prstGeom>
          <a:noFill/>
          <a:ln cap="flat" cmpd="sng" w="9525">
            <a:solidFill>
              <a:srgbClr val="D0D7E2"/>
            </a:solidFill>
            <a:prstDash val="solid"/>
            <a:round/>
            <a:headEnd len="sm" w="sm" type="none"/>
            <a:tailEnd len="sm" w="sm" type="none"/>
          </a:ln>
        </p:spPr>
      </p:cxnSp>
      <p:sp>
        <p:nvSpPr>
          <p:cNvPr id="279" name="Google Shape;279;g3dab19ec515_10_83"/>
          <p:cNvSpPr/>
          <p:nvPr/>
        </p:nvSpPr>
        <p:spPr>
          <a:xfrm>
            <a:off x="457200" y="5294376"/>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80" name="Google Shape;280;g3dab19ec515_10_83"/>
          <p:cNvSpPr/>
          <p:nvPr/>
        </p:nvSpPr>
        <p:spPr>
          <a:xfrm>
            <a:off x="457200" y="5294376"/>
            <a:ext cx="36600" cy="914400"/>
          </a:xfrm>
          <a:prstGeom prst="rect">
            <a:avLst/>
          </a:prstGeom>
          <a:solidFill>
            <a:srgbClr val="4A55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81" name="Google Shape;281;g3dab19ec515_10_83"/>
          <p:cNvSpPr txBox="1"/>
          <p:nvPr/>
        </p:nvSpPr>
        <p:spPr>
          <a:xfrm>
            <a:off x="2807208" y="5367528"/>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09</a:t>
            </a:r>
            <a:endParaRPr/>
          </a:p>
        </p:txBody>
      </p:sp>
      <p:sp>
        <p:nvSpPr>
          <p:cNvPr id="282" name="Google Shape;282;g3dab19ec515_10_83"/>
          <p:cNvSpPr txBox="1"/>
          <p:nvPr/>
        </p:nvSpPr>
        <p:spPr>
          <a:xfrm>
            <a:off x="603504" y="5367528"/>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Leave one speaker out</a:t>
            </a:r>
            <a:endParaRPr/>
          </a:p>
        </p:txBody>
      </p:sp>
      <p:sp>
        <p:nvSpPr>
          <p:cNvPr id="283" name="Google Shape;283;g3dab19ec515_10_83"/>
          <p:cNvSpPr txBox="1"/>
          <p:nvPr/>
        </p:nvSpPr>
        <p:spPr>
          <a:xfrm>
            <a:off x="603504" y="5623560"/>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across 42 model dataset pairs</a:t>
            </a:r>
            <a:endParaRPr b="1" sz="1500"/>
          </a:p>
        </p:txBody>
      </p:sp>
      <p:sp>
        <p:nvSpPr>
          <p:cNvPr id="284" name="Google Shape;284;g3dab19ec515_10_83"/>
          <p:cNvSpPr txBox="1"/>
          <p:nvPr/>
        </p:nvSpPr>
        <p:spPr>
          <a:xfrm>
            <a:off x="603504" y="5843016"/>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five fold minus LOSO = speaker memorization</a:t>
            </a:r>
            <a:endParaRPr/>
          </a:p>
        </p:txBody>
      </p:sp>
      <p:sp>
        <p:nvSpPr>
          <p:cNvPr id="285" name="Google Shape;285;g3dab19ec515_10_83"/>
          <p:cNvSpPr/>
          <p:nvPr/>
        </p:nvSpPr>
        <p:spPr>
          <a:xfrm>
            <a:off x="3355848" y="5294376"/>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86" name="Google Shape;286;g3dab19ec515_10_83"/>
          <p:cNvSpPr/>
          <p:nvPr/>
        </p:nvSpPr>
        <p:spPr>
          <a:xfrm>
            <a:off x="3355848" y="5294376"/>
            <a:ext cx="36600" cy="914400"/>
          </a:xfrm>
          <a:prstGeom prst="rect">
            <a:avLst/>
          </a:prstGeom>
          <a:solidFill>
            <a:srgbClr val="4A55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87" name="Google Shape;287;g3dab19ec515_10_83"/>
          <p:cNvSpPr txBox="1"/>
          <p:nvPr/>
        </p:nvSpPr>
        <p:spPr>
          <a:xfrm>
            <a:off x="5705856" y="5367528"/>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10</a:t>
            </a:r>
            <a:endParaRPr/>
          </a:p>
        </p:txBody>
      </p:sp>
      <p:sp>
        <p:nvSpPr>
          <p:cNvPr id="288" name="Google Shape;288;g3dab19ec515_10_83"/>
          <p:cNvSpPr txBox="1"/>
          <p:nvPr/>
        </p:nvSpPr>
        <p:spPr>
          <a:xfrm>
            <a:off x="3502152" y="5367528"/>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ESC 50 noise robustness</a:t>
            </a:r>
            <a:endParaRPr/>
          </a:p>
        </p:txBody>
      </p:sp>
      <p:sp>
        <p:nvSpPr>
          <p:cNvPr id="289" name="Google Shape;289;g3dab19ec515_10_83"/>
          <p:cNvSpPr txBox="1"/>
          <p:nvPr/>
        </p:nvSpPr>
        <p:spPr>
          <a:xfrm>
            <a:off x="3502152" y="5623560"/>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audio mixed at 4 SNR levels</a:t>
            </a:r>
            <a:endParaRPr b="1" sz="1500"/>
          </a:p>
        </p:txBody>
      </p:sp>
      <p:sp>
        <p:nvSpPr>
          <p:cNvPr id="290" name="Google Shape;290;g3dab19ec515_10_83"/>
          <p:cNvSpPr txBox="1"/>
          <p:nvPr/>
        </p:nvSpPr>
        <p:spPr>
          <a:xfrm>
            <a:off x="3502152" y="5843016"/>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real signals degrade gracefully, shortcuts collapse</a:t>
            </a:r>
            <a:endParaRPr/>
          </a:p>
        </p:txBody>
      </p:sp>
      <p:sp>
        <p:nvSpPr>
          <p:cNvPr id="291" name="Google Shape;291;g3dab19ec515_10_83"/>
          <p:cNvSpPr/>
          <p:nvPr/>
        </p:nvSpPr>
        <p:spPr>
          <a:xfrm>
            <a:off x="6254496" y="5294376"/>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92" name="Google Shape;292;g3dab19ec515_10_83"/>
          <p:cNvSpPr/>
          <p:nvPr/>
        </p:nvSpPr>
        <p:spPr>
          <a:xfrm>
            <a:off x="6254496" y="5294376"/>
            <a:ext cx="36600" cy="914400"/>
          </a:xfrm>
          <a:prstGeom prst="rect">
            <a:avLst/>
          </a:prstGeom>
          <a:solidFill>
            <a:srgbClr val="4A55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93" name="Google Shape;293;g3dab19ec515_10_83"/>
          <p:cNvSpPr txBox="1"/>
          <p:nvPr/>
        </p:nvSpPr>
        <p:spPr>
          <a:xfrm>
            <a:off x="8604504" y="5367528"/>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11</a:t>
            </a:r>
            <a:endParaRPr/>
          </a:p>
        </p:txBody>
      </p:sp>
      <p:sp>
        <p:nvSpPr>
          <p:cNvPr id="294" name="Google Shape;294;g3dab19ec515_10_83"/>
          <p:cNvSpPr txBox="1"/>
          <p:nvPr/>
        </p:nvSpPr>
        <p:spPr>
          <a:xfrm>
            <a:off x="6400800" y="5367528"/>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MSP Podcast spontaneous</a:t>
            </a:r>
            <a:endParaRPr/>
          </a:p>
        </p:txBody>
      </p:sp>
      <p:sp>
        <p:nvSpPr>
          <p:cNvPr id="295" name="Google Shape;295;g3dab19ec515_10_83"/>
          <p:cNvSpPr txBox="1"/>
          <p:nvPr/>
        </p:nvSpPr>
        <p:spPr>
          <a:xfrm>
            <a:off x="6400800" y="5623560"/>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real conversation, no actors, no scripts</a:t>
            </a:r>
            <a:endParaRPr b="1" sz="1500"/>
          </a:p>
        </p:txBody>
      </p:sp>
      <p:sp>
        <p:nvSpPr>
          <p:cNvPr id="296" name="Google Shape;296;g3dab19ec515_10_83"/>
          <p:cNvSpPr txBox="1"/>
          <p:nvPr/>
        </p:nvSpPr>
        <p:spPr>
          <a:xfrm>
            <a:off x="6400800" y="5843016"/>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if it was theatrical voice, it breaks here</a:t>
            </a:r>
            <a:endParaRPr/>
          </a:p>
        </p:txBody>
      </p:sp>
      <p:sp>
        <p:nvSpPr>
          <p:cNvPr id="297" name="Google Shape;297;g3dab19ec515_10_83"/>
          <p:cNvSpPr/>
          <p:nvPr/>
        </p:nvSpPr>
        <p:spPr>
          <a:xfrm>
            <a:off x="9153144" y="5294376"/>
            <a:ext cx="2807100" cy="914400"/>
          </a:xfrm>
          <a:prstGeom prst="rect">
            <a:avLst/>
          </a:prstGeom>
          <a:solidFill>
            <a:srgbClr val="FFFFFF"/>
          </a:solidFill>
          <a:ln cap="flat" cmpd="sng" w="9525">
            <a:solidFill>
              <a:srgbClr val="D0D7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98" name="Google Shape;298;g3dab19ec515_10_83"/>
          <p:cNvSpPr/>
          <p:nvPr/>
        </p:nvSpPr>
        <p:spPr>
          <a:xfrm>
            <a:off x="9153144" y="5294376"/>
            <a:ext cx="36600" cy="914400"/>
          </a:xfrm>
          <a:prstGeom prst="rect">
            <a:avLst/>
          </a:prstGeom>
          <a:solidFill>
            <a:srgbClr val="4A55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99" name="Google Shape;299;g3dab19ec515_10_83"/>
          <p:cNvSpPr txBox="1"/>
          <p:nvPr/>
        </p:nvSpPr>
        <p:spPr>
          <a:xfrm>
            <a:off x="11503152" y="5367528"/>
            <a:ext cx="365700" cy="13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900" u="none" cap="none" strike="noStrike">
                <a:solidFill>
                  <a:srgbClr val="8A92A3"/>
                </a:solidFill>
                <a:latin typeface="Calibri"/>
                <a:ea typeface="Calibri"/>
                <a:cs typeface="Calibri"/>
                <a:sym typeface="Calibri"/>
              </a:rPr>
              <a:t>12</a:t>
            </a:r>
            <a:endParaRPr/>
          </a:p>
        </p:txBody>
      </p:sp>
      <p:sp>
        <p:nvSpPr>
          <p:cNvPr id="300" name="Google Shape;300;g3dab19ec515_10_83"/>
          <p:cNvSpPr txBox="1"/>
          <p:nvPr/>
        </p:nvSpPr>
        <p:spPr>
          <a:xfrm>
            <a:off x="9299448" y="5367528"/>
            <a:ext cx="2167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1E2761"/>
                </a:solidFill>
                <a:latin typeface="Calibri"/>
                <a:ea typeface="Calibri"/>
                <a:cs typeface="Calibri"/>
                <a:sym typeface="Calibri"/>
              </a:rPr>
              <a:t>Dimensional V/A/D regression</a:t>
            </a:r>
            <a:endParaRPr/>
          </a:p>
        </p:txBody>
      </p:sp>
      <p:sp>
        <p:nvSpPr>
          <p:cNvPr id="301" name="Google Shape;301;g3dab19ec515_10_83"/>
          <p:cNvSpPr txBox="1"/>
          <p:nvPr/>
        </p:nvSpPr>
        <p:spPr>
          <a:xfrm>
            <a:off x="9299448" y="5623560"/>
            <a:ext cx="2532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1" lang="en-US" sz="1000" u="none" cap="none" strike="noStrike">
                <a:solidFill>
                  <a:srgbClr val="8A92A3"/>
                </a:solidFill>
                <a:latin typeface="Calibri"/>
                <a:ea typeface="Calibri"/>
                <a:cs typeface="Calibri"/>
                <a:sym typeface="Calibri"/>
              </a:rPr>
              <a:t>predict valence, arousal, dominance</a:t>
            </a:r>
            <a:endParaRPr b="1" sz="1500"/>
          </a:p>
        </p:txBody>
      </p:sp>
      <p:sp>
        <p:nvSpPr>
          <p:cNvPr id="302" name="Google Shape;302;g3dab19ec515_10_83"/>
          <p:cNvSpPr txBox="1"/>
          <p:nvPr/>
        </p:nvSpPr>
        <p:spPr>
          <a:xfrm>
            <a:off x="9299448" y="5843016"/>
            <a:ext cx="2532900" cy="14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141824"/>
                </a:solidFill>
                <a:latin typeface="Calibri"/>
                <a:ea typeface="Calibri"/>
                <a:cs typeface="Calibri"/>
                <a:sym typeface="Calibri"/>
              </a:rPr>
              <a:t>same layers should encode the continuous version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dab19ec515_5_0"/>
          <p:cNvSpPr/>
          <p:nvPr/>
        </p:nvSpPr>
        <p:spPr>
          <a:xfrm>
            <a:off x="0" y="0"/>
            <a:ext cx="1463100" cy="4116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g3dab19ec515_5_0"/>
          <p:cNvSpPr txBox="1"/>
          <p:nvPr/>
        </p:nvSpPr>
        <p:spPr>
          <a:xfrm>
            <a:off x="457200" y="594360"/>
            <a:ext cx="112470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E2761"/>
                </a:solidFill>
                <a:latin typeface="Calibri"/>
                <a:ea typeface="Calibri"/>
                <a:cs typeface="Calibri"/>
                <a:sym typeface="Calibri"/>
              </a:rPr>
              <a:t>Voice, not words (independent tests agree)</a:t>
            </a:r>
            <a:endParaRPr/>
          </a:p>
        </p:txBody>
      </p:sp>
      <p:sp>
        <p:nvSpPr>
          <p:cNvPr id="310" name="Google Shape;310;g3dab19ec515_5_0"/>
          <p:cNvSpPr txBox="1"/>
          <p:nvPr/>
        </p:nvSpPr>
        <p:spPr>
          <a:xfrm>
            <a:off x="472500" y="1134183"/>
            <a:ext cx="112470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600" u="none" cap="none" strike="noStrike">
                <a:solidFill>
                  <a:srgbClr val="64748B"/>
                </a:solidFill>
                <a:latin typeface="Calibri"/>
                <a:ea typeface="Calibri"/>
                <a:cs typeface="Calibri"/>
                <a:sym typeface="Calibri"/>
              </a:rPr>
              <a:t>Each test removes the linguistic shortcut from a different angle. If the model were cheating, at least one would catch it.</a:t>
            </a:r>
            <a:endParaRPr b="1" sz="1600"/>
          </a:p>
        </p:txBody>
      </p:sp>
      <p:sp>
        <p:nvSpPr>
          <p:cNvPr id="311" name="Google Shape;311;g3dab19ec515_5_0"/>
          <p:cNvSpPr/>
          <p:nvPr/>
        </p:nvSpPr>
        <p:spPr>
          <a:xfrm>
            <a:off x="457200" y="1691640"/>
            <a:ext cx="5486400" cy="2103000"/>
          </a:xfrm>
          <a:prstGeom prst="rect">
            <a:avLst/>
          </a:prstGeom>
          <a:solidFill>
            <a:srgbClr val="FFFFFF"/>
          </a:solidFill>
          <a:ln cap="flat" cmpd="sng" w="19050">
            <a:solidFill>
              <a:srgbClr val="CADC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g3dab19ec515_5_0"/>
          <p:cNvSpPr/>
          <p:nvPr/>
        </p:nvSpPr>
        <p:spPr>
          <a:xfrm>
            <a:off x="457200" y="1691640"/>
            <a:ext cx="73200" cy="2103000"/>
          </a:xfrm>
          <a:prstGeom prst="rect">
            <a:avLst/>
          </a:prstGeom>
          <a:solidFill>
            <a:srgbClr val="F4A2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g3dab19ec515_5_0"/>
          <p:cNvSpPr txBox="1"/>
          <p:nvPr/>
        </p:nvSpPr>
        <p:spPr>
          <a:xfrm>
            <a:off x="685800" y="1783080"/>
            <a:ext cx="51207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E2761"/>
                </a:solidFill>
                <a:latin typeface="Calibri"/>
                <a:ea typeface="Calibri"/>
                <a:cs typeface="Calibri"/>
                <a:sym typeface="Calibri"/>
              </a:rPr>
              <a:t>Test 1  ·  CREMA D controlled lexicon</a:t>
            </a:r>
            <a:endParaRPr sz="1800"/>
          </a:p>
        </p:txBody>
      </p:sp>
      <p:sp>
        <p:nvSpPr>
          <p:cNvPr id="314" name="Google Shape;314;g3dab19ec515_5_0"/>
          <p:cNvSpPr txBox="1"/>
          <p:nvPr/>
        </p:nvSpPr>
        <p:spPr>
          <a:xfrm>
            <a:off x="685800" y="2148840"/>
            <a:ext cx="51207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300">
                <a:solidFill>
                  <a:srgbClr val="64748B"/>
                </a:solidFill>
                <a:latin typeface="Calibri"/>
                <a:ea typeface="Calibri"/>
                <a:cs typeface="Calibri"/>
                <a:sym typeface="Calibri"/>
              </a:rPr>
              <a:t>removes</a:t>
            </a:r>
            <a:r>
              <a:rPr b="1" i="1" lang="en-US" sz="1300" u="none" cap="none" strike="noStrike">
                <a:solidFill>
                  <a:srgbClr val="64748B"/>
                </a:solidFill>
                <a:latin typeface="Calibri"/>
                <a:ea typeface="Calibri"/>
                <a:cs typeface="Calibri"/>
                <a:sym typeface="Calibri"/>
              </a:rPr>
              <a:t>: word variation removed</a:t>
            </a:r>
            <a:endParaRPr b="1" sz="1600"/>
          </a:p>
        </p:txBody>
      </p:sp>
      <p:sp>
        <p:nvSpPr>
          <p:cNvPr id="315" name="Google Shape;315;g3dab19ec515_5_0"/>
          <p:cNvSpPr txBox="1"/>
          <p:nvPr/>
        </p:nvSpPr>
        <p:spPr>
          <a:xfrm>
            <a:off x="685800" y="2441448"/>
            <a:ext cx="51207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u="none" cap="none" strike="noStrike">
                <a:solidFill>
                  <a:srgbClr val="F4A261"/>
                </a:solidFill>
                <a:latin typeface="Calibri"/>
                <a:ea typeface="Calibri"/>
                <a:cs typeface="Calibri"/>
                <a:sym typeface="Calibri"/>
              </a:rPr>
              <a:t>all 6 models still peak in the same middle to late layer band</a:t>
            </a:r>
            <a:endParaRPr sz="1600"/>
          </a:p>
        </p:txBody>
      </p:sp>
      <p:sp>
        <p:nvSpPr>
          <p:cNvPr id="316" name="Google Shape;316;g3dab19ec515_5_0"/>
          <p:cNvSpPr txBox="1"/>
          <p:nvPr/>
        </p:nvSpPr>
        <p:spPr>
          <a:xfrm>
            <a:off x="685800" y="2770632"/>
            <a:ext cx="51207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0F172A"/>
                </a:solidFill>
                <a:latin typeface="Calibri"/>
                <a:ea typeface="Calibri"/>
                <a:cs typeface="Calibri"/>
                <a:sym typeface="Calibri"/>
              </a:rPr>
              <a:t>91 actors say the same </a:t>
            </a:r>
            <a:r>
              <a:rPr b="1" i="0" lang="en-US" u="none" cap="none" strike="noStrike">
                <a:solidFill>
                  <a:srgbClr val="0F172A"/>
                </a:solidFill>
                <a:latin typeface="Calibri"/>
                <a:ea typeface="Calibri"/>
                <a:cs typeface="Calibri"/>
                <a:sym typeface="Calibri"/>
              </a:rPr>
              <a:t>12</a:t>
            </a:r>
            <a:r>
              <a:rPr b="0" i="0" lang="en-US" u="none" cap="none" strike="noStrike">
                <a:solidFill>
                  <a:srgbClr val="0F172A"/>
                </a:solidFill>
                <a:latin typeface="Calibri"/>
                <a:ea typeface="Calibri"/>
                <a:cs typeface="Calibri"/>
                <a:sym typeface="Calibri"/>
              </a:rPr>
              <a:t> sentences across 6 emotions. Words are constant, so any classification accuracy must come from voice. WavLM L9 = </a:t>
            </a:r>
            <a:r>
              <a:rPr b="1" i="0" lang="en-US" u="none" cap="none" strike="noStrike">
                <a:solidFill>
                  <a:srgbClr val="0F172A"/>
                </a:solidFill>
                <a:latin typeface="Calibri"/>
                <a:ea typeface="Calibri"/>
                <a:cs typeface="Calibri"/>
                <a:sym typeface="Calibri"/>
              </a:rPr>
              <a:t>0.756</a:t>
            </a:r>
            <a:r>
              <a:rPr b="0" i="0" lang="en-US" u="none" cap="none" strike="noStrike">
                <a:solidFill>
                  <a:srgbClr val="0F172A"/>
                </a:solidFill>
                <a:latin typeface="Calibri"/>
                <a:ea typeface="Calibri"/>
                <a:cs typeface="Calibri"/>
                <a:sym typeface="Calibri"/>
              </a:rPr>
              <a:t>, HuBERT L7 = </a:t>
            </a:r>
            <a:r>
              <a:rPr b="1" i="0" lang="en-US" u="none" cap="none" strike="noStrike">
                <a:solidFill>
                  <a:srgbClr val="0F172A"/>
                </a:solidFill>
                <a:latin typeface="Calibri"/>
                <a:ea typeface="Calibri"/>
                <a:cs typeface="Calibri"/>
                <a:sym typeface="Calibri"/>
              </a:rPr>
              <a:t>0.748.</a:t>
            </a:r>
            <a:endParaRPr b="1" sz="1600"/>
          </a:p>
        </p:txBody>
      </p:sp>
      <p:sp>
        <p:nvSpPr>
          <p:cNvPr id="317" name="Google Shape;317;g3dab19ec515_5_0"/>
          <p:cNvSpPr/>
          <p:nvPr/>
        </p:nvSpPr>
        <p:spPr>
          <a:xfrm>
            <a:off x="6217920" y="1691640"/>
            <a:ext cx="5486400" cy="2103000"/>
          </a:xfrm>
          <a:prstGeom prst="rect">
            <a:avLst/>
          </a:prstGeom>
          <a:solidFill>
            <a:srgbClr val="FFFFFF"/>
          </a:solidFill>
          <a:ln cap="flat" cmpd="sng" w="19050">
            <a:solidFill>
              <a:srgbClr val="CADC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g3dab19ec515_5_0"/>
          <p:cNvSpPr/>
          <p:nvPr/>
        </p:nvSpPr>
        <p:spPr>
          <a:xfrm>
            <a:off x="6217920" y="1691640"/>
            <a:ext cx="73200" cy="2103000"/>
          </a:xfrm>
          <a:prstGeom prst="rect">
            <a:avLst/>
          </a:prstGeom>
          <a:solidFill>
            <a:srgbClr val="F4A2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g3dab19ec515_5_0"/>
          <p:cNvSpPr txBox="1"/>
          <p:nvPr/>
        </p:nvSpPr>
        <p:spPr>
          <a:xfrm>
            <a:off x="6446520" y="1783080"/>
            <a:ext cx="51207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E2761"/>
                </a:solidFill>
                <a:latin typeface="Calibri"/>
                <a:ea typeface="Calibri"/>
                <a:cs typeface="Calibri"/>
                <a:sym typeface="Calibri"/>
              </a:rPr>
              <a:t>Test 2  ·  GRL adversarial</a:t>
            </a:r>
            <a:endParaRPr b="1" sz="1800"/>
          </a:p>
        </p:txBody>
      </p:sp>
      <p:sp>
        <p:nvSpPr>
          <p:cNvPr id="320" name="Google Shape;320;g3dab19ec515_5_0"/>
          <p:cNvSpPr txBox="1"/>
          <p:nvPr/>
        </p:nvSpPr>
        <p:spPr>
          <a:xfrm>
            <a:off x="6446520" y="2148840"/>
            <a:ext cx="51207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300">
                <a:solidFill>
                  <a:srgbClr val="64748B"/>
                </a:solidFill>
                <a:latin typeface="Calibri"/>
                <a:ea typeface="Calibri"/>
                <a:cs typeface="Calibri"/>
                <a:sym typeface="Calibri"/>
              </a:rPr>
              <a:t>removes</a:t>
            </a:r>
            <a:r>
              <a:rPr b="1" i="1" lang="en-US" sz="1300" u="none" cap="none" strike="noStrike">
                <a:solidFill>
                  <a:srgbClr val="64748B"/>
                </a:solidFill>
                <a:latin typeface="Calibri"/>
                <a:ea typeface="Calibri"/>
                <a:cs typeface="Calibri"/>
                <a:sym typeface="Calibri"/>
              </a:rPr>
              <a:t>: word information stripped from gradients</a:t>
            </a:r>
            <a:endParaRPr b="1" sz="1600"/>
          </a:p>
        </p:txBody>
      </p:sp>
      <p:sp>
        <p:nvSpPr>
          <p:cNvPr id="321" name="Google Shape;321;g3dab19ec515_5_0"/>
          <p:cNvSpPr txBox="1"/>
          <p:nvPr/>
        </p:nvSpPr>
        <p:spPr>
          <a:xfrm>
            <a:off x="6446520" y="2441448"/>
            <a:ext cx="51207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u="none" cap="none" strike="noStrike">
                <a:solidFill>
                  <a:srgbClr val="F4A261"/>
                </a:solidFill>
                <a:latin typeface="Calibri"/>
                <a:ea typeface="Calibri"/>
                <a:cs typeface="Calibri"/>
                <a:sym typeface="Calibri"/>
              </a:rPr>
              <a:t>emotion holds, sentence identity collapses</a:t>
            </a:r>
            <a:endParaRPr sz="1600"/>
          </a:p>
        </p:txBody>
      </p:sp>
      <p:sp>
        <p:nvSpPr>
          <p:cNvPr id="322" name="Google Shape;322;g3dab19ec515_5_0"/>
          <p:cNvSpPr txBox="1"/>
          <p:nvPr/>
        </p:nvSpPr>
        <p:spPr>
          <a:xfrm>
            <a:off x="6446520" y="2770632"/>
            <a:ext cx="51207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0F172A"/>
                </a:solidFill>
                <a:latin typeface="Calibri"/>
                <a:ea typeface="Calibri"/>
                <a:cs typeface="Calibri"/>
                <a:sym typeface="Calibri"/>
              </a:rPr>
              <a:t>Gradient reversal punishes the encoder for predicting the sentence. At lambda = 1, sentence accuracy drops to </a:t>
            </a:r>
            <a:r>
              <a:rPr b="1" i="0" lang="en-US" u="none" cap="none" strike="noStrike">
                <a:solidFill>
                  <a:srgbClr val="0F172A"/>
                </a:solidFill>
                <a:latin typeface="Calibri"/>
                <a:ea typeface="Calibri"/>
                <a:cs typeface="Calibri"/>
                <a:sym typeface="Calibri"/>
              </a:rPr>
              <a:t>0.39</a:t>
            </a:r>
            <a:r>
              <a:rPr b="0" i="0" lang="en-US" u="none" cap="none" strike="noStrike">
                <a:solidFill>
                  <a:srgbClr val="0F172A"/>
                </a:solidFill>
                <a:latin typeface="Calibri"/>
                <a:ea typeface="Calibri"/>
                <a:cs typeface="Calibri"/>
                <a:sym typeface="Calibri"/>
              </a:rPr>
              <a:t> while emotion stays above </a:t>
            </a:r>
            <a:r>
              <a:rPr b="1" i="0" lang="en-US" u="none" cap="none" strike="noStrike">
                <a:solidFill>
                  <a:srgbClr val="0F172A"/>
                </a:solidFill>
                <a:latin typeface="Calibri"/>
                <a:ea typeface="Calibri"/>
                <a:cs typeface="Calibri"/>
                <a:sym typeface="Calibri"/>
              </a:rPr>
              <a:t>0.93</a:t>
            </a:r>
            <a:r>
              <a:rPr b="0" i="0" lang="en-US" u="none" cap="none" strike="noStrike">
                <a:solidFill>
                  <a:srgbClr val="0F172A"/>
                </a:solidFill>
                <a:latin typeface="Calibri"/>
                <a:ea typeface="Calibri"/>
                <a:cs typeface="Calibri"/>
                <a:sym typeface="Calibri"/>
              </a:rPr>
              <a:t>. The model loses words and keeps emotion.</a:t>
            </a:r>
            <a:endParaRPr sz="1600"/>
          </a:p>
        </p:txBody>
      </p:sp>
      <p:sp>
        <p:nvSpPr>
          <p:cNvPr id="323" name="Google Shape;323;g3dab19ec515_5_0"/>
          <p:cNvSpPr/>
          <p:nvPr/>
        </p:nvSpPr>
        <p:spPr>
          <a:xfrm>
            <a:off x="457200" y="3931920"/>
            <a:ext cx="5486400" cy="2103000"/>
          </a:xfrm>
          <a:prstGeom prst="rect">
            <a:avLst/>
          </a:prstGeom>
          <a:solidFill>
            <a:srgbClr val="FFFFFF"/>
          </a:solidFill>
          <a:ln cap="flat" cmpd="sng" w="19050">
            <a:solidFill>
              <a:srgbClr val="CADC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g3dab19ec515_5_0"/>
          <p:cNvSpPr/>
          <p:nvPr/>
        </p:nvSpPr>
        <p:spPr>
          <a:xfrm>
            <a:off x="457200" y="3931920"/>
            <a:ext cx="73200" cy="2103000"/>
          </a:xfrm>
          <a:prstGeom prst="rect">
            <a:avLst/>
          </a:prstGeom>
          <a:solidFill>
            <a:srgbClr val="F4A2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g3dab19ec515_5_0"/>
          <p:cNvSpPr txBox="1"/>
          <p:nvPr/>
        </p:nvSpPr>
        <p:spPr>
          <a:xfrm>
            <a:off x="685800" y="4023359"/>
            <a:ext cx="51207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E2761"/>
                </a:solidFill>
                <a:latin typeface="Calibri"/>
                <a:ea typeface="Calibri"/>
                <a:cs typeface="Calibri"/>
                <a:sym typeface="Calibri"/>
              </a:rPr>
              <a:t>Test 3  ·  EMIS congruent vs incongruent</a:t>
            </a:r>
            <a:endParaRPr sz="1800"/>
          </a:p>
        </p:txBody>
      </p:sp>
      <p:sp>
        <p:nvSpPr>
          <p:cNvPr id="326" name="Google Shape;326;g3dab19ec515_5_0"/>
          <p:cNvSpPr txBox="1"/>
          <p:nvPr/>
        </p:nvSpPr>
        <p:spPr>
          <a:xfrm>
            <a:off x="685800" y="4389120"/>
            <a:ext cx="51207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300">
                <a:solidFill>
                  <a:srgbClr val="64748B"/>
                </a:solidFill>
                <a:latin typeface="Calibri"/>
                <a:ea typeface="Calibri"/>
                <a:cs typeface="Calibri"/>
                <a:sym typeface="Calibri"/>
              </a:rPr>
              <a:t>removes</a:t>
            </a:r>
            <a:r>
              <a:rPr b="1" i="1" lang="en-US" sz="1300" u="none" cap="none" strike="noStrike">
                <a:solidFill>
                  <a:srgbClr val="64748B"/>
                </a:solidFill>
                <a:latin typeface="Calibri"/>
                <a:ea typeface="Calibri"/>
                <a:cs typeface="Calibri"/>
                <a:sym typeface="Calibri"/>
              </a:rPr>
              <a:t>: words and voice forced to disagree</a:t>
            </a:r>
            <a:endParaRPr b="1" sz="1600"/>
          </a:p>
        </p:txBody>
      </p:sp>
      <p:sp>
        <p:nvSpPr>
          <p:cNvPr id="327" name="Google Shape;327;g3dab19ec515_5_0"/>
          <p:cNvSpPr txBox="1"/>
          <p:nvPr/>
        </p:nvSpPr>
        <p:spPr>
          <a:xfrm>
            <a:off x="685800" y="4681728"/>
            <a:ext cx="51207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u="none" cap="none" strike="noStrike">
                <a:solidFill>
                  <a:srgbClr val="F4A261"/>
                </a:solidFill>
                <a:latin typeface="Calibri"/>
                <a:ea typeface="Calibri"/>
                <a:cs typeface="Calibri"/>
                <a:sym typeface="Calibri"/>
              </a:rPr>
              <a:t>deep layers swing toward text, Whisper stays acoustic</a:t>
            </a:r>
            <a:endParaRPr sz="1600"/>
          </a:p>
        </p:txBody>
      </p:sp>
      <p:sp>
        <p:nvSpPr>
          <p:cNvPr id="328" name="Google Shape;328;g3dab19ec515_5_0"/>
          <p:cNvSpPr txBox="1"/>
          <p:nvPr/>
        </p:nvSpPr>
        <p:spPr>
          <a:xfrm>
            <a:off x="685800" y="5010912"/>
            <a:ext cx="51207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0F172A"/>
                </a:solidFill>
                <a:latin typeface="Calibri"/>
                <a:ea typeface="Calibri"/>
                <a:cs typeface="Calibri"/>
                <a:sym typeface="Calibri"/>
              </a:rPr>
              <a:t>When the spoken text and the spoken emotion conflict, HuBERT L20 shows </a:t>
            </a:r>
            <a:r>
              <a:rPr b="1" i="0" lang="en-US" u="none" cap="none" strike="noStrike">
                <a:solidFill>
                  <a:srgbClr val="0F172A"/>
                </a:solidFill>
                <a:latin typeface="Calibri"/>
                <a:ea typeface="Calibri"/>
                <a:cs typeface="Calibri"/>
                <a:sym typeface="Calibri"/>
              </a:rPr>
              <a:t>+0.468</a:t>
            </a:r>
            <a:r>
              <a:rPr b="0" i="0" lang="en-US" u="none" cap="none" strike="noStrike">
                <a:solidFill>
                  <a:srgbClr val="0F172A"/>
                </a:solidFill>
                <a:latin typeface="Calibri"/>
                <a:ea typeface="Calibri"/>
                <a:cs typeface="Calibri"/>
                <a:sym typeface="Calibri"/>
              </a:rPr>
              <a:t> text bias and wav2vec2 L14 shows </a:t>
            </a:r>
            <a:r>
              <a:rPr b="1" i="0" lang="en-US" u="none" cap="none" strike="noStrike">
                <a:solidFill>
                  <a:srgbClr val="0F172A"/>
                </a:solidFill>
                <a:latin typeface="Calibri"/>
                <a:ea typeface="Calibri"/>
                <a:cs typeface="Calibri"/>
                <a:sym typeface="Calibri"/>
              </a:rPr>
              <a:t>+0.458</a:t>
            </a:r>
            <a:r>
              <a:rPr b="0" i="0" lang="en-US" u="none" cap="none" strike="noStrike">
                <a:solidFill>
                  <a:srgbClr val="0F172A"/>
                </a:solidFill>
                <a:latin typeface="Calibri"/>
                <a:ea typeface="Calibri"/>
                <a:cs typeface="Calibri"/>
                <a:sym typeface="Calibri"/>
              </a:rPr>
              <a:t>. Whisper L24 inverts at</a:t>
            </a:r>
            <a:r>
              <a:rPr b="1" i="0" lang="en-US" u="none" cap="none" strike="noStrike">
                <a:solidFill>
                  <a:srgbClr val="0F172A"/>
                </a:solidFill>
                <a:latin typeface="Calibri"/>
                <a:ea typeface="Calibri"/>
                <a:cs typeface="Calibri"/>
                <a:sym typeface="Calibri"/>
              </a:rPr>
              <a:t> -0.239</a:t>
            </a:r>
            <a:r>
              <a:rPr b="0" i="0" lang="en-US" u="none" cap="none" strike="noStrike">
                <a:solidFill>
                  <a:srgbClr val="0F172A"/>
                </a:solidFill>
                <a:latin typeface="Calibri"/>
                <a:ea typeface="Calibri"/>
                <a:cs typeface="Calibri"/>
                <a:sym typeface="Calibri"/>
              </a:rPr>
              <a:t>.</a:t>
            </a:r>
            <a:endParaRPr sz="1600"/>
          </a:p>
        </p:txBody>
      </p:sp>
      <p:sp>
        <p:nvSpPr>
          <p:cNvPr id="329" name="Google Shape;329;g3dab19ec515_5_0"/>
          <p:cNvSpPr/>
          <p:nvPr/>
        </p:nvSpPr>
        <p:spPr>
          <a:xfrm>
            <a:off x="6217920" y="3931920"/>
            <a:ext cx="5486400" cy="2103000"/>
          </a:xfrm>
          <a:prstGeom prst="rect">
            <a:avLst/>
          </a:prstGeom>
          <a:solidFill>
            <a:srgbClr val="FFFFFF"/>
          </a:solidFill>
          <a:ln cap="flat" cmpd="sng" w="19050">
            <a:solidFill>
              <a:srgbClr val="CADC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g3dab19ec515_5_0"/>
          <p:cNvSpPr/>
          <p:nvPr/>
        </p:nvSpPr>
        <p:spPr>
          <a:xfrm>
            <a:off x="6217920" y="3931920"/>
            <a:ext cx="73200" cy="2103000"/>
          </a:xfrm>
          <a:prstGeom prst="rect">
            <a:avLst/>
          </a:prstGeom>
          <a:solidFill>
            <a:srgbClr val="F4A2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g3dab19ec515_5_0"/>
          <p:cNvSpPr txBox="1"/>
          <p:nvPr/>
        </p:nvSpPr>
        <p:spPr>
          <a:xfrm>
            <a:off x="6446520" y="4023359"/>
            <a:ext cx="51207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E2761"/>
                </a:solidFill>
                <a:latin typeface="Calibri"/>
                <a:ea typeface="Calibri"/>
                <a:cs typeface="Calibri"/>
                <a:sym typeface="Calibri"/>
              </a:rPr>
              <a:t>Test 4  ·  Speechcraft compiled benchmark</a:t>
            </a:r>
            <a:endParaRPr sz="1800"/>
          </a:p>
        </p:txBody>
      </p:sp>
      <p:sp>
        <p:nvSpPr>
          <p:cNvPr id="332" name="Google Shape;332;g3dab19ec515_5_0"/>
          <p:cNvSpPr txBox="1"/>
          <p:nvPr/>
        </p:nvSpPr>
        <p:spPr>
          <a:xfrm>
            <a:off x="6446520" y="4389120"/>
            <a:ext cx="51207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300">
                <a:solidFill>
                  <a:srgbClr val="64748B"/>
                </a:solidFill>
                <a:latin typeface="Calibri"/>
                <a:ea typeface="Calibri"/>
                <a:cs typeface="Calibri"/>
                <a:sym typeface="Calibri"/>
              </a:rPr>
              <a:t>removes</a:t>
            </a:r>
            <a:r>
              <a:rPr b="1" i="1" lang="en-US" sz="1300" u="none" cap="none" strike="noStrike">
                <a:solidFill>
                  <a:srgbClr val="64748B"/>
                </a:solidFill>
                <a:latin typeface="Calibri"/>
                <a:ea typeface="Calibri"/>
                <a:cs typeface="Calibri"/>
                <a:sym typeface="Calibri"/>
              </a:rPr>
              <a:t>: language and dataset variation</a:t>
            </a:r>
            <a:endParaRPr b="1" sz="1600"/>
          </a:p>
        </p:txBody>
      </p:sp>
      <p:sp>
        <p:nvSpPr>
          <p:cNvPr id="333" name="Google Shape;333;g3dab19ec515_5_0"/>
          <p:cNvSpPr txBox="1"/>
          <p:nvPr/>
        </p:nvSpPr>
        <p:spPr>
          <a:xfrm>
            <a:off x="6446520" y="4681728"/>
            <a:ext cx="5120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i="1" lang="en-US">
                <a:solidFill>
                  <a:srgbClr val="F4A261"/>
                </a:solidFill>
                <a:latin typeface="Calibri"/>
                <a:ea typeface="Calibri"/>
                <a:cs typeface="Calibri"/>
                <a:sym typeface="Calibri"/>
              </a:rPr>
              <a:t>layer pattern survives across 4 languages and 6 datasets</a:t>
            </a:r>
            <a:endParaRPr i="1">
              <a:solidFill>
                <a:srgbClr val="F4A26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i="1">
              <a:solidFill>
                <a:srgbClr val="F4A261"/>
              </a:solidFill>
              <a:latin typeface="Calibri"/>
              <a:ea typeface="Calibri"/>
              <a:cs typeface="Calibri"/>
              <a:sym typeface="Calibri"/>
            </a:endParaRPr>
          </a:p>
        </p:txBody>
      </p:sp>
      <p:sp>
        <p:nvSpPr>
          <p:cNvPr id="334" name="Google Shape;334;g3dab19ec515_5_0"/>
          <p:cNvSpPr txBox="1"/>
          <p:nvPr/>
        </p:nvSpPr>
        <p:spPr>
          <a:xfrm>
            <a:off x="6446520" y="5010912"/>
            <a:ext cx="51207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a:solidFill>
                  <a:srgbClr val="0F172A"/>
                </a:solidFill>
                <a:latin typeface="Calibri"/>
                <a:ea typeface="Calibri"/>
                <a:cs typeface="Calibri"/>
                <a:sym typeface="Calibri"/>
              </a:rPr>
              <a:t>Compiled benchmark across RAVDESS, EmoDB, IEMOCAP, SAVEE, AESDD, MESD pooled with 4 canonical labels. Whisper L9 = </a:t>
            </a:r>
            <a:r>
              <a:rPr b="1" lang="en-US">
                <a:solidFill>
                  <a:srgbClr val="0F172A"/>
                </a:solidFill>
                <a:latin typeface="Calibri"/>
                <a:ea typeface="Calibri"/>
                <a:cs typeface="Calibri"/>
                <a:sym typeface="Calibri"/>
              </a:rPr>
              <a:t>0.776</a:t>
            </a:r>
            <a:r>
              <a:rPr lang="en-US">
                <a:solidFill>
                  <a:srgbClr val="0F172A"/>
                </a:solidFill>
                <a:latin typeface="Calibri"/>
                <a:ea typeface="Calibri"/>
                <a:cs typeface="Calibri"/>
                <a:sym typeface="Calibri"/>
              </a:rPr>
              <a:t>, HuBERT L11 = </a:t>
            </a:r>
            <a:r>
              <a:rPr b="1" lang="en-US">
                <a:solidFill>
                  <a:srgbClr val="0F172A"/>
                </a:solidFill>
                <a:latin typeface="Calibri"/>
                <a:ea typeface="Calibri"/>
                <a:cs typeface="Calibri"/>
                <a:sym typeface="Calibri"/>
              </a:rPr>
              <a:t>0.767</a:t>
            </a:r>
            <a:r>
              <a:rPr lang="en-US">
                <a:solidFill>
                  <a:srgbClr val="0F172A"/>
                </a:solidFill>
                <a:latin typeface="Calibri"/>
                <a:ea typeface="Calibri"/>
                <a:cs typeface="Calibri"/>
                <a:sym typeface="Calibri"/>
              </a:rPr>
              <a:t>, WavLM L9 = </a:t>
            </a:r>
            <a:r>
              <a:rPr b="1" lang="en-US">
                <a:solidFill>
                  <a:srgbClr val="0F172A"/>
                </a:solidFill>
                <a:latin typeface="Calibri"/>
                <a:ea typeface="Calibri"/>
                <a:cs typeface="Calibri"/>
                <a:sym typeface="Calibri"/>
              </a:rPr>
              <a:t>0.764</a:t>
            </a:r>
            <a:r>
              <a:rPr lang="en-US">
                <a:solidFill>
                  <a:srgbClr val="0F172A"/>
                </a:solidFill>
                <a:latin typeface="Calibri"/>
                <a:ea typeface="Calibri"/>
                <a:cs typeface="Calibri"/>
                <a:sym typeface="Calibri"/>
              </a:rPr>
              <a:t>.</a:t>
            </a:r>
            <a:endParaRPr>
              <a:solidFill>
                <a:srgbClr val="0F172A"/>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solidFill>
                <a:srgbClr val="0F172A"/>
              </a:solidFill>
              <a:latin typeface="Calibri"/>
              <a:ea typeface="Calibri"/>
              <a:cs typeface="Calibri"/>
              <a:sym typeface="Calibri"/>
            </a:endParaRPr>
          </a:p>
        </p:txBody>
      </p:sp>
      <p:sp>
        <p:nvSpPr>
          <p:cNvPr id="335" name="Google Shape;335;g3dab19ec515_5_0"/>
          <p:cNvSpPr/>
          <p:nvPr/>
        </p:nvSpPr>
        <p:spPr>
          <a:xfrm>
            <a:off x="457200" y="6199632"/>
            <a:ext cx="11247000" cy="5028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g3dab19ec515_5_0"/>
          <p:cNvSpPr txBox="1"/>
          <p:nvPr/>
        </p:nvSpPr>
        <p:spPr>
          <a:xfrm>
            <a:off x="609605" y="6321207"/>
            <a:ext cx="10972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1" lang="en-US" u="none" cap="none" strike="noStrike">
                <a:solidFill>
                  <a:srgbClr val="CADCFC"/>
                </a:solidFill>
                <a:latin typeface="Calibri"/>
                <a:ea typeface="Calibri"/>
                <a:cs typeface="Calibri"/>
                <a:sym typeface="Calibri"/>
              </a:rPr>
              <a:t>Each test removes a different linguistic shortcut.  </a:t>
            </a:r>
            <a:r>
              <a:rPr b="1" i="0" lang="en-US" u="none" cap="none" strike="noStrike">
                <a:solidFill>
                  <a:srgbClr val="FFFFFF"/>
                </a:solidFill>
                <a:latin typeface="Calibri"/>
                <a:ea typeface="Calibri"/>
                <a:cs typeface="Calibri"/>
                <a:sym typeface="Calibri"/>
              </a:rPr>
              <a:t>The fact that all four still find emotion in the same layers is what makes the claim strong.</a:t>
            </a:r>
            <a:endParaRPr sz="1600"/>
          </a:p>
        </p:txBody>
      </p:sp>
      <p:sp>
        <p:nvSpPr>
          <p:cNvPr id="337" name="Google Shape;337;g3dab19ec515_5_0"/>
          <p:cNvSpPr/>
          <p:nvPr/>
        </p:nvSpPr>
        <p:spPr>
          <a:xfrm>
            <a:off x="137160" y="45720"/>
            <a:ext cx="1326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1" i="0" lang="en-US" sz="1500" u="none" cap="none" strike="noStrike">
                <a:solidFill>
                  <a:srgbClr val="CADCFC"/>
                </a:solidFill>
                <a:latin typeface="Calibri"/>
                <a:ea typeface="Calibri"/>
                <a:cs typeface="Calibri"/>
                <a:sym typeface="Calibri"/>
              </a:rPr>
              <a:t> </a:t>
            </a:r>
            <a:r>
              <a:rPr b="1" i="0" lang="en-US" sz="1500" u="none" cap="none" strike="noStrike">
                <a:solidFill>
                  <a:srgbClr val="FFFFFF"/>
                </a:solidFill>
                <a:latin typeface="Calibri"/>
                <a:ea typeface="Calibri"/>
                <a:cs typeface="Calibri"/>
                <a:sym typeface="Calibri"/>
              </a:rPr>
              <a:t>RESULTS</a:t>
            </a:r>
            <a:endParaRPr b="1" i="0" sz="15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e692312ed1_0_157"/>
          <p:cNvSpPr/>
          <p:nvPr/>
        </p:nvSpPr>
        <p:spPr>
          <a:xfrm>
            <a:off x="0" y="0"/>
            <a:ext cx="1463100" cy="4116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g3e692312ed1_0_157"/>
          <p:cNvSpPr txBox="1"/>
          <p:nvPr/>
        </p:nvSpPr>
        <p:spPr>
          <a:xfrm>
            <a:off x="457200" y="594360"/>
            <a:ext cx="112470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E2761"/>
                </a:solidFill>
                <a:latin typeface="Calibri"/>
                <a:ea typeface="Calibri"/>
                <a:cs typeface="Calibri"/>
                <a:sym typeface="Calibri"/>
              </a:rPr>
              <a:t>Frozen probes already win, and the mixer agrees</a:t>
            </a:r>
            <a:endParaRPr sz="1600"/>
          </a:p>
        </p:txBody>
      </p:sp>
      <p:sp>
        <p:nvSpPr>
          <p:cNvPr id="345" name="Google Shape;345;g3e692312ed1_0_157"/>
          <p:cNvSpPr txBox="1"/>
          <p:nvPr/>
        </p:nvSpPr>
        <p:spPr>
          <a:xfrm>
            <a:off x="457200" y="1122383"/>
            <a:ext cx="11247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500" u="none" cap="none" strike="noStrike">
                <a:solidFill>
                  <a:srgbClr val="64748B"/>
                </a:solidFill>
                <a:latin typeface="Calibri"/>
                <a:ea typeface="Calibri"/>
                <a:cs typeface="Calibri"/>
                <a:sym typeface="Calibri"/>
              </a:rPr>
              <a:t>Tuning hurts on 29 of 30 combos. Learned attention concentrates exactly where probing peaks.</a:t>
            </a:r>
            <a:endParaRPr b="1" sz="1500"/>
          </a:p>
        </p:txBody>
      </p:sp>
      <p:sp>
        <p:nvSpPr>
          <p:cNvPr id="346" name="Google Shape;346;g3e692312ed1_0_157"/>
          <p:cNvSpPr txBox="1"/>
          <p:nvPr/>
        </p:nvSpPr>
        <p:spPr>
          <a:xfrm>
            <a:off x="457200" y="1647968"/>
            <a:ext cx="6858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a:p>
        </p:txBody>
      </p:sp>
      <p:sp>
        <p:nvSpPr>
          <p:cNvPr id="347" name="Google Shape;347;g3e692312ed1_0_157"/>
          <p:cNvSpPr txBox="1"/>
          <p:nvPr/>
        </p:nvSpPr>
        <p:spPr>
          <a:xfrm>
            <a:off x="2667000" y="6456798"/>
            <a:ext cx="68580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lang="en-US" u="none" cap="none" strike="noStrike">
                <a:solidFill>
                  <a:srgbClr val="64748B"/>
                </a:solidFill>
                <a:latin typeface="Calibri"/>
                <a:ea typeface="Calibri"/>
                <a:cs typeface="Calibri"/>
                <a:sym typeface="Calibri"/>
              </a:rPr>
              <a:t>29 of 30 model and dataset combos are net negative. Frozen probing already wins.</a:t>
            </a:r>
            <a:endParaRPr sz="1700"/>
          </a:p>
        </p:txBody>
      </p:sp>
      <p:sp>
        <p:nvSpPr>
          <p:cNvPr id="348" name="Google Shape;348;g3e692312ed1_0_157"/>
          <p:cNvSpPr/>
          <p:nvPr/>
        </p:nvSpPr>
        <p:spPr>
          <a:xfrm>
            <a:off x="8365675" y="1605275"/>
            <a:ext cx="3521400" cy="4749900"/>
          </a:xfrm>
          <a:prstGeom prst="rect">
            <a:avLst/>
          </a:prstGeom>
          <a:solidFill>
            <a:srgbClr val="F1F5F9"/>
          </a:solidFill>
          <a:ln cap="flat" cmpd="sng" w="12700">
            <a:solidFill>
              <a:srgbClr val="CADC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g3e692312ed1_0_157"/>
          <p:cNvSpPr txBox="1"/>
          <p:nvPr/>
        </p:nvSpPr>
        <p:spPr>
          <a:xfrm>
            <a:off x="8546125" y="1866175"/>
            <a:ext cx="31605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1E2761"/>
                </a:solidFill>
                <a:latin typeface="Calibri"/>
                <a:ea typeface="Calibri"/>
                <a:cs typeface="Calibri"/>
                <a:sym typeface="Calibri"/>
              </a:rPr>
              <a:t>Layer mixer</a:t>
            </a:r>
            <a:endParaRPr sz="1800"/>
          </a:p>
        </p:txBody>
      </p:sp>
      <p:sp>
        <p:nvSpPr>
          <p:cNvPr id="350" name="Google Shape;350;g3e692312ed1_0_157"/>
          <p:cNvSpPr txBox="1"/>
          <p:nvPr/>
        </p:nvSpPr>
        <p:spPr>
          <a:xfrm>
            <a:off x="8546125" y="2223750"/>
            <a:ext cx="31605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200" u="none" cap="none" strike="noStrike">
                <a:solidFill>
                  <a:srgbClr val="64748B"/>
                </a:solidFill>
                <a:latin typeface="Calibri"/>
                <a:ea typeface="Calibri"/>
                <a:cs typeface="Calibri"/>
                <a:sym typeface="Calibri"/>
              </a:rPr>
              <a:t>Softmax attention over all 25 hidden states. The model picks its own </a:t>
            </a:r>
            <a:r>
              <a:rPr b="1" i="1" lang="en-US" sz="1300" u="none" cap="none" strike="noStrike">
                <a:solidFill>
                  <a:srgbClr val="64748B"/>
                </a:solidFill>
                <a:latin typeface="Calibri"/>
                <a:ea typeface="Calibri"/>
                <a:cs typeface="Calibri"/>
                <a:sym typeface="Calibri"/>
              </a:rPr>
              <a:t>depth</a:t>
            </a:r>
            <a:r>
              <a:rPr b="1" i="1" lang="en-US" sz="1200" u="none" cap="none" strike="noStrike">
                <a:solidFill>
                  <a:srgbClr val="64748B"/>
                </a:solidFill>
                <a:latin typeface="Calibri"/>
                <a:ea typeface="Calibri"/>
                <a:cs typeface="Calibri"/>
                <a:sym typeface="Calibri"/>
              </a:rPr>
              <a:t>.</a:t>
            </a:r>
            <a:endParaRPr b="1" sz="1500"/>
          </a:p>
        </p:txBody>
      </p:sp>
      <p:sp>
        <p:nvSpPr>
          <p:cNvPr id="351" name="Google Shape;351;g3e692312ed1_0_157"/>
          <p:cNvSpPr txBox="1"/>
          <p:nvPr/>
        </p:nvSpPr>
        <p:spPr>
          <a:xfrm>
            <a:off x="8543750" y="2907000"/>
            <a:ext cx="31605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E2761"/>
                </a:solidFill>
                <a:latin typeface="Calibri"/>
                <a:ea typeface="Calibri"/>
                <a:cs typeface="Calibri"/>
                <a:sym typeface="Calibri"/>
              </a:rPr>
              <a:t>79 to 94 percent</a:t>
            </a:r>
            <a:endParaRPr/>
          </a:p>
        </p:txBody>
      </p:sp>
      <p:sp>
        <p:nvSpPr>
          <p:cNvPr id="352" name="Google Shape;352;g3e692312ed1_0_157"/>
          <p:cNvSpPr txBox="1"/>
          <p:nvPr/>
        </p:nvSpPr>
        <p:spPr>
          <a:xfrm>
            <a:off x="8543750" y="3479025"/>
            <a:ext cx="31605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0F172A"/>
                </a:solidFill>
                <a:latin typeface="Calibri"/>
                <a:ea typeface="Calibri"/>
                <a:cs typeface="Calibri"/>
                <a:sym typeface="Calibri"/>
              </a:rPr>
              <a:t>of Whisper's attention sits on layer 24. Its supervised objective concentrates emotion late.</a:t>
            </a:r>
            <a:endParaRPr sz="1500"/>
          </a:p>
        </p:txBody>
      </p:sp>
      <p:sp>
        <p:nvSpPr>
          <p:cNvPr id="353" name="Google Shape;353;g3e692312ed1_0_157"/>
          <p:cNvSpPr txBox="1"/>
          <p:nvPr/>
        </p:nvSpPr>
        <p:spPr>
          <a:xfrm>
            <a:off x="8543750" y="4160525"/>
            <a:ext cx="31605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400">
                <a:solidFill>
                  <a:srgbClr val="F4A261"/>
                </a:solidFill>
                <a:latin typeface="Calibri"/>
                <a:ea typeface="Calibri"/>
                <a:cs typeface="Calibri"/>
                <a:sym typeface="Calibri"/>
              </a:rPr>
              <a:t>M</a:t>
            </a:r>
            <a:r>
              <a:rPr b="1" i="0" lang="en-US" sz="2400" u="none" cap="none" strike="noStrike">
                <a:solidFill>
                  <a:srgbClr val="F4A261"/>
                </a:solidFill>
                <a:latin typeface="Calibri"/>
                <a:ea typeface="Calibri"/>
                <a:cs typeface="Calibri"/>
                <a:sym typeface="Calibri"/>
              </a:rPr>
              <a:t>iddle </a:t>
            </a:r>
            <a:r>
              <a:rPr b="1" lang="en-US" sz="2400">
                <a:solidFill>
                  <a:srgbClr val="F4A261"/>
                </a:solidFill>
                <a:latin typeface="Calibri"/>
                <a:ea typeface="Calibri"/>
                <a:cs typeface="Calibri"/>
                <a:sym typeface="Calibri"/>
              </a:rPr>
              <a:t>L</a:t>
            </a:r>
            <a:r>
              <a:rPr b="1" i="0" lang="en-US" sz="2400" u="none" cap="none" strike="noStrike">
                <a:solidFill>
                  <a:srgbClr val="F4A261"/>
                </a:solidFill>
                <a:latin typeface="Calibri"/>
                <a:ea typeface="Calibri"/>
                <a:cs typeface="Calibri"/>
                <a:sym typeface="Calibri"/>
              </a:rPr>
              <a:t>ayers</a:t>
            </a:r>
            <a:endParaRPr sz="1600"/>
          </a:p>
        </p:txBody>
      </p:sp>
      <p:sp>
        <p:nvSpPr>
          <p:cNvPr id="354" name="Google Shape;354;g3e692312ed1_0_157"/>
          <p:cNvSpPr txBox="1"/>
          <p:nvPr/>
        </p:nvSpPr>
        <p:spPr>
          <a:xfrm>
            <a:off x="8543750" y="4572000"/>
            <a:ext cx="300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0F172A"/>
                </a:solidFill>
                <a:latin typeface="Calibri"/>
                <a:ea typeface="Calibri"/>
                <a:cs typeface="Calibri"/>
                <a:sym typeface="Calibri"/>
              </a:rPr>
              <a:t>for the SSL models. wav2vec2, HuBERT, WavLM spread attention over layers 4 to 11.</a:t>
            </a:r>
            <a:endParaRPr b="1" sz="1500"/>
          </a:p>
        </p:txBody>
      </p:sp>
      <p:sp>
        <p:nvSpPr>
          <p:cNvPr id="355" name="Google Shape;355;g3e692312ed1_0_157"/>
          <p:cNvSpPr txBox="1"/>
          <p:nvPr/>
        </p:nvSpPr>
        <p:spPr>
          <a:xfrm>
            <a:off x="8543750" y="5283550"/>
            <a:ext cx="3160500" cy="80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172A"/>
                </a:solidFill>
                <a:latin typeface="Calibri"/>
                <a:ea typeface="Calibri"/>
                <a:cs typeface="Calibri"/>
                <a:sym typeface="Calibri"/>
              </a:rPr>
              <a:t>Mixer beats per layer probing only on IEMOCAP. </a:t>
            </a:r>
            <a:r>
              <a:rPr b="0" i="1" lang="en-US" sz="1300" u="none" cap="none" strike="noStrike">
                <a:solidFill>
                  <a:srgbClr val="64748B"/>
                </a:solidFill>
                <a:latin typeface="Calibri"/>
                <a:ea typeface="Calibri"/>
                <a:cs typeface="Calibri"/>
                <a:sym typeface="Calibri"/>
              </a:rPr>
              <a:t>Elsewhere a single best layer matches the mixer, which corroborates per layer probing rather than replacing it.</a:t>
            </a:r>
            <a:endParaRPr sz="1600"/>
          </a:p>
        </p:txBody>
      </p:sp>
      <p:pic>
        <p:nvPicPr>
          <p:cNvPr id="356" name="Google Shape;356;g3e692312ed1_0_157"/>
          <p:cNvPicPr preferRelativeResize="0"/>
          <p:nvPr/>
        </p:nvPicPr>
        <p:blipFill>
          <a:blip r:embed="rId3">
            <a:alphaModFix/>
          </a:blip>
          <a:stretch>
            <a:fillRect/>
          </a:stretch>
        </p:blipFill>
        <p:spPr>
          <a:xfrm>
            <a:off x="137150" y="1605174"/>
            <a:ext cx="7844449" cy="4749849"/>
          </a:xfrm>
          <a:prstGeom prst="rect">
            <a:avLst/>
          </a:prstGeom>
          <a:noFill/>
          <a:ln>
            <a:noFill/>
          </a:ln>
        </p:spPr>
      </p:pic>
      <p:sp>
        <p:nvSpPr>
          <p:cNvPr id="357" name="Google Shape;357;g3e692312ed1_0_157"/>
          <p:cNvSpPr/>
          <p:nvPr/>
        </p:nvSpPr>
        <p:spPr>
          <a:xfrm>
            <a:off x="137160" y="45720"/>
            <a:ext cx="1326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1" i="0" lang="en-US" sz="1500" u="none" cap="none" strike="noStrike">
                <a:solidFill>
                  <a:srgbClr val="CADCFC"/>
                </a:solidFill>
                <a:latin typeface="Calibri"/>
                <a:ea typeface="Calibri"/>
                <a:cs typeface="Calibri"/>
                <a:sym typeface="Calibri"/>
              </a:rPr>
              <a:t> </a:t>
            </a:r>
            <a:r>
              <a:rPr b="1" i="0" lang="en-US" sz="1500" u="none" cap="none" strike="noStrike">
                <a:solidFill>
                  <a:srgbClr val="FFFFFF"/>
                </a:solidFill>
                <a:latin typeface="Calibri"/>
                <a:ea typeface="Calibri"/>
                <a:cs typeface="Calibri"/>
                <a:sym typeface="Calibri"/>
              </a:rPr>
              <a:t>RESULTS</a:t>
            </a:r>
            <a:endParaRPr b="1" i="0" sz="15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e692312ed1_0_22"/>
          <p:cNvSpPr/>
          <p:nvPr/>
        </p:nvSpPr>
        <p:spPr>
          <a:xfrm>
            <a:off x="0" y="0"/>
            <a:ext cx="1463100" cy="4116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3e692312ed1_0_22"/>
          <p:cNvSpPr/>
          <p:nvPr/>
        </p:nvSpPr>
        <p:spPr>
          <a:xfrm>
            <a:off x="137160" y="45720"/>
            <a:ext cx="1326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1" i="0" lang="en-US" sz="1500" u="none" cap="none" strike="noStrike">
                <a:solidFill>
                  <a:srgbClr val="CADCFC"/>
                </a:solidFill>
                <a:latin typeface="Calibri"/>
                <a:ea typeface="Calibri"/>
                <a:cs typeface="Calibri"/>
                <a:sym typeface="Calibri"/>
              </a:rPr>
              <a:t> </a:t>
            </a:r>
            <a:r>
              <a:rPr b="1" i="0" lang="en-US" sz="1500" u="none" cap="none" strike="noStrike">
                <a:solidFill>
                  <a:srgbClr val="FFFFFF"/>
                </a:solidFill>
                <a:latin typeface="Calibri"/>
                <a:ea typeface="Calibri"/>
                <a:cs typeface="Calibri"/>
                <a:sym typeface="Calibri"/>
              </a:rPr>
              <a:t>RESULTS</a:t>
            </a:r>
            <a:endParaRPr b="1" i="0" sz="1500" u="none" cap="none" strike="noStrike">
              <a:solidFill>
                <a:srgbClr val="000000"/>
              </a:solidFill>
              <a:latin typeface="Calibri"/>
              <a:ea typeface="Calibri"/>
              <a:cs typeface="Calibri"/>
              <a:sym typeface="Calibri"/>
            </a:endParaRPr>
          </a:p>
        </p:txBody>
      </p:sp>
      <p:sp>
        <p:nvSpPr>
          <p:cNvPr id="365" name="Google Shape;365;g3e692312ed1_0_22"/>
          <p:cNvSpPr/>
          <p:nvPr/>
        </p:nvSpPr>
        <p:spPr>
          <a:xfrm>
            <a:off x="457200" y="594360"/>
            <a:ext cx="11247000" cy="59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3000"/>
              <a:buFont typeface="Calibri"/>
              <a:buNone/>
            </a:pPr>
            <a:r>
              <a:rPr b="1" i="0" lang="en-US" sz="3300" u="none" cap="none" strike="noStrike">
                <a:solidFill>
                  <a:srgbClr val="1E2761"/>
                </a:solidFill>
                <a:latin typeface="Calibri"/>
                <a:ea typeface="Calibri"/>
                <a:cs typeface="Calibri"/>
                <a:sym typeface="Calibri"/>
              </a:rPr>
              <a:t>Generalizing across speakers (LOSO)</a:t>
            </a:r>
            <a:endParaRPr b="0" i="0" sz="3300" u="none" cap="none" strike="noStrike">
              <a:solidFill>
                <a:srgbClr val="000000"/>
              </a:solidFill>
              <a:latin typeface="Calibri"/>
              <a:ea typeface="Calibri"/>
              <a:cs typeface="Calibri"/>
              <a:sym typeface="Calibri"/>
            </a:endParaRPr>
          </a:p>
        </p:txBody>
      </p:sp>
      <p:sp>
        <p:nvSpPr>
          <p:cNvPr id="366" name="Google Shape;366;g3e692312ed1_0_22"/>
          <p:cNvSpPr txBox="1"/>
          <p:nvPr/>
        </p:nvSpPr>
        <p:spPr>
          <a:xfrm>
            <a:off x="472500" y="1173420"/>
            <a:ext cx="112470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600" u="none" cap="none" strike="noStrike">
                <a:solidFill>
                  <a:srgbClr val="64748B"/>
                </a:solidFill>
                <a:latin typeface="Calibri"/>
                <a:ea typeface="Calibri"/>
                <a:cs typeface="Calibri"/>
                <a:sym typeface="Calibri"/>
              </a:rPr>
              <a:t>Leave-one-speaker-out across 6 models × 6 datasets does the probe transfer to voices the model never heard?</a:t>
            </a:r>
            <a:endParaRPr b="1" sz="1600"/>
          </a:p>
        </p:txBody>
      </p:sp>
      <p:sp>
        <p:nvSpPr>
          <p:cNvPr id="367" name="Google Shape;367;g3e692312ed1_0_22"/>
          <p:cNvSpPr/>
          <p:nvPr/>
        </p:nvSpPr>
        <p:spPr>
          <a:xfrm>
            <a:off x="457200" y="1783075"/>
            <a:ext cx="5243400" cy="4251900"/>
          </a:xfrm>
          <a:prstGeom prst="rect">
            <a:avLst/>
          </a:prstGeom>
          <a:solidFill>
            <a:srgbClr val="F1F5F9"/>
          </a:solidFill>
          <a:ln cap="flat" cmpd="sng" w="12700">
            <a:solidFill>
              <a:srgbClr val="CADC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g3e692312ed1_0_22"/>
          <p:cNvSpPr txBox="1"/>
          <p:nvPr/>
        </p:nvSpPr>
        <p:spPr>
          <a:xfrm>
            <a:off x="640080" y="1874519"/>
            <a:ext cx="4572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E2761"/>
                </a:solidFill>
                <a:latin typeface="Calibri"/>
                <a:ea typeface="Calibri"/>
                <a:cs typeface="Calibri"/>
                <a:sym typeface="Calibri"/>
              </a:rPr>
              <a:t>Leave-one-speaker-out  ·  42 model × dataset pairs</a:t>
            </a:r>
            <a:endParaRPr b="1" sz="1600"/>
          </a:p>
        </p:txBody>
      </p:sp>
      <p:sp>
        <p:nvSpPr>
          <p:cNvPr id="369" name="Google Shape;369;g3e692312ed1_0_22"/>
          <p:cNvSpPr txBox="1"/>
          <p:nvPr/>
        </p:nvSpPr>
        <p:spPr>
          <a:xfrm>
            <a:off x="813376" y="2260650"/>
            <a:ext cx="16152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800" u="none" cap="none" strike="noStrike">
                <a:solidFill>
                  <a:srgbClr val="1E2761"/>
                </a:solidFill>
                <a:latin typeface="Calibri"/>
                <a:ea typeface="Calibri"/>
                <a:cs typeface="Calibri"/>
                <a:sym typeface="Calibri"/>
              </a:rPr>
              <a:t>0.734</a:t>
            </a:r>
            <a:endParaRPr/>
          </a:p>
        </p:txBody>
      </p:sp>
      <p:sp>
        <p:nvSpPr>
          <p:cNvPr id="370" name="Google Shape;370;g3e692312ed1_0_22"/>
          <p:cNvSpPr txBox="1"/>
          <p:nvPr/>
        </p:nvSpPr>
        <p:spPr>
          <a:xfrm>
            <a:off x="640075" y="3037612"/>
            <a:ext cx="20877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64748B"/>
                </a:solidFill>
                <a:latin typeface="Calibri"/>
                <a:ea typeface="Calibri"/>
                <a:cs typeface="Calibri"/>
                <a:sym typeface="Calibri"/>
              </a:rPr>
              <a:t>mean LOSO best-layer accuracy </a:t>
            </a:r>
            <a:r>
              <a:rPr i="1" lang="en-US" sz="1200">
                <a:solidFill>
                  <a:srgbClr val="64748B"/>
                </a:solidFill>
                <a:latin typeface="Calibri"/>
                <a:ea typeface="Calibri"/>
                <a:cs typeface="Calibri"/>
                <a:sym typeface="Calibri"/>
              </a:rPr>
              <a:t>across all model × dataset pairs</a:t>
            </a:r>
            <a:endParaRPr sz="1600">
              <a:solidFill>
                <a:schemeClr val="dk1"/>
              </a:solidFill>
            </a:endParaRPr>
          </a:p>
          <a:p>
            <a:pPr indent="0" lvl="0" marL="0" marR="0" rtl="0" algn="l">
              <a:lnSpc>
                <a:spcPct val="100000"/>
              </a:lnSpc>
              <a:spcBef>
                <a:spcPts val="0"/>
              </a:spcBef>
              <a:spcAft>
                <a:spcPts val="0"/>
              </a:spcAft>
              <a:buNone/>
            </a:pPr>
            <a:r>
              <a:t/>
            </a:r>
            <a:endParaRPr sz="1200">
              <a:solidFill>
                <a:srgbClr val="64748B"/>
              </a:solidFill>
              <a:latin typeface="Calibri"/>
              <a:ea typeface="Calibri"/>
              <a:cs typeface="Calibri"/>
              <a:sym typeface="Calibri"/>
            </a:endParaRPr>
          </a:p>
        </p:txBody>
      </p:sp>
      <p:sp>
        <p:nvSpPr>
          <p:cNvPr id="371" name="Google Shape;371;g3e692312ed1_0_22"/>
          <p:cNvSpPr txBox="1"/>
          <p:nvPr/>
        </p:nvSpPr>
        <p:spPr>
          <a:xfrm>
            <a:off x="3496111" y="2284075"/>
            <a:ext cx="16152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800" u="none" cap="none" strike="noStrike">
                <a:solidFill>
                  <a:srgbClr val="F4A261"/>
                </a:solidFill>
                <a:latin typeface="Calibri"/>
                <a:ea typeface="Calibri"/>
                <a:cs typeface="Calibri"/>
                <a:sym typeface="Calibri"/>
              </a:rPr>
              <a:t>0.131</a:t>
            </a:r>
            <a:endParaRPr/>
          </a:p>
        </p:txBody>
      </p:sp>
      <p:sp>
        <p:nvSpPr>
          <p:cNvPr id="372" name="Google Shape;372;g3e692312ed1_0_22"/>
          <p:cNvSpPr txBox="1"/>
          <p:nvPr/>
        </p:nvSpPr>
        <p:spPr>
          <a:xfrm>
            <a:off x="3550948" y="3037613"/>
            <a:ext cx="1398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64748B"/>
                </a:solidFill>
                <a:latin typeface="Calibri"/>
                <a:ea typeface="Calibri"/>
                <a:cs typeface="Calibri"/>
                <a:sym typeface="Calibri"/>
              </a:rPr>
              <a:t>mean accuracy drop </a:t>
            </a:r>
            <a:r>
              <a:rPr i="1" lang="en-US" sz="1200">
                <a:solidFill>
                  <a:srgbClr val="64748B"/>
                </a:solidFill>
                <a:latin typeface="Calibri"/>
                <a:ea typeface="Calibri"/>
                <a:cs typeface="Calibri"/>
                <a:sym typeface="Calibri"/>
              </a:rPr>
              <a:t>(5-fold acc  LOSO acc)</a:t>
            </a:r>
            <a:endParaRPr sz="1600">
              <a:solidFill>
                <a:schemeClr val="dk1"/>
              </a:solidFill>
            </a:endParaRPr>
          </a:p>
          <a:p>
            <a:pPr indent="0" lvl="0" marL="0" marR="0" rtl="0" algn="l">
              <a:lnSpc>
                <a:spcPct val="100000"/>
              </a:lnSpc>
              <a:spcBef>
                <a:spcPts val="0"/>
              </a:spcBef>
              <a:spcAft>
                <a:spcPts val="0"/>
              </a:spcAft>
              <a:buNone/>
            </a:pPr>
            <a:r>
              <a:t/>
            </a:r>
            <a:endParaRPr sz="1200">
              <a:solidFill>
                <a:srgbClr val="64748B"/>
              </a:solidFill>
              <a:latin typeface="Calibri"/>
              <a:ea typeface="Calibri"/>
              <a:cs typeface="Calibri"/>
              <a:sym typeface="Calibri"/>
            </a:endParaRPr>
          </a:p>
        </p:txBody>
      </p:sp>
      <p:sp>
        <p:nvSpPr>
          <p:cNvPr id="373" name="Google Shape;373;g3e692312ed1_0_22"/>
          <p:cNvSpPr txBox="1"/>
          <p:nvPr/>
        </p:nvSpPr>
        <p:spPr>
          <a:xfrm>
            <a:off x="640080" y="3840480"/>
            <a:ext cx="45720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E2761"/>
                </a:solidFill>
                <a:latin typeface="Calibri"/>
                <a:ea typeface="Calibri"/>
                <a:cs typeface="Calibri"/>
                <a:sym typeface="Calibri"/>
              </a:rPr>
              <a:t>17 of 42</a:t>
            </a:r>
            <a:r>
              <a:rPr b="0" i="0" lang="en-US" sz="1500" u="none" cap="none" strike="noStrike">
                <a:solidFill>
                  <a:srgbClr val="0F172A"/>
                </a:solidFill>
                <a:latin typeface="Calibri"/>
                <a:ea typeface="Calibri"/>
                <a:cs typeface="Calibri"/>
                <a:sym typeface="Calibri"/>
              </a:rPr>
              <a:t> pairs have a gap </a:t>
            </a:r>
            <a:r>
              <a:rPr b="1" i="0" lang="en-US" sz="1500" u="none" cap="none" strike="noStrike">
                <a:solidFill>
                  <a:srgbClr val="0F172A"/>
                </a:solidFill>
                <a:latin typeface="Calibri"/>
                <a:ea typeface="Calibri"/>
                <a:cs typeface="Calibri"/>
                <a:sym typeface="Calibri"/>
              </a:rPr>
              <a:t>&lt; 0.05</a:t>
            </a:r>
            <a:r>
              <a:rPr b="0" i="0" lang="en-US" sz="1500" u="none" cap="none" strike="noStrike">
                <a:solidFill>
                  <a:srgbClr val="0F172A"/>
                </a:solidFill>
                <a:latin typeface="Calibri"/>
                <a:ea typeface="Calibri"/>
                <a:cs typeface="Calibri"/>
                <a:sym typeface="Calibri"/>
              </a:rPr>
              <a:t>  probes mostly transfer to unseen speakers.</a:t>
            </a:r>
            <a:endParaRPr sz="1600"/>
          </a:p>
        </p:txBody>
      </p:sp>
      <p:sp>
        <p:nvSpPr>
          <p:cNvPr id="374" name="Google Shape;374;g3e692312ed1_0_22"/>
          <p:cNvSpPr txBox="1"/>
          <p:nvPr/>
        </p:nvSpPr>
        <p:spPr>
          <a:xfrm>
            <a:off x="640080" y="4437705"/>
            <a:ext cx="4572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300" u="none" cap="none" strike="noStrike">
                <a:solidFill>
                  <a:srgbClr val="64748B"/>
                </a:solidFill>
                <a:latin typeface="Calibri"/>
                <a:ea typeface="Calibri"/>
                <a:cs typeface="Calibri"/>
                <a:sym typeface="Calibri"/>
              </a:rPr>
              <a:t>Tightest:</a:t>
            </a:r>
            <a:endParaRPr sz="1600"/>
          </a:p>
        </p:txBody>
      </p:sp>
      <p:sp>
        <p:nvSpPr>
          <p:cNvPr id="375" name="Google Shape;375;g3e692312ed1_0_22"/>
          <p:cNvSpPr txBox="1"/>
          <p:nvPr/>
        </p:nvSpPr>
        <p:spPr>
          <a:xfrm>
            <a:off x="609600" y="4773324"/>
            <a:ext cx="49377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u="none" cap="none" strike="noStrike">
                <a:solidFill>
                  <a:srgbClr val="0F172A"/>
                </a:solidFill>
                <a:latin typeface="Calibri"/>
                <a:ea typeface="Calibri"/>
                <a:cs typeface="Calibri"/>
                <a:sym typeface="Calibri"/>
              </a:rPr>
              <a:t>WavLM × IEMOCAP </a:t>
            </a:r>
            <a:r>
              <a:rPr b="0" i="0" lang="en-US" u="none" cap="none" strike="noStrike">
                <a:solidFill>
                  <a:srgbClr val="64748B"/>
                </a:solidFill>
                <a:latin typeface="Calibri"/>
                <a:ea typeface="Calibri"/>
                <a:cs typeface="Calibri"/>
                <a:sym typeface="Calibri"/>
              </a:rPr>
              <a:t>drop = 0.017,  </a:t>
            </a:r>
            <a:r>
              <a:rPr b="1" i="0" lang="en-US" u="none" cap="none" strike="noStrike">
                <a:solidFill>
                  <a:srgbClr val="0F172A"/>
                </a:solidFill>
                <a:latin typeface="Calibri"/>
                <a:ea typeface="Calibri"/>
                <a:cs typeface="Calibri"/>
                <a:sym typeface="Calibri"/>
              </a:rPr>
              <a:t>wav2vec2 × EmoDB </a:t>
            </a:r>
            <a:r>
              <a:rPr b="0" i="0" lang="en-US" u="none" cap="none" strike="noStrike">
                <a:solidFill>
                  <a:srgbClr val="64748B"/>
                </a:solidFill>
                <a:latin typeface="Calibri"/>
                <a:ea typeface="Calibri"/>
                <a:cs typeface="Calibri"/>
                <a:sym typeface="Calibri"/>
              </a:rPr>
              <a:t>drop = 0.019</a:t>
            </a:r>
            <a:endParaRPr sz="1600"/>
          </a:p>
        </p:txBody>
      </p:sp>
      <p:sp>
        <p:nvSpPr>
          <p:cNvPr id="376" name="Google Shape;376;g3e692312ed1_0_22"/>
          <p:cNvSpPr txBox="1"/>
          <p:nvPr/>
        </p:nvSpPr>
        <p:spPr>
          <a:xfrm>
            <a:off x="640075" y="5020053"/>
            <a:ext cx="49071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u="none" cap="none" strike="noStrike">
                <a:solidFill>
                  <a:srgbClr val="0F172A"/>
                </a:solidFill>
                <a:latin typeface="Calibri"/>
                <a:ea typeface="Calibri"/>
                <a:cs typeface="Calibri"/>
                <a:sym typeface="Calibri"/>
              </a:rPr>
              <a:t>HuBERT × EmoDB </a:t>
            </a:r>
            <a:r>
              <a:rPr b="0" i="0" lang="en-US" u="none" cap="none" strike="noStrike">
                <a:solidFill>
                  <a:srgbClr val="64748B"/>
                </a:solidFill>
                <a:latin typeface="Calibri"/>
                <a:ea typeface="Calibri"/>
                <a:cs typeface="Calibri"/>
                <a:sym typeface="Calibri"/>
              </a:rPr>
              <a:t>drop = 0.021,  </a:t>
            </a:r>
            <a:r>
              <a:rPr b="1" i="0" lang="en-US" u="none" cap="none" strike="noStrike">
                <a:solidFill>
                  <a:srgbClr val="0F172A"/>
                </a:solidFill>
                <a:latin typeface="Calibri"/>
                <a:ea typeface="Calibri"/>
                <a:cs typeface="Calibri"/>
                <a:sym typeface="Calibri"/>
              </a:rPr>
              <a:t>HuBERT × IEMOCAP </a:t>
            </a:r>
            <a:r>
              <a:rPr b="0" i="0" lang="en-US" u="none" cap="none" strike="noStrike">
                <a:solidFill>
                  <a:srgbClr val="64748B"/>
                </a:solidFill>
                <a:latin typeface="Calibri"/>
                <a:ea typeface="Calibri"/>
                <a:cs typeface="Calibri"/>
                <a:sym typeface="Calibri"/>
              </a:rPr>
              <a:t>drop = 0.026</a:t>
            </a:r>
            <a:endParaRPr sz="1600"/>
          </a:p>
        </p:txBody>
      </p:sp>
      <p:sp>
        <p:nvSpPr>
          <p:cNvPr id="377" name="Google Shape;377;g3e692312ed1_0_22"/>
          <p:cNvSpPr txBox="1"/>
          <p:nvPr/>
        </p:nvSpPr>
        <p:spPr>
          <a:xfrm>
            <a:off x="640080" y="5440680"/>
            <a:ext cx="45720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F172A"/>
                </a:solidFill>
                <a:latin typeface="Calibri"/>
                <a:ea typeface="Calibri"/>
                <a:cs typeface="Calibri"/>
                <a:sym typeface="Calibri"/>
              </a:rPr>
              <a:t>MESD </a:t>
            </a:r>
            <a:r>
              <a:rPr b="0" i="1" lang="en-US" sz="1300" u="none" cap="none" strike="noStrike">
                <a:solidFill>
                  <a:srgbClr val="64748B"/>
                </a:solidFill>
                <a:latin typeface="Calibri"/>
                <a:ea typeface="Calibri"/>
                <a:cs typeface="Calibri"/>
                <a:sym typeface="Calibri"/>
              </a:rPr>
              <a:t>shows the largest drops (0.28–0.34) across all models  only 6 speakers, so memorization is unavoidable.</a:t>
            </a:r>
            <a:endParaRPr sz="1600"/>
          </a:p>
        </p:txBody>
      </p:sp>
      <p:pic>
        <p:nvPicPr>
          <p:cNvPr descr="loso_drop.png" id="378" name="Google Shape;378;g3e692312ed1_0_22"/>
          <p:cNvPicPr preferRelativeResize="0"/>
          <p:nvPr/>
        </p:nvPicPr>
        <p:blipFill rotWithShape="1">
          <a:blip r:embed="rId3">
            <a:alphaModFix/>
          </a:blip>
          <a:srcRect b="0" l="0" r="0" t="0"/>
          <a:stretch/>
        </p:blipFill>
        <p:spPr>
          <a:xfrm>
            <a:off x="5772725" y="1783075"/>
            <a:ext cx="6114475" cy="3520450"/>
          </a:xfrm>
          <a:prstGeom prst="rect">
            <a:avLst/>
          </a:prstGeom>
          <a:noFill/>
          <a:ln>
            <a:noFill/>
          </a:ln>
        </p:spPr>
      </p:pic>
      <p:sp>
        <p:nvSpPr>
          <p:cNvPr id="379" name="Google Shape;379;g3e692312ed1_0_22"/>
          <p:cNvSpPr txBox="1"/>
          <p:nvPr/>
        </p:nvSpPr>
        <p:spPr>
          <a:xfrm>
            <a:off x="5577840" y="5349240"/>
            <a:ext cx="63093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lang="en-US" sz="1200" u="none" cap="none" strike="noStrike">
                <a:solidFill>
                  <a:srgbClr val="64748B"/>
                </a:solidFill>
                <a:latin typeface="Calibri"/>
                <a:ea typeface="Calibri"/>
                <a:cs typeface="Calibri"/>
                <a:sym typeface="Calibri"/>
              </a:rPr>
              <a:t>Speaker leakage = 5-fold  LOSO accuracy at the same best layer. Lower is better.</a:t>
            </a:r>
            <a:endParaRPr sz="1600"/>
          </a:p>
        </p:txBody>
      </p:sp>
      <p:sp>
        <p:nvSpPr>
          <p:cNvPr id="380" name="Google Shape;380;g3e692312ed1_0_22"/>
          <p:cNvSpPr/>
          <p:nvPr/>
        </p:nvSpPr>
        <p:spPr>
          <a:xfrm>
            <a:off x="457200" y="6126480"/>
            <a:ext cx="11247000" cy="4116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g3e692312ed1_0_22"/>
          <p:cNvSpPr txBox="1"/>
          <p:nvPr/>
        </p:nvSpPr>
        <p:spPr>
          <a:xfrm>
            <a:off x="609605" y="6175680"/>
            <a:ext cx="10972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lang="en-US" sz="1500" u="none" cap="none" strike="noStrike">
                <a:solidFill>
                  <a:srgbClr val="F4A261"/>
                </a:solidFill>
                <a:latin typeface="Calibri"/>
                <a:ea typeface="Calibri"/>
                <a:cs typeface="Calibri"/>
                <a:sym typeface="Calibri"/>
              </a:rPr>
              <a:t>New finding:  </a:t>
            </a:r>
            <a:r>
              <a:rPr b="0" lang="en-US" sz="1500" u="none" cap="none" strike="noStrike">
                <a:solidFill>
                  <a:srgbClr val="CADCFC"/>
                </a:solidFill>
                <a:latin typeface="Calibri"/>
                <a:ea typeface="Calibri"/>
                <a:cs typeface="Calibri"/>
                <a:sym typeface="Calibri"/>
              </a:rPr>
              <a:t>under LOSO, the best layer shifts </a:t>
            </a:r>
            <a:r>
              <a:rPr b="1" lang="en-US" sz="1500" u="none" cap="none" strike="noStrike">
                <a:solidFill>
                  <a:srgbClr val="FFFFFF"/>
                </a:solidFill>
                <a:latin typeface="Calibri"/>
                <a:ea typeface="Calibri"/>
                <a:cs typeface="Calibri"/>
                <a:sym typeface="Calibri"/>
              </a:rPr>
              <a:t>+2 layers deeper on average </a:t>
            </a:r>
            <a:r>
              <a:rPr b="0" lang="en-US" sz="1500" u="none" cap="none" strike="noStrike">
                <a:solidFill>
                  <a:srgbClr val="CADCFC"/>
                </a:solidFill>
                <a:latin typeface="Calibri"/>
                <a:ea typeface="Calibri"/>
                <a:cs typeface="Calibri"/>
                <a:sym typeface="Calibri"/>
              </a:rPr>
              <a:t>(17 of 42 pairs)  deep layers are the speaker</a:t>
            </a:r>
            <a:r>
              <a:rPr lang="en-US" sz="1500">
                <a:solidFill>
                  <a:srgbClr val="CADCFC"/>
                </a:solidFill>
                <a:latin typeface="Calibri"/>
                <a:ea typeface="Calibri"/>
                <a:cs typeface="Calibri"/>
                <a:sym typeface="Calibri"/>
              </a:rPr>
              <a:t> </a:t>
            </a:r>
            <a:r>
              <a:rPr b="0" lang="en-US" sz="1500" u="none" cap="none" strike="noStrike">
                <a:solidFill>
                  <a:srgbClr val="CADCFC"/>
                </a:solidFill>
                <a:latin typeface="Calibri"/>
                <a:ea typeface="Calibri"/>
                <a:cs typeface="Calibri"/>
                <a:sym typeface="Calibri"/>
              </a:rPr>
              <a:t>independent ones.</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6" name="Shape 386"/>
        <p:cNvGrpSpPr/>
        <p:nvPr/>
      </p:nvGrpSpPr>
      <p:grpSpPr>
        <a:xfrm>
          <a:off x="0" y="0"/>
          <a:ext cx="0" cy="0"/>
          <a:chOff x="0" y="0"/>
          <a:chExt cx="0" cy="0"/>
        </a:xfrm>
      </p:grpSpPr>
      <p:sp>
        <p:nvSpPr>
          <p:cNvPr id="387" name="Google Shape;387;g3dab19ec515_4_0"/>
          <p:cNvSpPr/>
          <p:nvPr/>
        </p:nvSpPr>
        <p:spPr>
          <a:xfrm>
            <a:off x="0" y="0"/>
            <a:ext cx="1463100" cy="4116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3dab19ec515_4_0"/>
          <p:cNvSpPr/>
          <p:nvPr/>
        </p:nvSpPr>
        <p:spPr>
          <a:xfrm>
            <a:off x="137160" y="45720"/>
            <a:ext cx="1326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1" i="0" lang="en-US" sz="1500" u="none" cap="none" strike="noStrike">
                <a:solidFill>
                  <a:srgbClr val="CADCFC"/>
                </a:solidFill>
                <a:latin typeface="Calibri"/>
                <a:ea typeface="Calibri"/>
                <a:cs typeface="Calibri"/>
                <a:sym typeface="Calibri"/>
              </a:rPr>
              <a:t> </a:t>
            </a:r>
            <a:r>
              <a:rPr b="1" i="0" lang="en-US" sz="1500" u="none" cap="none" strike="noStrike">
                <a:solidFill>
                  <a:srgbClr val="FFFFFF"/>
                </a:solidFill>
                <a:latin typeface="Calibri"/>
                <a:ea typeface="Calibri"/>
                <a:cs typeface="Calibri"/>
                <a:sym typeface="Calibri"/>
              </a:rPr>
              <a:t>RESULTS</a:t>
            </a:r>
            <a:endParaRPr b="1" i="0" sz="1500" u="none" cap="none" strike="noStrike">
              <a:solidFill>
                <a:srgbClr val="000000"/>
              </a:solidFill>
              <a:latin typeface="Calibri"/>
              <a:ea typeface="Calibri"/>
              <a:cs typeface="Calibri"/>
              <a:sym typeface="Calibri"/>
            </a:endParaRPr>
          </a:p>
        </p:txBody>
      </p:sp>
      <p:sp>
        <p:nvSpPr>
          <p:cNvPr id="389" name="Google Shape;389;g3dab19ec515_4_0"/>
          <p:cNvSpPr/>
          <p:nvPr/>
        </p:nvSpPr>
        <p:spPr>
          <a:xfrm>
            <a:off x="457200" y="594360"/>
            <a:ext cx="11247000" cy="59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3000"/>
              <a:buFont typeface="Calibri"/>
              <a:buNone/>
            </a:pPr>
            <a:r>
              <a:rPr b="1" i="0" lang="en-US" sz="3300" u="none" cap="none" strike="noStrike">
                <a:solidFill>
                  <a:srgbClr val="1E2761"/>
                </a:solidFill>
                <a:latin typeface="Calibri"/>
                <a:ea typeface="Calibri"/>
                <a:cs typeface="Calibri"/>
                <a:sym typeface="Calibri"/>
              </a:rPr>
              <a:t>Emotion lives in the middle to late transformer layers</a:t>
            </a:r>
            <a:endParaRPr b="0" i="0" sz="3300" u="none" cap="none" strike="noStrike">
              <a:solidFill>
                <a:srgbClr val="000000"/>
              </a:solidFill>
              <a:latin typeface="Calibri"/>
              <a:ea typeface="Calibri"/>
              <a:cs typeface="Calibri"/>
              <a:sym typeface="Calibri"/>
            </a:endParaRPr>
          </a:p>
        </p:txBody>
      </p:sp>
      <p:sp>
        <p:nvSpPr>
          <p:cNvPr id="390" name="Google Shape;390;g3dab19ec515_4_0"/>
          <p:cNvSpPr txBox="1"/>
          <p:nvPr/>
        </p:nvSpPr>
        <p:spPr>
          <a:xfrm>
            <a:off x="457200" y="1188720"/>
            <a:ext cx="112470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600" u="none" cap="none" strike="noStrike">
                <a:solidFill>
                  <a:srgbClr val="64748B"/>
                </a:solidFill>
                <a:latin typeface="Calibri"/>
                <a:ea typeface="Calibri"/>
                <a:cs typeface="Calibri"/>
                <a:sym typeface="Calibri"/>
              </a:rPr>
              <a:t>Frozen probing across 6 encoders and 7 datasets reveals a consistent depth pattern</a:t>
            </a:r>
            <a:endParaRPr b="1" sz="1600"/>
          </a:p>
        </p:txBody>
      </p:sp>
      <p:sp>
        <p:nvSpPr>
          <p:cNvPr id="391" name="Google Shape;391;g3dab19ec515_4_0"/>
          <p:cNvSpPr/>
          <p:nvPr/>
        </p:nvSpPr>
        <p:spPr>
          <a:xfrm>
            <a:off x="457200" y="1783080"/>
            <a:ext cx="4297800" cy="4251900"/>
          </a:xfrm>
          <a:prstGeom prst="rect">
            <a:avLst/>
          </a:prstGeom>
          <a:solidFill>
            <a:srgbClr val="F1F5F9"/>
          </a:solidFill>
          <a:ln cap="flat" cmpd="sng" w="12700">
            <a:solidFill>
              <a:srgbClr val="CADC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g3dab19ec515_4_0"/>
          <p:cNvSpPr txBox="1"/>
          <p:nvPr/>
        </p:nvSpPr>
        <p:spPr>
          <a:xfrm>
            <a:off x="640080" y="1874519"/>
            <a:ext cx="3931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E2761"/>
                </a:solidFill>
                <a:latin typeface="Calibri"/>
                <a:ea typeface="Calibri"/>
                <a:cs typeface="Calibri"/>
                <a:sym typeface="Calibri"/>
              </a:rPr>
              <a:t>Best layer per model on EmoDB</a:t>
            </a:r>
            <a:endParaRPr b="1" sz="1900"/>
          </a:p>
        </p:txBody>
      </p:sp>
      <p:sp>
        <p:nvSpPr>
          <p:cNvPr id="393" name="Google Shape;393;g3dab19ec515_4_0"/>
          <p:cNvSpPr txBox="1"/>
          <p:nvPr/>
        </p:nvSpPr>
        <p:spPr>
          <a:xfrm>
            <a:off x="640080" y="2331720"/>
            <a:ext cx="15546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F172A"/>
                </a:solidFill>
                <a:latin typeface="Calibri"/>
                <a:ea typeface="Calibri"/>
                <a:cs typeface="Calibri"/>
                <a:sym typeface="Calibri"/>
              </a:rPr>
              <a:t>HuBERT</a:t>
            </a:r>
            <a:endParaRPr b="1" sz="1700"/>
          </a:p>
        </p:txBody>
      </p:sp>
      <p:sp>
        <p:nvSpPr>
          <p:cNvPr id="394" name="Google Shape;394;g3dab19ec515_4_0"/>
          <p:cNvSpPr txBox="1"/>
          <p:nvPr/>
        </p:nvSpPr>
        <p:spPr>
          <a:xfrm>
            <a:off x="2194560" y="2331720"/>
            <a:ext cx="8229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E2761"/>
                </a:solidFill>
                <a:latin typeface="Calibri"/>
                <a:ea typeface="Calibri"/>
                <a:cs typeface="Calibri"/>
                <a:sym typeface="Calibri"/>
              </a:rPr>
              <a:t>L11</a:t>
            </a:r>
            <a:endParaRPr b="1" sz="1700"/>
          </a:p>
        </p:txBody>
      </p:sp>
      <p:sp>
        <p:nvSpPr>
          <p:cNvPr id="395" name="Google Shape;395;g3dab19ec515_4_0"/>
          <p:cNvSpPr txBox="1"/>
          <p:nvPr/>
        </p:nvSpPr>
        <p:spPr>
          <a:xfrm>
            <a:off x="3108960" y="2331720"/>
            <a:ext cx="1371600" cy="2616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700" u="none" cap="none" strike="noStrike">
                <a:solidFill>
                  <a:srgbClr val="F4A261"/>
                </a:solidFill>
                <a:latin typeface="Calibri"/>
                <a:ea typeface="Calibri"/>
                <a:cs typeface="Calibri"/>
                <a:sym typeface="Calibri"/>
              </a:rPr>
              <a:t>0.989</a:t>
            </a:r>
            <a:endParaRPr b="1" sz="1700"/>
          </a:p>
        </p:txBody>
      </p:sp>
      <p:sp>
        <p:nvSpPr>
          <p:cNvPr id="396" name="Google Shape;396;g3dab19ec515_4_0"/>
          <p:cNvSpPr txBox="1"/>
          <p:nvPr/>
        </p:nvSpPr>
        <p:spPr>
          <a:xfrm>
            <a:off x="640080" y="2834639"/>
            <a:ext cx="15546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F172A"/>
                </a:solidFill>
                <a:latin typeface="Calibri"/>
                <a:ea typeface="Calibri"/>
                <a:cs typeface="Calibri"/>
                <a:sym typeface="Calibri"/>
              </a:rPr>
              <a:t>w2v BERT</a:t>
            </a:r>
            <a:endParaRPr b="1" sz="1700"/>
          </a:p>
        </p:txBody>
      </p:sp>
      <p:sp>
        <p:nvSpPr>
          <p:cNvPr id="397" name="Google Shape;397;g3dab19ec515_4_0"/>
          <p:cNvSpPr txBox="1"/>
          <p:nvPr/>
        </p:nvSpPr>
        <p:spPr>
          <a:xfrm>
            <a:off x="2194560" y="2834639"/>
            <a:ext cx="8229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E2761"/>
                </a:solidFill>
                <a:latin typeface="Calibri"/>
                <a:ea typeface="Calibri"/>
                <a:cs typeface="Calibri"/>
                <a:sym typeface="Calibri"/>
              </a:rPr>
              <a:t>L17</a:t>
            </a:r>
            <a:endParaRPr b="1" sz="1700"/>
          </a:p>
        </p:txBody>
      </p:sp>
      <p:sp>
        <p:nvSpPr>
          <p:cNvPr id="398" name="Google Shape;398;g3dab19ec515_4_0"/>
          <p:cNvSpPr txBox="1"/>
          <p:nvPr/>
        </p:nvSpPr>
        <p:spPr>
          <a:xfrm>
            <a:off x="3108960" y="2834639"/>
            <a:ext cx="1371600" cy="2616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700" u="none" cap="none" strike="noStrike">
                <a:solidFill>
                  <a:srgbClr val="F4A261"/>
                </a:solidFill>
                <a:latin typeface="Calibri"/>
                <a:ea typeface="Calibri"/>
                <a:cs typeface="Calibri"/>
                <a:sym typeface="Calibri"/>
              </a:rPr>
              <a:t>0.987</a:t>
            </a:r>
            <a:endParaRPr b="1" sz="1700"/>
          </a:p>
        </p:txBody>
      </p:sp>
      <p:sp>
        <p:nvSpPr>
          <p:cNvPr id="399" name="Google Shape;399;g3dab19ec515_4_0"/>
          <p:cNvSpPr txBox="1"/>
          <p:nvPr/>
        </p:nvSpPr>
        <p:spPr>
          <a:xfrm>
            <a:off x="640080" y="3337560"/>
            <a:ext cx="15546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F172A"/>
                </a:solidFill>
                <a:latin typeface="Calibri"/>
                <a:ea typeface="Calibri"/>
                <a:cs typeface="Calibri"/>
                <a:sym typeface="Calibri"/>
              </a:rPr>
              <a:t>WavLM</a:t>
            </a:r>
            <a:endParaRPr b="1" sz="1700"/>
          </a:p>
        </p:txBody>
      </p:sp>
      <p:sp>
        <p:nvSpPr>
          <p:cNvPr id="400" name="Google Shape;400;g3dab19ec515_4_0"/>
          <p:cNvSpPr txBox="1"/>
          <p:nvPr/>
        </p:nvSpPr>
        <p:spPr>
          <a:xfrm>
            <a:off x="2194560" y="3337560"/>
            <a:ext cx="8229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E2761"/>
                </a:solidFill>
                <a:latin typeface="Calibri"/>
                <a:ea typeface="Calibri"/>
                <a:cs typeface="Calibri"/>
                <a:sym typeface="Calibri"/>
              </a:rPr>
              <a:t>L9</a:t>
            </a:r>
            <a:endParaRPr b="1" sz="1700"/>
          </a:p>
        </p:txBody>
      </p:sp>
      <p:sp>
        <p:nvSpPr>
          <p:cNvPr id="401" name="Google Shape;401;g3dab19ec515_4_0"/>
          <p:cNvSpPr txBox="1"/>
          <p:nvPr/>
        </p:nvSpPr>
        <p:spPr>
          <a:xfrm>
            <a:off x="3108960" y="3337560"/>
            <a:ext cx="1371600" cy="2616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700" u="none" cap="none" strike="noStrike">
                <a:solidFill>
                  <a:srgbClr val="F4A261"/>
                </a:solidFill>
                <a:latin typeface="Calibri"/>
                <a:ea typeface="Calibri"/>
                <a:cs typeface="Calibri"/>
                <a:sym typeface="Calibri"/>
              </a:rPr>
              <a:t>0.985</a:t>
            </a:r>
            <a:endParaRPr b="1" sz="1700"/>
          </a:p>
        </p:txBody>
      </p:sp>
      <p:sp>
        <p:nvSpPr>
          <p:cNvPr id="402" name="Google Shape;402;g3dab19ec515_4_0"/>
          <p:cNvSpPr txBox="1"/>
          <p:nvPr/>
        </p:nvSpPr>
        <p:spPr>
          <a:xfrm>
            <a:off x="640080" y="3840480"/>
            <a:ext cx="15546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F172A"/>
                </a:solidFill>
                <a:latin typeface="Calibri"/>
                <a:ea typeface="Calibri"/>
                <a:cs typeface="Calibri"/>
                <a:sym typeface="Calibri"/>
              </a:rPr>
              <a:t>Whisper</a:t>
            </a:r>
            <a:endParaRPr b="1" sz="1700"/>
          </a:p>
        </p:txBody>
      </p:sp>
      <p:sp>
        <p:nvSpPr>
          <p:cNvPr id="403" name="Google Shape;403;g3dab19ec515_4_0"/>
          <p:cNvSpPr txBox="1"/>
          <p:nvPr/>
        </p:nvSpPr>
        <p:spPr>
          <a:xfrm>
            <a:off x="2194560" y="3840480"/>
            <a:ext cx="8229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E2761"/>
                </a:solidFill>
                <a:latin typeface="Calibri"/>
                <a:ea typeface="Calibri"/>
                <a:cs typeface="Calibri"/>
                <a:sym typeface="Calibri"/>
              </a:rPr>
              <a:t>L13</a:t>
            </a:r>
            <a:endParaRPr b="1" sz="1700"/>
          </a:p>
        </p:txBody>
      </p:sp>
      <p:sp>
        <p:nvSpPr>
          <p:cNvPr id="404" name="Google Shape;404;g3dab19ec515_4_0"/>
          <p:cNvSpPr txBox="1"/>
          <p:nvPr/>
        </p:nvSpPr>
        <p:spPr>
          <a:xfrm>
            <a:off x="3108960" y="3840480"/>
            <a:ext cx="1371600" cy="2616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700" u="none" cap="none" strike="noStrike">
                <a:solidFill>
                  <a:srgbClr val="F4A261"/>
                </a:solidFill>
                <a:latin typeface="Calibri"/>
                <a:ea typeface="Calibri"/>
                <a:cs typeface="Calibri"/>
                <a:sym typeface="Calibri"/>
              </a:rPr>
              <a:t>0.985</a:t>
            </a:r>
            <a:endParaRPr b="1" sz="1700"/>
          </a:p>
        </p:txBody>
      </p:sp>
      <p:sp>
        <p:nvSpPr>
          <p:cNvPr id="405" name="Google Shape;405;g3dab19ec515_4_0"/>
          <p:cNvSpPr txBox="1"/>
          <p:nvPr/>
        </p:nvSpPr>
        <p:spPr>
          <a:xfrm>
            <a:off x="640080" y="4343400"/>
            <a:ext cx="15546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F172A"/>
                </a:solidFill>
                <a:latin typeface="Calibri"/>
                <a:ea typeface="Calibri"/>
                <a:cs typeface="Calibri"/>
                <a:sym typeface="Calibri"/>
              </a:rPr>
              <a:t>wav2vec2</a:t>
            </a:r>
            <a:endParaRPr b="1" sz="1700"/>
          </a:p>
        </p:txBody>
      </p:sp>
      <p:sp>
        <p:nvSpPr>
          <p:cNvPr id="406" name="Google Shape;406;g3dab19ec515_4_0"/>
          <p:cNvSpPr txBox="1"/>
          <p:nvPr/>
        </p:nvSpPr>
        <p:spPr>
          <a:xfrm>
            <a:off x="2194560" y="4343400"/>
            <a:ext cx="8229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E2761"/>
                </a:solidFill>
                <a:latin typeface="Calibri"/>
                <a:ea typeface="Calibri"/>
                <a:cs typeface="Calibri"/>
                <a:sym typeface="Calibri"/>
              </a:rPr>
              <a:t>L7</a:t>
            </a:r>
            <a:endParaRPr b="1" sz="1700"/>
          </a:p>
        </p:txBody>
      </p:sp>
      <p:sp>
        <p:nvSpPr>
          <p:cNvPr id="407" name="Google Shape;407;g3dab19ec515_4_0"/>
          <p:cNvSpPr txBox="1"/>
          <p:nvPr/>
        </p:nvSpPr>
        <p:spPr>
          <a:xfrm>
            <a:off x="3108960" y="4343400"/>
            <a:ext cx="1371600" cy="2616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700" u="none" cap="none" strike="noStrike">
                <a:solidFill>
                  <a:srgbClr val="F4A261"/>
                </a:solidFill>
                <a:latin typeface="Calibri"/>
                <a:ea typeface="Calibri"/>
                <a:cs typeface="Calibri"/>
                <a:sym typeface="Calibri"/>
              </a:rPr>
              <a:t>0.976</a:t>
            </a:r>
            <a:endParaRPr b="1" sz="1700"/>
          </a:p>
        </p:txBody>
      </p:sp>
      <p:sp>
        <p:nvSpPr>
          <p:cNvPr id="408" name="Google Shape;408;g3dab19ec515_4_0"/>
          <p:cNvSpPr txBox="1"/>
          <p:nvPr/>
        </p:nvSpPr>
        <p:spPr>
          <a:xfrm>
            <a:off x="640080" y="4846320"/>
            <a:ext cx="15546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F172A"/>
                </a:solidFill>
                <a:latin typeface="Calibri"/>
                <a:ea typeface="Calibri"/>
                <a:cs typeface="Calibri"/>
                <a:sym typeface="Calibri"/>
              </a:rPr>
              <a:t>MERT</a:t>
            </a:r>
            <a:endParaRPr b="1" sz="1700"/>
          </a:p>
        </p:txBody>
      </p:sp>
      <p:sp>
        <p:nvSpPr>
          <p:cNvPr id="409" name="Google Shape;409;g3dab19ec515_4_0"/>
          <p:cNvSpPr txBox="1"/>
          <p:nvPr/>
        </p:nvSpPr>
        <p:spPr>
          <a:xfrm>
            <a:off x="2194560" y="4846320"/>
            <a:ext cx="8229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E2761"/>
                </a:solidFill>
                <a:latin typeface="Calibri"/>
                <a:ea typeface="Calibri"/>
                <a:cs typeface="Calibri"/>
                <a:sym typeface="Calibri"/>
              </a:rPr>
              <a:t>L7</a:t>
            </a:r>
            <a:endParaRPr b="1" sz="1700"/>
          </a:p>
        </p:txBody>
      </p:sp>
      <p:sp>
        <p:nvSpPr>
          <p:cNvPr id="410" name="Google Shape;410;g3dab19ec515_4_0"/>
          <p:cNvSpPr txBox="1"/>
          <p:nvPr/>
        </p:nvSpPr>
        <p:spPr>
          <a:xfrm>
            <a:off x="3108960" y="4846320"/>
            <a:ext cx="1371600" cy="2616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700" u="none" cap="none" strike="noStrike">
                <a:solidFill>
                  <a:srgbClr val="F4A261"/>
                </a:solidFill>
                <a:latin typeface="Calibri"/>
                <a:ea typeface="Calibri"/>
                <a:cs typeface="Calibri"/>
                <a:sym typeface="Calibri"/>
              </a:rPr>
              <a:t>0.961</a:t>
            </a:r>
            <a:endParaRPr b="1" sz="1700"/>
          </a:p>
        </p:txBody>
      </p:sp>
      <p:sp>
        <p:nvSpPr>
          <p:cNvPr id="411" name="Google Shape;411;g3dab19ec515_4_0"/>
          <p:cNvSpPr txBox="1"/>
          <p:nvPr/>
        </p:nvSpPr>
        <p:spPr>
          <a:xfrm>
            <a:off x="640205" y="5501675"/>
            <a:ext cx="393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i="0" lang="en-US" sz="1200" u="none" cap="none" strike="noStrike">
                <a:solidFill>
                  <a:srgbClr val="0F172A"/>
                </a:solidFill>
                <a:latin typeface="Calibri"/>
                <a:ea typeface="Calibri"/>
                <a:cs typeface="Calibri"/>
                <a:sym typeface="Calibri"/>
              </a:rPr>
              <a:t>Acted speech peaks </a:t>
            </a:r>
            <a:r>
              <a:rPr i="0" lang="en-US" sz="1200" u="none" cap="none" strike="noStrike">
                <a:solidFill>
                  <a:srgbClr val="1E2761"/>
                </a:solidFill>
                <a:latin typeface="Calibri"/>
                <a:ea typeface="Calibri"/>
                <a:cs typeface="Calibri"/>
                <a:sym typeface="Calibri"/>
              </a:rPr>
              <a:t>L7 to L17</a:t>
            </a:r>
            <a:r>
              <a:rPr i="0" lang="en-US" sz="1200" u="none" cap="none" strike="noStrike">
                <a:solidFill>
                  <a:srgbClr val="0F172A"/>
                </a:solidFill>
                <a:latin typeface="Calibri"/>
                <a:ea typeface="Calibri"/>
                <a:cs typeface="Calibri"/>
                <a:sym typeface="Calibri"/>
              </a:rPr>
              <a:t>.  Spontaneous peaks </a:t>
            </a:r>
            <a:r>
              <a:rPr i="0" lang="en-US" sz="1200" u="none" cap="none" strike="noStrike">
                <a:solidFill>
                  <a:srgbClr val="1E2761"/>
                </a:solidFill>
                <a:latin typeface="Calibri"/>
                <a:ea typeface="Calibri"/>
                <a:cs typeface="Calibri"/>
                <a:sym typeface="Calibri"/>
              </a:rPr>
              <a:t>L1 to L17</a:t>
            </a:r>
            <a:r>
              <a:rPr i="0" lang="en-US" sz="1200" u="none" cap="none" strike="noStrike">
                <a:solidFill>
                  <a:srgbClr val="0F172A"/>
                </a:solidFill>
                <a:latin typeface="Calibri"/>
                <a:ea typeface="Calibri"/>
                <a:cs typeface="Calibri"/>
                <a:sym typeface="Calibri"/>
              </a:rPr>
              <a:t>. wav2vec2 collapses past L20. HuBERT and Whisper hold.</a:t>
            </a:r>
            <a:endParaRPr/>
          </a:p>
        </p:txBody>
      </p:sp>
      <p:pic>
        <p:nvPicPr>
          <p:cNvPr descr="nima_heatmap_18.png" id="412" name="Google Shape;412;g3dab19ec515_4_0"/>
          <p:cNvPicPr preferRelativeResize="0"/>
          <p:nvPr/>
        </p:nvPicPr>
        <p:blipFill rotWithShape="1">
          <a:blip r:embed="rId3">
            <a:alphaModFix/>
          </a:blip>
          <a:srcRect b="0" l="0" r="0" t="0"/>
          <a:stretch/>
        </p:blipFill>
        <p:spPr>
          <a:xfrm>
            <a:off x="5253175" y="1783075"/>
            <a:ext cx="5984575" cy="4526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dab19ec515_5_36"/>
          <p:cNvSpPr/>
          <p:nvPr/>
        </p:nvSpPr>
        <p:spPr>
          <a:xfrm>
            <a:off x="0" y="0"/>
            <a:ext cx="1463100" cy="4116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g3dab19ec515_5_36"/>
          <p:cNvSpPr txBox="1"/>
          <p:nvPr/>
        </p:nvSpPr>
        <p:spPr>
          <a:xfrm>
            <a:off x="457200" y="594360"/>
            <a:ext cx="112470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300" u="none" cap="none" strike="noStrike">
                <a:solidFill>
                  <a:srgbClr val="1E2761"/>
                </a:solidFill>
                <a:latin typeface="Calibri"/>
                <a:ea typeface="Calibri"/>
                <a:cs typeface="Calibri"/>
                <a:sym typeface="Calibri"/>
              </a:rPr>
              <a:t>Dimensional emotion: valence is the hardest dimension</a:t>
            </a:r>
            <a:endParaRPr sz="1900"/>
          </a:p>
        </p:txBody>
      </p:sp>
      <p:sp>
        <p:nvSpPr>
          <p:cNvPr id="420" name="Google Shape;420;g3dab19ec515_5_36"/>
          <p:cNvSpPr txBox="1"/>
          <p:nvPr/>
        </p:nvSpPr>
        <p:spPr>
          <a:xfrm>
            <a:off x="472500" y="1210421"/>
            <a:ext cx="11247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500" u="none" cap="none" strike="noStrike">
                <a:solidFill>
                  <a:srgbClr val="64748B"/>
                </a:solidFill>
                <a:latin typeface="Calibri"/>
                <a:ea typeface="Calibri"/>
                <a:cs typeface="Calibri"/>
                <a:sym typeface="Calibri"/>
              </a:rPr>
              <a:t>V/A/D regression on MSP Podcast across 6 encoders. The dimension that depends on words is exactly the dimension that breaks.</a:t>
            </a:r>
            <a:endParaRPr b="1" sz="1600"/>
          </a:p>
        </p:txBody>
      </p:sp>
      <p:sp>
        <p:nvSpPr>
          <p:cNvPr id="421" name="Google Shape;421;g3dab19ec515_5_36"/>
          <p:cNvSpPr/>
          <p:nvPr/>
        </p:nvSpPr>
        <p:spPr>
          <a:xfrm>
            <a:off x="457200" y="1783080"/>
            <a:ext cx="4755000" cy="4434900"/>
          </a:xfrm>
          <a:prstGeom prst="rect">
            <a:avLst/>
          </a:prstGeom>
          <a:solidFill>
            <a:srgbClr val="F1F5F9"/>
          </a:solidFill>
          <a:ln cap="flat" cmpd="sng" w="12700">
            <a:solidFill>
              <a:srgbClr val="CADC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g3dab19ec515_5_36"/>
          <p:cNvSpPr txBox="1"/>
          <p:nvPr/>
        </p:nvSpPr>
        <p:spPr>
          <a:xfrm>
            <a:off x="640080" y="1874519"/>
            <a:ext cx="43890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1E2761"/>
                </a:solidFill>
                <a:latin typeface="Calibri"/>
                <a:ea typeface="Calibri"/>
                <a:cs typeface="Calibri"/>
                <a:sym typeface="Calibri"/>
              </a:rPr>
              <a:t>Mean RMSE across 6 encoders</a:t>
            </a:r>
            <a:endParaRPr b="1" sz="1800"/>
          </a:p>
        </p:txBody>
      </p:sp>
      <p:sp>
        <p:nvSpPr>
          <p:cNvPr id="423" name="Google Shape;423;g3dab19ec515_5_36"/>
          <p:cNvSpPr txBox="1"/>
          <p:nvPr/>
        </p:nvSpPr>
        <p:spPr>
          <a:xfrm>
            <a:off x="640080" y="2415513"/>
            <a:ext cx="14631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E2761"/>
                </a:solidFill>
                <a:latin typeface="Calibri"/>
                <a:ea typeface="Calibri"/>
                <a:cs typeface="Calibri"/>
                <a:sym typeface="Calibri"/>
              </a:rPr>
              <a:t>EmoDom:</a:t>
            </a:r>
            <a:endParaRPr sz="1800"/>
          </a:p>
        </p:txBody>
      </p:sp>
      <p:sp>
        <p:nvSpPr>
          <p:cNvPr id="424" name="Google Shape;424;g3dab19ec515_5_36"/>
          <p:cNvSpPr txBox="1"/>
          <p:nvPr/>
        </p:nvSpPr>
        <p:spPr>
          <a:xfrm>
            <a:off x="2148840" y="2286000"/>
            <a:ext cx="1280100" cy="507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300" u="none" cap="none" strike="noStrike">
                <a:solidFill>
                  <a:srgbClr val="1E2761"/>
                </a:solidFill>
                <a:latin typeface="Calibri"/>
                <a:ea typeface="Calibri"/>
                <a:cs typeface="Calibri"/>
                <a:sym typeface="Calibri"/>
              </a:rPr>
              <a:t>0.699</a:t>
            </a:r>
            <a:endParaRPr sz="2100"/>
          </a:p>
        </p:txBody>
      </p:sp>
      <p:sp>
        <p:nvSpPr>
          <p:cNvPr id="425" name="Google Shape;425;g3dab19ec515_5_36"/>
          <p:cNvSpPr txBox="1"/>
          <p:nvPr/>
        </p:nvSpPr>
        <p:spPr>
          <a:xfrm>
            <a:off x="640080" y="2743200"/>
            <a:ext cx="4389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300" u="none" cap="none" strike="noStrike">
                <a:solidFill>
                  <a:srgbClr val="64748B"/>
                </a:solidFill>
                <a:latin typeface="Calibri"/>
                <a:ea typeface="Calibri"/>
                <a:cs typeface="Calibri"/>
                <a:sym typeface="Calibri"/>
              </a:rPr>
              <a:t>dominance, lowest RMSE</a:t>
            </a:r>
            <a:endParaRPr b="1" sz="1600"/>
          </a:p>
        </p:txBody>
      </p:sp>
      <p:sp>
        <p:nvSpPr>
          <p:cNvPr id="426" name="Google Shape;426;g3dab19ec515_5_36"/>
          <p:cNvSpPr txBox="1"/>
          <p:nvPr/>
        </p:nvSpPr>
        <p:spPr>
          <a:xfrm>
            <a:off x="640080" y="2971800"/>
            <a:ext cx="4389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172A"/>
                </a:solidFill>
                <a:latin typeface="Calibri"/>
                <a:ea typeface="Calibri"/>
                <a:cs typeface="Calibri"/>
                <a:sym typeface="Calibri"/>
              </a:rPr>
              <a:t>best HuBERT L3, Whisper L12</a:t>
            </a:r>
            <a:endParaRPr sz="1700"/>
          </a:p>
        </p:txBody>
      </p:sp>
      <p:sp>
        <p:nvSpPr>
          <p:cNvPr id="427" name="Google Shape;427;g3dab19ec515_5_36"/>
          <p:cNvSpPr txBox="1"/>
          <p:nvPr/>
        </p:nvSpPr>
        <p:spPr>
          <a:xfrm>
            <a:off x="640080" y="3495991"/>
            <a:ext cx="1463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1E2761"/>
                </a:solidFill>
                <a:latin typeface="Calibri"/>
                <a:ea typeface="Calibri"/>
                <a:cs typeface="Calibri"/>
                <a:sym typeface="Calibri"/>
              </a:rPr>
              <a:t>EmoAct:</a:t>
            </a:r>
            <a:endParaRPr sz="1600"/>
          </a:p>
        </p:txBody>
      </p:sp>
      <p:sp>
        <p:nvSpPr>
          <p:cNvPr id="428" name="Google Shape;428;g3dab19ec515_5_36"/>
          <p:cNvSpPr txBox="1"/>
          <p:nvPr/>
        </p:nvSpPr>
        <p:spPr>
          <a:xfrm>
            <a:off x="2148840" y="3364991"/>
            <a:ext cx="1280100" cy="507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300" u="none" cap="none" strike="noStrike">
                <a:solidFill>
                  <a:srgbClr val="1E2761"/>
                </a:solidFill>
                <a:latin typeface="Calibri"/>
                <a:ea typeface="Calibri"/>
                <a:cs typeface="Calibri"/>
                <a:sym typeface="Calibri"/>
              </a:rPr>
              <a:t>0.730</a:t>
            </a:r>
            <a:endParaRPr sz="2100"/>
          </a:p>
        </p:txBody>
      </p:sp>
      <p:sp>
        <p:nvSpPr>
          <p:cNvPr id="429" name="Google Shape;429;g3dab19ec515_5_36"/>
          <p:cNvSpPr txBox="1"/>
          <p:nvPr/>
        </p:nvSpPr>
        <p:spPr>
          <a:xfrm>
            <a:off x="640080" y="3822191"/>
            <a:ext cx="43890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100" u="none" cap="none" strike="noStrike">
                <a:solidFill>
                  <a:srgbClr val="64748B"/>
                </a:solidFill>
                <a:latin typeface="Calibri"/>
                <a:ea typeface="Calibri"/>
                <a:cs typeface="Calibri"/>
                <a:sym typeface="Calibri"/>
              </a:rPr>
              <a:t>arousal, second easiest</a:t>
            </a:r>
            <a:endParaRPr b="1"/>
          </a:p>
        </p:txBody>
      </p:sp>
      <p:sp>
        <p:nvSpPr>
          <p:cNvPr id="430" name="Google Shape;430;g3dab19ec515_5_36"/>
          <p:cNvSpPr txBox="1"/>
          <p:nvPr/>
        </p:nvSpPr>
        <p:spPr>
          <a:xfrm>
            <a:off x="640080" y="4050791"/>
            <a:ext cx="4389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0F172A"/>
                </a:solidFill>
                <a:latin typeface="Calibri"/>
                <a:ea typeface="Calibri"/>
                <a:cs typeface="Calibri"/>
                <a:sym typeface="Calibri"/>
              </a:rPr>
              <a:t>all models within 0.013</a:t>
            </a:r>
            <a:endParaRPr sz="1600"/>
          </a:p>
        </p:txBody>
      </p:sp>
      <p:sp>
        <p:nvSpPr>
          <p:cNvPr id="431" name="Google Shape;431;g3dab19ec515_5_36"/>
          <p:cNvSpPr txBox="1"/>
          <p:nvPr/>
        </p:nvSpPr>
        <p:spPr>
          <a:xfrm>
            <a:off x="640080" y="4559546"/>
            <a:ext cx="1463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1E2761"/>
                </a:solidFill>
                <a:latin typeface="Calibri"/>
                <a:ea typeface="Calibri"/>
                <a:cs typeface="Calibri"/>
                <a:sym typeface="Calibri"/>
              </a:rPr>
              <a:t>EmoVal:</a:t>
            </a:r>
            <a:endParaRPr sz="1600"/>
          </a:p>
        </p:txBody>
      </p:sp>
      <p:sp>
        <p:nvSpPr>
          <p:cNvPr id="432" name="Google Shape;432;g3dab19ec515_5_36"/>
          <p:cNvSpPr txBox="1"/>
          <p:nvPr/>
        </p:nvSpPr>
        <p:spPr>
          <a:xfrm>
            <a:off x="2148840" y="4443983"/>
            <a:ext cx="1280100" cy="507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300" u="none" cap="none" strike="noStrike">
                <a:solidFill>
                  <a:srgbClr val="F4A261"/>
                </a:solidFill>
                <a:latin typeface="Calibri"/>
                <a:ea typeface="Calibri"/>
                <a:cs typeface="Calibri"/>
                <a:sym typeface="Calibri"/>
              </a:rPr>
              <a:t>0.881</a:t>
            </a:r>
            <a:endParaRPr sz="2100"/>
          </a:p>
        </p:txBody>
      </p:sp>
      <p:sp>
        <p:nvSpPr>
          <p:cNvPr id="433" name="Google Shape;433;g3dab19ec515_5_36"/>
          <p:cNvSpPr txBox="1"/>
          <p:nvPr/>
        </p:nvSpPr>
        <p:spPr>
          <a:xfrm>
            <a:off x="640080" y="4901183"/>
            <a:ext cx="43890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n-US" sz="1100" u="none" cap="none" strike="noStrike">
                <a:solidFill>
                  <a:srgbClr val="64748B"/>
                </a:solidFill>
                <a:latin typeface="Calibri"/>
                <a:ea typeface="Calibri"/>
                <a:cs typeface="Calibri"/>
                <a:sym typeface="Calibri"/>
              </a:rPr>
              <a:t>valence, hardest by far</a:t>
            </a:r>
            <a:endParaRPr b="1"/>
          </a:p>
        </p:txBody>
      </p:sp>
      <p:sp>
        <p:nvSpPr>
          <p:cNvPr id="434" name="Google Shape;434;g3dab19ec515_5_36"/>
          <p:cNvSpPr txBox="1"/>
          <p:nvPr/>
        </p:nvSpPr>
        <p:spPr>
          <a:xfrm>
            <a:off x="640080" y="5129783"/>
            <a:ext cx="4389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0F172A"/>
                </a:solidFill>
                <a:latin typeface="Calibri"/>
                <a:ea typeface="Calibri"/>
                <a:cs typeface="Calibri"/>
                <a:sym typeface="Calibri"/>
              </a:rPr>
              <a:t>the dimension that depends on words</a:t>
            </a:r>
            <a:endParaRPr sz="1600"/>
          </a:p>
        </p:txBody>
      </p:sp>
      <p:sp>
        <p:nvSpPr>
          <p:cNvPr id="435" name="Google Shape;435;g3dab19ec515_5_36"/>
          <p:cNvSpPr txBox="1"/>
          <p:nvPr/>
        </p:nvSpPr>
        <p:spPr>
          <a:xfrm>
            <a:off x="640080" y="5532120"/>
            <a:ext cx="43890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i="0" lang="en-US" sz="1300" u="none" cap="none" strike="noStrike">
                <a:solidFill>
                  <a:srgbClr val="F4A261"/>
                </a:solidFill>
                <a:latin typeface="Calibri"/>
                <a:ea typeface="Calibri"/>
                <a:cs typeface="Calibri"/>
                <a:sym typeface="Calibri"/>
              </a:rPr>
              <a:t>Why this matters: </a:t>
            </a:r>
            <a:r>
              <a:rPr i="1" lang="en-US" sz="1300" u="none" cap="none" strike="noStrike">
                <a:solidFill>
                  <a:srgbClr val="0F172A"/>
                </a:solidFill>
                <a:latin typeface="Calibri"/>
                <a:ea typeface="Calibri"/>
                <a:cs typeface="Calibri"/>
                <a:sym typeface="Calibri"/>
              </a:rPr>
              <a:t>prior work (Wagner 2023, Triantafyllopoulos 2022) shows valence benefits from text but arousal and dominance do not. Our dimensional results match exactly.</a:t>
            </a:r>
            <a:endParaRPr sz="1600"/>
          </a:p>
        </p:txBody>
      </p:sp>
      <p:pic>
        <p:nvPicPr>
          <p:cNvPr descr="vad_rmse_heatmap.png" id="436" name="Google Shape;436;g3dab19ec515_5_36"/>
          <p:cNvPicPr preferRelativeResize="0"/>
          <p:nvPr/>
        </p:nvPicPr>
        <p:blipFill rotWithShape="1">
          <a:blip r:embed="rId3">
            <a:alphaModFix/>
          </a:blip>
          <a:srcRect b="0" l="0" r="0" t="0"/>
          <a:stretch/>
        </p:blipFill>
        <p:spPr>
          <a:xfrm>
            <a:off x="5440680" y="1783080"/>
            <a:ext cx="6446519" cy="4434839"/>
          </a:xfrm>
          <a:prstGeom prst="rect">
            <a:avLst/>
          </a:prstGeom>
          <a:noFill/>
          <a:ln>
            <a:noFill/>
          </a:ln>
        </p:spPr>
      </p:pic>
      <p:sp>
        <p:nvSpPr>
          <p:cNvPr id="437" name="Google Shape;437;g3dab19ec515_5_36"/>
          <p:cNvSpPr/>
          <p:nvPr/>
        </p:nvSpPr>
        <p:spPr>
          <a:xfrm>
            <a:off x="0" y="6355075"/>
            <a:ext cx="12192000" cy="5079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g3dab19ec515_5_36"/>
          <p:cNvSpPr txBox="1"/>
          <p:nvPr/>
        </p:nvSpPr>
        <p:spPr>
          <a:xfrm>
            <a:off x="457200" y="6501775"/>
            <a:ext cx="116223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lang="en-US" sz="1300" u="none" cap="none" strike="noStrike">
                <a:solidFill>
                  <a:srgbClr val="F4A261"/>
                </a:solidFill>
                <a:latin typeface="Calibri"/>
                <a:ea typeface="Calibri"/>
                <a:cs typeface="Calibri"/>
                <a:sym typeface="Calibri"/>
              </a:rPr>
              <a:t>Convergent evidence:  </a:t>
            </a:r>
            <a:r>
              <a:rPr b="1" lang="en-US" sz="1300" u="none" cap="none" strike="noStrike">
                <a:solidFill>
                  <a:srgbClr val="CADCFC"/>
                </a:solidFill>
                <a:latin typeface="Calibri"/>
                <a:ea typeface="Calibri"/>
                <a:cs typeface="Calibri"/>
                <a:sym typeface="Calibri"/>
              </a:rPr>
              <a:t>the part of emotion that genuinely depends on words is the part our probes struggle with. Voice not words holds, and even fails </a:t>
            </a:r>
            <a:r>
              <a:rPr b="1" lang="en-US" sz="1300" u="none" cap="none" strike="noStrike">
                <a:solidFill>
                  <a:srgbClr val="CADCFC"/>
                </a:solidFill>
                <a:latin typeface="Calibri"/>
                <a:ea typeface="Calibri"/>
                <a:cs typeface="Calibri"/>
                <a:sym typeface="Calibri"/>
              </a:rPr>
              <a:t>predictably</a:t>
            </a:r>
            <a:endParaRPr b="1" sz="1600"/>
          </a:p>
        </p:txBody>
      </p:sp>
      <p:sp>
        <p:nvSpPr>
          <p:cNvPr id="439" name="Google Shape;439;g3dab19ec515_5_36"/>
          <p:cNvSpPr/>
          <p:nvPr/>
        </p:nvSpPr>
        <p:spPr>
          <a:xfrm>
            <a:off x="137160" y="45720"/>
            <a:ext cx="1326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000"/>
              <a:buFont typeface="Calibri"/>
              <a:buNone/>
            </a:pPr>
            <a:r>
              <a:rPr b="1" i="0" lang="en-US" sz="1500" u="none" cap="none" strike="noStrike">
                <a:solidFill>
                  <a:srgbClr val="CADCFC"/>
                </a:solidFill>
                <a:latin typeface="Calibri"/>
                <a:ea typeface="Calibri"/>
                <a:cs typeface="Calibri"/>
                <a:sym typeface="Calibri"/>
              </a:rPr>
              <a:t> </a:t>
            </a:r>
            <a:r>
              <a:rPr b="1" i="0" lang="en-US" sz="1500" u="none" cap="none" strike="noStrike">
                <a:solidFill>
                  <a:srgbClr val="FFFFFF"/>
                </a:solidFill>
                <a:latin typeface="Calibri"/>
                <a:ea typeface="Calibri"/>
                <a:cs typeface="Calibri"/>
                <a:sym typeface="Calibri"/>
              </a:rPr>
              <a:t>RESULTS</a:t>
            </a:r>
            <a:endParaRPr b="1" i="0" sz="15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dab19ec515_10_254"/>
          <p:cNvSpPr/>
          <p:nvPr/>
        </p:nvSpPr>
        <p:spPr>
          <a:xfrm>
            <a:off x="0" y="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g3dab19ec515_10_254"/>
          <p:cNvSpPr/>
          <p:nvPr/>
        </p:nvSpPr>
        <p:spPr>
          <a:xfrm>
            <a:off x="0" y="0"/>
            <a:ext cx="1417200" cy="4572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g3dab19ec515_10_254"/>
          <p:cNvSpPr txBox="1"/>
          <p:nvPr/>
        </p:nvSpPr>
        <p:spPr>
          <a:xfrm>
            <a:off x="164592" y="118872"/>
            <a:ext cx="1280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CONCLUSION</a:t>
            </a:r>
            <a:endParaRPr/>
          </a:p>
        </p:txBody>
      </p:sp>
      <p:sp>
        <p:nvSpPr>
          <p:cNvPr id="448" name="Google Shape;448;g3dab19ec515_10_254"/>
          <p:cNvSpPr txBox="1"/>
          <p:nvPr/>
        </p:nvSpPr>
        <p:spPr>
          <a:xfrm>
            <a:off x="502920" y="640080"/>
            <a:ext cx="11430000" cy="523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3400" u="none" cap="none" strike="noStrike">
                <a:solidFill>
                  <a:srgbClr val="1A2A57"/>
                </a:solidFill>
                <a:latin typeface="Calibri"/>
                <a:ea typeface="Calibri"/>
                <a:cs typeface="Calibri"/>
                <a:sym typeface="Calibri"/>
              </a:rPr>
              <a:t>What we now know about emotion in speech transformers</a:t>
            </a:r>
            <a:endParaRPr sz="1800"/>
          </a:p>
        </p:txBody>
      </p:sp>
      <p:sp>
        <p:nvSpPr>
          <p:cNvPr id="449" name="Google Shape;449;g3dab19ec515_10_254"/>
          <p:cNvSpPr txBox="1"/>
          <p:nvPr/>
        </p:nvSpPr>
        <p:spPr>
          <a:xfrm>
            <a:off x="502920" y="1243584"/>
            <a:ext cx="11430000" cy="23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1" lang="en-US" sz="1500" u="none" cap="none" strike="noStrike">
                <a:solidFill>
                  <a:srgbClr val="6B7280"/>
                </a:solidFill>
                <a:latin typeface="Calibri"/>
                <a:ea typeface="Calibri"/>
                <a:cs typeface="Calibri"/>
                <a:sym typeface="Calibri"/>
              </a:rPr>
              <a:t>And what comes next.</a:t>
            </a:r>
            <a:endParaRPr b="1"/>
          </a:p>
        </p:txBody>
      </p:sp>
      <p:sp>
        <p:nvSpPr>
          <p:cNvPr id="450" name="Google Shape;450;g3dab19ec515_10_254"/>
          <p:cNvSpPr/>
          <p:nvPr/>
        </p:nvSpPr>
        <p:spPr>
          <a:xfrm>
            <a:off x="502920" y="1783080"/>
            <a:ext cx="3618900" cy="2834700"/>
          </a:xfrm>
          <a:prstGeom prst="roundRect">
            <a:avLst>
              <a:gd fmla="val 4000" name="adj"/>
            </a:avLst>
          </a:prstGeom>
          <a:solidFill>
            <a:srgbClr val="FFFFFF"/>
          </a:solidFill>
          <a:ln cap="flat" cmpd="sng" w="12700">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g3dab19ec515_10_254"/>
          <p:cNvSpPr/>
          <p:nvPr/>
        </p:nvSpPr>
        <p:spPr>
          <a:xfrm>
            <a:off x="502920" y="1783080"/>
            <a:ext cx="3618900" cy="915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g3dab19ec515_10_254"/>
          <p:cNvSpPr txBox="1"/>
          <p:nvPr/>
        </p:nvSpPr>
        <p:spPr>
          <a:xfrm>
            <a:off x="777240" y="2057400"/>
            <a:ext cx="3070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200" u="none" cap="none" strike="noStrike">
                <a:solidFill>
                  <a:srgbClr val="6B7280"/>
                </a:solidFill>
                <a:latin typeface="Calibri"/>
                <a:ea typeface="Calibri"/>
                <a:cs typeface="Calibri"/>
                <a:sym typeface="Calibri"/>
              </a:rPr>
              <a:t>WHERE</a:t>
            </a:r>
            <a:endParaRPr b="1" sz="1500"/>
          </a:p>
        </p:txBody>
      </p:sp>
      <p:sp>
        <p:nvSpPr>
          <p:cNvPr id="453" name="Google Shape;453;g3dab19ec515_10_254"/>
          <p:cNvSpPr txBox="1"/>
          <p:nvPr/>
        </p:nvSpPr>
        <p:spPr>
          <a:xfrm>
            <a:off x="777240" y="2377440"/>
            <a:ext cx="3070200" cy="354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300" u="none" cap="none" strike="noStrike">
                <a:solidFill>
                  <a:srgbClr val="1A2A57"/>
                </a:solidFill>
                <a:latin typeface="Calibri"/>
                <a:ea typeface="Calibri"/>
                <a:cs typeface="Calibri"/>
                <a:sym typeface="Calibri"/>
              </a:rPr>
              <a:t>Middle-to-late layers</a:t>
            </a:r>
            <a:endParaRPr sz="1500"/>
          </a:p>
        </p:txBody>
      </p:sp>
      <p:sp>
        <p:nvSpPr>
          <p:cNvPr id="454" name="Google Shape;454;g3dab19ec515_10_254"/>
          <p:cNvSpPr txBox="1"/>
          <p:nvPr/>
        </p:nvSpPr>
        <p:spPr>
          <a:xfrm>
            <a:off x="777265" y="2945188"/>
            <a:ext cx="3070200" cy="137910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None/>
            </a:pPr>
            <a:r>
              <a:rPr b="1" i="0" lang="en-US" u="none" cap="none" strike="noStrike">
                <a:solidFill>
                  <a:srgbClr val="404755"/>
                </a:solidFill>
                <a:latin typeface="Calibri"/>
                <a:ea typeface="Calibri"/>
                <a:cs typeface="Calibri"/>
                <a:sym typeface="Calibri"/>
              </a:rPr>
              <a:t>Emotion is encoded in the same layer band across all 6 encoders, 9 corpora, 7 languages. Wav2vec2's deep layers collapse; HuBERT, WavLM, Whisper retain emotion deeper.</a:t>
            </a:r>
            <a:endParaRPr b="1" sz="1500"/>
          </a:p>
        </p:txBody>
      </p:sp>
      <p:sp>
        <p:nvSpPr>
          <p:cNvPr id="455" name="Google Shape;455;g3dab19ec515_10_254"/>
          <p:cNvSpPr/>
          <p:nvPr/>
        </p:nvSpPr>
        <p:spPr>
          <a:xfrm>
            <a:off x="4286402" y="1783080"/>
            <a:ext cx="3618900" cy="2834700"/>
          </a:xfrm>
          <a:prstGeom prst="roundRect">
            <a:avLst>
              <a:gd fmla="val 4000" name="adj"/>
            </a:avLst>
          </a:prstGeom>
          <a:solidFill>
            <a:srgbClr val="FFFFFF"/>
          </a:solidFill>
          <a:ln cap="flat" cmpd="sng" w="12700">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g3dab19ec515_10_254"/>
          <p:cNvSpPr/>
          <p:nvPr/>
        </p:nvSpPr>
        <p:spPr>
          <a:xfrm>
            <a:off x="4286402" y="1783080"/>
            <a:ext cx="3618900" cy="91500"/>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g3dab19ec515_10_254"/>
          <p:cNvSpPr txBox="1"/>
          <p:nvPr/>
        </p:nvSpPr>
        <p:spPr>
          <a:xfrm>
            <a:off x="4560722" y="2057400"/>
            <a:ext cx="3070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200" u="none" cap="none" strike="noStrike">
                <a:solidFill>
                  <a:srgbClr val="6B7280"/>
                </a:solidFill>
                <a:latin typeface="Calibri"/>
                <a:ea typeface="Calibri"/>
                <a:cs typeface="Calibri"/>
                <a:sym typeface="Calibri"/>
              </a:rPr>
              <a:t>HOW</a:t>
            </a:r>
            <a:endParaRPr b="1" sz="1500"/>
          </a:p>
        </p:txBody>
      </p:sp>
      <p:sp>
        <p:nvSpPr>
          <p:cNvPr id="458" name="Google Shape;458;g3dab19ec515_10_254"/>
          <p:cNvSpPr txBox="1"/>
          <p:nvPr/>
        </p:nvSpPr>
        <p:spPr>
          <a:xfrm>
            <a:off x="4560722" y="2377440"/>
            <a:ext cx="3070200" cy="354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300" u="none" cap="none" strike="noStrike">
                <a:solidFill>
                  <a:srgbClr val="1A2A57"/>
                </a:solidFill>
                <a:latin typeface="Calibri"/>
                <a:ea typeface="Calibri"/>
                <a:cs typeface="Calibri"/>
                <a:sym typeface="Calibri"/>
              </a:rPr>
              <a:t>Acoustic, not lexical</a:t>
            </a:r>
            <a:endParaRPr sz="1500"/>
          </a:p>
        </p:txBody>
      </p:sp>
      <p:sp>
        <p:nvSpPr>
          <p:cNvPr id="459" name="Google Shape;459;g3dab19ec515_10_254"/>
          <p:cNvSpPr txBox="1"/>
          <p:nvPr/>
        </p:nvSpPr>
        <p:spPr>
          <a:xfrm>
            <a:off x="4560747" y="2945188"/>
            <a:ext cx="3070200" cy="137910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None/>
            </a:pPr>
            <a:r>
              <a:rPr b="1" i="0" lang="en-US" u="none" cap="none" strike="noStrike">
                <a:solidFill>
                  <a:srgbClr val="404755"/>
                </a:solidFill>
                <a:latin typeface="Calibri"/>
                <a:ea typeface="Calibri"/>
                <a:cs typeface="Calibri"/>
                <a:sym typeface="Calibri"/>
              </a:rPr>
              <a:t>Four independent falsification tests agree: the layer-wise peak does not depend on words. Whisper alone resists the EMIS shortcut the only model with supervised multilingual pretraining.</a:t>
            </a:r>
            <a:endParaRPr b="1" sz="1500"/>
          </a:p>
        </p:txBody>
      </p:sp>
      <p:sp>
        <p:nvSpPr>
          <p:cNvPr id="460" name="Google Shape;460;g3dab19ec515_10_254"/>
          <p:cNvSpPr/>
          <p:nvPr/>
        </p:nvSpPr>
        <p:spPr>
          <a:xfrm>
            <a:off x="8069884" y="1783080"/>
            <a:ext cx="3618900" cy="2834700"/>
          </a:xfrm>
          <a:prstGeom prst="roundRect">
            <a:avLst>
              <a:gd fmla="val 4000" name="adj"/>
            </a:avLst>
          </a:prstGeom>
          <a:solidFill>
            <a:srgbClr val="FFFFFF"/>
          </a:solidFill>
          <a:ln cap="flat" cmpd="sng" w="12700">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g3dab19ec515_10_254"/>
          <p:cNvSpPr/>
          <p:nvPr/>
        </p:nvSpPr>
        <p:spPr>
          <a:xfrm>
            <a:off x="8069884" y="1783080"/>
            <a:ext cx="3618900" cy="91500"/>
          </a:xfrm>
          <a:prstGeom prst="rect">
            <a:avLst/>
          </a:prstGeom>
          <a:solidFill>
            <a:srgbClr val="2E8B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g3dab19ec515_10_254"/>
          <p:cNvSpPr txBox="1"/>
          <p:nvPr/>
        </p:nvSpPr>
        <p:spPr>
          <a:xfrm>
            <a:off x="8344204" y="2057400"/>
            <a:ext cx="3070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200" u="none" cap="none" strike="noStrike">
                <a:solidFill>
                  <a:srgbClr val="6B7280"/>
                </a:solidFill>
                <a:latin typeface="Calibri"/>
                <a:ea typeface="Calibri"/>
                <a:cs typeface="Calibri"/>
                <a:sym typeface="Calibri"/>
              </a:rPr>
              <a:t>WHAT NEXT</a:t>
            </a:r>
            <a:endParaRPr b="1" sz="1500"/>
          </a:p>
        </p:txBody>
      </p:sp>
      <p:sp>
        <p:nvSpPr>
          <p:cNvPr id="463" name="Google Shape;463;g3dab19ec515_10_254"/>
          <p:cNvSpPr txBox="1"/>
          <p:nvPr/>
        </p:nvSpPr>
        <p:spPr>
          <a:xfrm>
            <a:off x="8344204" y="2377440"/>
            <a:ext cx="3070200" cy="354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300" u="none" cap="none" strike="noStrike">
                <a:solidFill>
                  <a:srgbClr val="1A2A57"/>
                </a:solidFill>
                <a:latin typeface="Calibri"/>
                <a:ea typeface="Calibri"/>
                <a:cs typeface="Calibri"/>
                <a:sym typeface="Calibri"/>
              </a:rPr>
              <a:t>Frozen is enough</a:t>
            </a:r>
            <a:endParaRPr sz="1500"/>
          </a:p>
        </p:txBody>
      </p:sp>
      <p:sp>
        <p:nvSpPr>
          <p:cNvPr id="464" name="Google Shape;464;g3dab19ec515_10_254"/>
          <p:cNvSpPr txBox="1"/>
          <p:nvPr/>
        </p:nvSpPr>
        <p:spPr>
          <a:xfrm>
            <a:off x="8344229" y="2945188"/>
            <a:ext cx="3070200" cy="137910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None/>
            </a:pPr>
            <a:r>
              <a:rPr b="1" i="0" lang="en-US" u="none" cap="none" strike="noStrike">
                <a:solidFill>
                  <a:srgbClr val="404755"/>
                </a:solidFill>
                <a:latin typeface="Calibri"/>
                <a:ea typeface="Calibri"/>
                <a:cs typeface="Calibri"/>
                <a:sym typeface="Calibri"/>
              </a:rPr>
              <a:t>LoRA hurts on 29/30 combos. The features already exist; no tuning is needed. Future work: extend SpeechCraft to 8-class emotion, validate on real-world deployment audio.</a:t>
            </a:r>
            <a:endParaRPr b="1" sz="1500"/>
          </a:p>
        </p:txBody>
      </p:sp>
      <p:sp>
        <p:nvSpPr>
          <p:cNvPr id="465" name="Google Shape;465;g3dab19ec515_10_254"/>
          <p:cNvSpPr/>
          <p:nvPr/>
        </p:nvSpPr>
        <p:spPr>
          <a:xfrm>
            <a:off x="0" y="5166600"/>
            <a:ext cx="12191700" cy="16914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g3dab19ec515_10_254"/>
          <p:cNvSpPr/>
          <p:nvPr/>
        </p:nvSpPr>
        <p:spPr>
          <a:xfrm flipH="1" rot="10800000">
            <a:off x="0" y="5166606"/>
            <a:ext cx="12191700" cy="144300"/>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g3dab19ec515_10_254"/>
          <p:cNvSpPr txBox="1"/>
          <p:nvPr/>
        </p:nvSpPr>
        <p:spPr>
          <a:xfrm>
            <a:off x="502920" y="5394985"/>
            <a:ext cx="113385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E8924A"/>
                </a:solidFill>
                <a:latin typeface="Calibri"/>
                <a:ea typeface="Calibri"/>
                <a:cs typeface="Calibri"/>
                <a:sym typeface="Calibri"/>
              </a:rPr>
              <a:t>The bottom line</a:t>
            </a:r>
            <a:endParaRPr sz="1900"/>
          </a:p>
        </p:txBody>
      </p:sp>
      <p:sp>
        <p:nvSpPr>
          <p:cNvPr id="468" name="Google Shape;468;g3dab19ec515_10_254"/>
          <p:cNvSpPr txBox="1"/>
          <p:nvPr/>
        </p:nvSpPr>
        <p:spPr>
          <a:xfrm>
            <a:off x="502920" y="5794920"/>
            <a:ext cx="11338500" cy="672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i="0" lang="en-US" sz="1900" u="none" cap="none" strike="noStrike">
                <a:solidFill>
                  <a:srgbClr val="FFFFFF"/>
                </a:solidFill>
                <a:latin typeface="Calibri"/>
                <a:ea typeface="Calibri"/>
                <a:cs typeface="Calibri"/>
                <a:sym typeface="Calibri"/>
              </a:rPr>
              <a:t>Speech-emotion transformers </a:t>
            </a:r>
            <a:r>
              <a:rPr i="1" lang="en-US" sz="1900" u="none" cap="none" strike="noStrike">
                <a:solidFill>
                  <a:srgbClr val="FFFFFF"/>
                </a:solidFill>
                <a:latin typeface="Calibri"/>
                <a:ea typeface="Calibri"/>
                <a:cs typeface="Calibri"/>
                <a:sym typeface="Calibri"/>
              </a:rPr>
              <a:t>can </a:t>
            </a:r>
            <a:r>
              <a:rPr i="0" lang="en-US" sz="1900" u="none" cap="none" strike="noStrike">
                <a:solidFill>
                  <a:srgbClr val="FFFFFF"/>
                </a:solidFill>
                <a:latin typeface="Calibri"/>
                <a:ea typeface="Calibri"/>
                <a:cs typeface="Calibri"/>
                <a:sym typeface="Calibri"/>
              </a:rPr>
              <a:t>hear emotion in voice alone, but they do not always </a:t>
            </a:r>
            <a:r>
              <a:rPr i="1" lang="en-US" sz="1900" u="none" cap="none" strike="noStrike">
                <a:solidFill>
                  <a:srgbClr val="FFFFFF"/>
                </a:solidFill>
                <a:latin typeface="Calibri"/>
                <a:ea typeface="Calibri"/>
                <a:cs typeface="Calibri"/>
                <a:sym typeface="Calibri"/>
              </a:rPr>
              <a:t>choose </a:t>
            </a:r>
            <a:r>
              <a:rPr i="0" lang="en-US" sz="1900" u="none" cap="none" strike="noStrike">
                <a:solidFill>
                  <a:srgbClr val="FFFFFF"/>
                </a:solidFill>
                <a:latin typeface="Calibri"/>
                <a:ea typeface="Calibri"/>
                <a:cs typeface="Calibri"/>
                <a:sym typeface="Calibri"/>
              </a:rPr>
              <a:t>to. With the right probing recipe, you can locate exactly where the acoustic signal lives - and prove it is acoustic.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3dab19ec515_5_64"/>
          <p:cNvSpPr/>
          <p:nvPr/>
        </p:nvSpPr>
        <p:spPr>
          <a:xfrm>
            <a:off x="0" y="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3dab19ec515_5_64"/>
          <p:cNvSpPr/>
          <p:nvPr/>
        </p:nvSpPr>
        <p:spPr>
          <a:xfrm>
            <a:off x="0" y="0"/>
            <a:ext cx="1417200" cy="4572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g3dab19ec515_5_64"/>
          <p:cNvSpPr txBox="1"/>
          <p:nvPr/>
        </p:nvSpPr>
        <p:spPr>
          <a:xfrm>
            <a:off x="164592" y="118872"/>
            <a:ext cx="12801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CONCLUSION</a:t>
            </a:r>
            <a:endParaRPr b="0" i="0" sz="1400" u="none" cap="none" strike="noStrike">
              <a:solidFill>
                <a:srgbClr val="000000"/>
              </a:solidFill>
              <a:latin typeface="Arial"/>
              <a:ea typeface="Arial"/>
              <a:cs typeface="Arial"/>
              <a:sym typeface="Arial"/>
            </a:endParaRPr>
          </a:p>
        </p:txBody>
      </p:sp>
      <p:sp>
        <p:nvSpPr>
          <p:cNvPr id="477" name="Google Shape;477;g3dab19ec515_5_64"/>
          <p:cNvSpPr txBox="1"/>
          <p:nvPr/>
        </p:nvSpPr>
        <p:spPr>
          <a:xfrm>
            <a:off x="502920" y="640080"/>
            <a:ext cx="11430000" cy="523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400"/>
              <a:buFont typeface="Arial"/>
              <a:buNone/>
            </a:pPr>
            <a:r>
              <a:rPr b="1" i="0" lang="en-US" sz="3400" u="none" cap="none" strike="noStrike">
                <a:solidFill>
                  <a:srgbClr val="1A2A57"/>
                </a:solidFill>
                <a:latin typeface="Calibri"/>
                <a:ea typeface="Calibri"/>
                <a:cs typeface="Calibri"/>
                <a:sym typeface="Calibri"/>
              </a:rPr>
              <a:t>What we now know about emotion in speech transformers</a:t>
            </a:r>
            <a:endParaRPr b="0" i="0" sz="1800" u="none" cap="none" strike="noStrike">
              <a:solidFill>
                <a:srgbClr val="000000"/>
              </a:solidFill>
              <a:latin typeface="Arial"/>
              <a:ea typeface="Arial"/>
              <a:cs typeface="Arial"/>
              <a:sym typeface="Arial"/>
            </a:endParaRPr>
          </a:p>
        </p:txBody>
      </p:sp>
      <p:sp>
        <p:nvSpPr>
          <p:cNvPr id="478" name="Google Shape;478;g3dab19ec515_5_64"/>
          <p:cNvSpPr txBox="1"/>
          <p:nvPr/>
        </p:nvSpPr>
        <p:spPr>
          <a:xfrm>
            <a:off x="502920" y="1243584"/>
            <a:ext cx="11430000" cy="23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1" lang="en-US" sz="1500" u="none" cap="none" strike="noStrike">
                <a:solidFill>
                  <a:srgbClr val="6B7280"/>
                </a:solidFill>
                <a:latin typeface="Calibri"/>
                <a:ea typeface="Calibri"/>
                <a:cs typeface="Calibri"/>
                <a:sym typeface="Calibri"/>
              </a:rPr>
              <a:t>And what comes next.</a:t>
            </a:r>
            <a:endParaRPr b="1" i="0" sz="1400" u="none" cap="none" strike="noStrike">
              <a:solidFill>
                <a:srgbClr val="000000"/>
              </a:solidFill>
              <a:latin typeface="Arial"/>
              <a:ea typeface="Arial"/>
              <a:cs typeface="Arial"/>
              <a:sym typeface="Arial"/>
            </a:endParaRPr>
          </a:p>
        </p:txBody>
      </p:sp>
      <p:sp>
        <p:nvSpPr>
          <p:cNvPr id="479" name="Google Shape;479;g3dab19ec515_5_64"/>
          <p:cNvSpPr/>
          <p:nvPr/>
        </p:nvSpPr>
        <p:spPr>
          <a:xfrm>
            <a:off x="502920" y="1783080"/>
            <a:ext cx="3618900" cy="2834700"/>
          </a:xfrm>
          <a:prstGeom prst="roundRect">
            <a:avLst>
              <a:gd fmla="val 4000" name="adj"/>
            </a:avLst>
          </a:prstGeom>
          <a:solidFill>
            <a:srgbClr val="FFFFFF"/>
          </a:solidFill>
          <a:ln cap="flat" cmpd="sng" w="12700">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3dab19ec515_5_64"/>
          <p:cNvSpPr/>
          <p:nvPr/>
        </p:nvSpPr>
        <p:spPr>
          <a:xfrm>
            <a:off x="502920" y="1783080"/>
            <a:ext cx="3618900" cy="915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g3dab19ec515_5_64"/>
          <p:cNvSpPr txBox="1"/>
          <p:nvPr/>
        </p:nvSpPr>
        <p:spPr>
          <a:xfrm>
            <a:off x="777240" y="2057400"/>
            <a:ext cx="3070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6B7280"/>
                </a:solidFill>
                <a:latin typeface="Calibri"/>
                <a:ea typeface="Calibri"/>
                <a:cs typeface="Calibri"/>
                <a:sym typeface="Calibri"/>
              </a:rPr>
              <a:t>WHERE</a:t>
            </a:r>
            <a:endParaRPr b="1" i="0" sz="1500" u="none" cap="none" strike="noStrike">
              <a:solidFill>
                <a:srgbClr val="000000"/>
              </a:solidFill>
              <a:latin typeface="Arial"/>
              <a:ea typeface="Arial"/>
              <a:cs typeface="Arial"/>
              <a:sym typeface="Arial"/>
            </a:endParaRPr>
          </a:p>
        </p:txBody>
      </p:sp>
      <p:sp>
        <p:nvSpPr>
          <p:cNvPr id="482" name="Google Shape;482;g3dab19ec515_5_64"/>
          <p:cNvSpPr txBox="1"/>
          <p:nvPr/>
        </p:nvSpPr>
        <p:spPr>
          <a:xfrm>
            <a:off x="777240" y="2377440"/>
            <a:ext cx="3070200" cy="354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1A2A57"/>
                </a:solidFill>
                <a:latin typeface="Calibri"/>
                <a:ea typeface="Calibri"/>
                <a:cs typeface="Calibri"/>
                <a:sym typeface="Calibri"/>
              </a:rPr>
              <a:t>Middle to late layers</a:t>
            </a:r>
            <a:endParaRPr b="0" i="0" sz="1500" u="none" cap="none" strike="noStrike">
              <a:solidFill>
                <a:srgbClr val="000000"/>
              </a:solidFill>
              <a:latin typeface="Arial"/>
              <a:ea typeface="Arial"/>
              <a:cs typeface="Arial"/>
              <a:sym typeface="Arial"/>
            </a:endParaRPr>
          </a:p>
        </p:txBody>
      </p:sp>
      <p:sp>
        <p:nvSpPr>
          <p:cNvPr id="483" name="Google Shape;483;g3dab19ec515_5_64"/>
          <p:cNvSpPr txBox="1"/>
          <p:nvPr/>
        </p:nvSpPr>
        <p:spPr>
          <a:xfrm>
            <a:off x="777265" y="2945188"/>
            <a:ext cx="3070200" cy="137910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Clr>
                <a:srgbClr val="000000"/>
              </a:buClr>
              <a:buSzPts val="1400"/>
              <a:buFont typeface="Arial"/>
              <a:buNone/>
            </a:pPr>
            <a:r>
              <a:rPr b="1" i="0" lang="en-US" sz="1400" u="none" cap="none" strike="noStrike">
                <a:solidFill>
                  <a:srgbClr val="404755"/>
                </a:solidFill>
                <a:latin typeface="Calibri"/>
                <a:ea typeface="Calibri"/>
                <a:cs typeface="Calibri"/>
                <a:sym typeface="Calibri"/>
              </a:rPr>
              <a:t>Emotion is encoded in the same layer band across all 6 encoders, 9 corpora, 7 languages. Wav2vec2's deep layers collapse; HuBERT, WavLM, Whisper retain emotion deeper.</a:t>
            </a:r>
            <a:endParaRPr b="1" i="0" sz="1500" u="none" cap="none" strike="noStrike">
              <a:solidFill>
                <a:srgbClr val="000000"/>
              </a:solidFill>
              <a:latin typeface="Arial"/>
              <a:ea typeface="Arial"/>
              <a:cs typeface="Arial"/>
              <a:sym typeface="Arial"/>
            </a:endParaRPr>
          </a:p>
        </p:txBody>
      </p:sp>
      <p:sp>
        <p:nvSpPr>
          <p:cNvPr id="484" name="Google Shape;484;g3dab19ec515_5_64"/>
          <p:cNvSpPr/>
          <p:nvPr/>
        </p:nvSpPr>
        <p:spPr>
          <a:xfrm>
            <a:off x="4286402" y="1783080"/>
            <a:ext cx="3618900" cy="2834700"/>
          </a:xfrm>
          <a:prstGeom prst="roundRect">
            <a:avLst>
              <a:gd fmla="val 4000" name="adj"/>
            </a:avLst>
          </a:prstGeom>
          <a:solidFill>
            <a:srgbClr val="FFFFFF"/>
          </a:solidFill>
          <a:ln cap="flat" cmpd="sng" w="12700">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3dab19ec515_5_64"/>
          <p:cNvSpPr/>
          <p:nvPr/>
        </p:nvSpPr>
        <p:spPr>
          <a:xfrm>
            <a:off x="4286402" y="1783080"/>
            <a:ext cx="3618900" cy="91500"/>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3dab19ec515_5_64"/>
          <p:cNvSpPr txBox="1"/>
          <p:nvPr/>
        </p:nvSpPr>
        <p:spPr>
          <a:xfrm>
            <a:off x="4560722" y="2057400"/>
            <a:ext cx="3070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6B7280"/>
                </a:solidFill>
                <a:latin typeface="Calibri"/>
                <a:ea typeface="Calibri"/>
                <a:cs typeface="Calibri"/>
                <a:sym typeface="Calibri"/>
              </a:rPr>
              <a:t>HOW</a:t>
            </a:r>
            <a:endParaRPr b="1" i="0" sz="1500" u="none" cap="none" strike="noStrike">
              <a:solidFill>
                <a:srgbClr val="000000"/>
              </a:solidFill>
              <a:latin typeface="Arial"/>
              <a:ea typeface="Arial"/>
              <a:cs typeface="Arial"/>
              <a:sym typeface="Arial"/>
            </a:endParaRPr>
          </a:p>
        </p:txBody>
      </p:sp>
      <p:sp>
        <p:nvSpPr>
          <p:cNvPr id="487" name="Google Shape;487;g3dab19ec515_5_64"/>
          <p:cNvSpPr txBox="1"/>
          <p:nvPr/>
        </p:nvSpPr>
        <p:spPr>
          <a:xfrm>
            <a:off x="4560722" y="2377440"/>
            <a:ext cx="3070200" cy="354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1A2A57"/>
                </a:solidFill>
                <a:latin typeface="Calibri"/>
                <a:ea typeface="Calibri"/>
                <a:cs typeface="Calibri"/>
                <a:sym typeface="Calibri"/>
              </a:rPr>
              <a:t>Acoustic, not lexical</a:t>
            </a:r>
            <a:endParaRPr b="0" i="0" sz="1500" u="none" cap="none" strike="noStrike">
              <a:solidFill>
                <a:srgbClr val="000000"/>
              </a:solidFill>
              <a:latin typeface="Arial"/>
              <a:ea typeface="Arial"/>
              <a:cs typeface="Arial"/>
              <a:sym typeface="Arial"/>
            </a:endParaRPr>
          </a:p>
        </p:txBody>
      </p:sp>
      <p:sp>
        <p:nvSpPr>
          <p:cNvPr id="488" name="Google Shape;488;g3dab19ec515_5_64"/>
          <p:cNvSpPr txBox="1"/>
          <p:nvPr/>
        </p:nvSpPr>
        <p:spPr>
          <a:xfrm>
            <a:off x="4560747" y="2945188"/>
            <a:ext cx="3070200" cy="137910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Clr>
                <a:srgbClr val="000000"/>
              </a:buClr>
              <a:buSzPts val="1400"/>
              <a:buFont typeface="Arial"/>
              <a:buNone/>
            </a:pPr>
            <a:r>
              <a:rPr b="1" i="0" lang="en-US" sz="1400" u="none" cap="none" strike="noStrike">
                <a:solidFill>
                  <a:srgbClr val="404755"/>
                </a:solidFill>
                <a:latin typeface="Calibri"/>
                <a:ea typeface="Calibri"/>
                <a:cs typeface="Calibri"/>
                <a:sym typeface="Calibri"/>
              </a:rPr>
              <a:t>Four independent falsification tests agree: the layer wise peak does not depend on words. Whisper alone resists the EMIS shortcut the only model with supervised pretraining.</a:t>
            </a:r>
            <a:endParaRPr b="1" i="0" sz="1500" u="none" cap="none" strike="noStrike">
              <a:solidFill>
                <a:srgbClr val="000000"/>
              </a:solidFill>
              <a:latin typeface="Arial"/>
              <a:ea typeface="Arial"/>
              <a:cs typeface="Arial"/>
              <a:sym typeface="Arial"/>
            </a:endParaRPr>
          </a:p>
        </p:txBody>
      </p:sp>
      <p:sp>
        <p:nvSpPr>
          <p:cNvPr id="489" name="Google Shape;489;g3dab19ec515_5_64"/>
          <p:cNvSpPr/>
          <p:nvPr/>
        </p:nvSpPr>
        <p:spPr>
          <a:xfrm>
            <a:off x="8069884" y="1783080"/>
            <a:ext cx="3618900" cy="2834700"/>
          </a:xfrm>
          <a:prstGeom prst="roundRect">
            <a:avLst>
              <a:gd fmla="val 4000" name="adj"/>
            </a:avLst>
          </a:prstGeom>
          <a:solidFill>
            <a:srgbClr val="FFFFFF"/>
          </a:solidFill>
          <a:ln cap="flat" cmpd="sng" w="12700">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g3dab19ec515_5_64"/>
          <p:cNvSpPr/>
          <p:nvPr/>
        </p:nvSpPr>
        <p:spPr>
          <a:xfrm>
            <a:off x="8069884" y="1783080"/>
            <a:ext cx="3618900" cy="91500"/>
          </a:xfrm>
          <a:prstGeom prst="rect">
            <a:avLst/>
          </a:prstGeom>
          <a:solidFill>
            <a:srgbClr val="2E8B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g3dab19ec515_5_64"/>
          <p:cNvSpPr txBox="1"/>
          <p:nvPr/>
        </p:nvSpPr>
        <p:spPr>
          <a:xfrm>
            <a:off x="8344204" y="2057400"/>
            <a:ext cx="3070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6B7280"/>
                </a:solidFill>
                <a:latin typeface="Calibri"/>
                <a:ea typeface="Calibri"/>
                <a:cs typeface="Calibri"/>
                <a:sym typeface="Calibri"/>
              </a:rPr>
              <a:t>WHAT NEXT</a:t>
            </a:r>
            <a:endParaRPr b="1" i="0" sz="1500" u="none" cap="none" strike="noStrike">
              <a:solidFill>
                <a:srgbClr val="000000"/>
              </a:solidFill>
              <a:latin typeface="Arial"/>
              <a:ea typeface="Arial"/>
              <a:cs typeface="Arial"/>
              <a:sym typeface="Arial"/>
            </a:endParaRPr>
          </a:p>
        </p:txBody>
      </p:sp>
      <p:sp>
        <p:nvSpPr>
          <p:cNvPr id="492" name="Google Shape;492;g3dab19ec515_5_64"/>
          <p:cNvSpPr txBox="1"/>
          <p:nvPr/>
        </p:nvSpPr>
        <p:spPr>
          <a:xfrm>
            <a:off x="8344204" y="2377440"/>
            <a:ext cx="3070200" cy="354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1A2A57"/>
                </a:solidFill>
                <a:latin typeface="Calibri"/>
                <a:ea typeface="Calibri"/>
                <a:cs typeface="Calibri"/>
                <a:sym typeface="Calibri"/>
              </a:rPr>
              <a:t>Frozen is enough</a:t>
            </a:r>
            <a:endParaRPr b="0" i="0" sz="1500" u="none" cap="none" strike="noStrike">
              <a:solidFill>
                <a:srgbClr val="000000"/>
              </a:solidFill>
              <a:latin typeface="Arial"/>
              <a:ea typeface="Arial"/>
              <a:cs typeface="Arial"/>
              <a:sym typeface="Arial"/>
            </a:endParaRPr>
          </a:p>
        </p:txBody>
      </p:sp>
      <p:sp>
        <p:nvSpPr>
          <p:cNvPr id="493" name="Google Shape;493;g3dab19ec515_5_64"/>
          <p:cNvSpPr txBox="1"/>
          <p:nvPr/>
        </p:nvSpPr>
        <p:spPr>
          <a:xfrm>
            <a:off x="8344229" y="2945188"/>
            <a:ext cx="3070200" cy="108810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Clr>
                <a:srgbClr val="000000"/>
              </a:buClr>
              <a:buSzPts val="1400"/>
              <a:buFont typeface="Arial"/>
              <a:buNone/>
            </a:pPr>
            <a:r>
              <a:rPr b="1" i="0" lang="en-US" sz="1400" u="none" cap="none" strike="noStrike">
                <a:solidFill>
                  <a:srgbClr val="404755"/>
                </a:solidFill>
                <a:latin typeface="Calibri"/>
                <a:ea typeface="Calibri"/>
                <a:cs typeface="Calibri"/>
                <a:sym typeface="Calibri"/>
              </a:rPr>
              <a:t>LoRA hurts on 29/30 combos. The features already exist; no tuning is needed. Future work: validate on real world deployment audio.</a:t>
            </a:r>
            <a:endParaRPr b="1" i="0" sz="1500" u="none" cap="none" strike="noStrike">
              <a:solidFill>
                <a:srgbClr val="000000"/>
              </a:solidFill>
              <a:latin typeface="Arial"/>
              <a:ea typeface="Arial"/>
              <a:cs typeface="Arial"/>
              <a:sym typeface="Arial"/>
            </a:endParaRPr>
          </a:p>
        </p:txBody>
      </p:sp>
      <p:sp>
        <p:nvSpPr>
          <p:cNvPr id="494" name="Google Shape;494;g3dab19ec515_5_64"/>
          <p:cNvSpPr/>
          <p:nvPr/>
        </p:nvSpPr>
        <p:spPr>
          <a:xfrm>
            <a:off x="0" y="5166600"/>
            <a:ext cx="12191700" cy="16914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3dab19ec515_5_64"/>
          <p:cNvSpPr/>
          <p:nvPr/>
        </p:nvSpPr>
        <p:spPr>
          <a:xfrm flipH="1" rot="10800000">
            <a:off x="0" y="5166606"/>
            <a:ext cx="12191700" cy="144300"/>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g3dab19ec515_5_64"/>
          <p:cNvSpPr txBox="1"/>
          <p:nvPr/>
        </p:nvSpPr>
        <p:spPr>
          <a:xfrm>
            <a:off x="502920" y="5394985"/>
            <a:ext cx="113385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E8924A"/>
                </a:solidFill>
                <a:latin typeface="Calibri"/>
                <a:ea typeface="Calibri"/>
                <a:cs typeface="Calibri"/>
                <a:sym typeface="Calibri"/>
              </a:rPr>
              <a:t>The bottom line</a:t>
            </a:r>
            <a:endParaRPr b="0" i="0" sz="1900" u="none" cap="none" strike="noStrike">
              <a:solidFill>
                <a:srgbClr val="000000"/>
              </a:solidFill>
              <a:latin typeface="Arial"/>
              <a:ea typeface="Arial"/>
              <a:cs typeface="Arial"/>
              <a:sym typeface="Arial"/>
            </a:endParaRPr>
          </a:p>
        </p:txBody>
      </p:sp>
      <p:sp>
        <p:nvSpPr>
          <p:cNvPr id="497" name="Google Shape;497;g3dab19ec515_5_64"/>
          <p:cNvSpPr txBox="1"/>
          <p:nvPr/>
        </p:nvSpPr>
        <p:spPr>
          <a:xfrm>
            <a:off x="502920" y="5794920"/>
            <a:ext cx="11338500" cy="672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900"/>
              <a:buFont typeface="Arial"/>
              <a:buNone/>
            </a:pPr>
            <a:r>
              <a:rPr b="0" i="0" lang="en-US" sz="1900" u="none" cap="none" strike="noStrike">
                <a:solidFill>
                  <a:srgbClr val="FFFFFF"/>
                </a:solidFill>
                <a:latin typeface="Calibri"/>
                <a:ea typeface="Calibri"/>
                <a:cs typeface="Calibri"/>
                <a:sym typeface="Calibri"/>
              </a:rPr>
              <a:t>Speech emotion transformers </a:t>
            </a:r>
            <a:r>
              <a:rPr b="0" i="1" lang="en-US" sz="1900" u="none" cap="none" strike="noStrike">
                <a:solidFill>
                  <a:srgbClr val="FFFFFF"/>
                </a:solidFill>
                <a:latin typeface="Calibri"/>
                <a:ea typeface="Calibri"/>
                <a:cs typeface="Calibri"/>
                <a:sym typeface="Calibri"/>
              </a:rPr>
              <a:t>can </a:t>
            </a:r>
            <a:r>
              <a:rPr b="0" i="0" lang="en-US" sz="1900" u="none" cap="none" strike="noStrike">
                <a:solidFill>
                  <a:srgbClr val="FFFFFF"/>
                </a:solidFill>
                <a:latin typeface="Calibri"/>
                <a:ea typeface="Calibri"/>
                <a:cs typeface="Calibri"/>
                <a:sym typeface="Calibri"/>
              </a:rPr>
              <a:t>hear emotion in voice alone, but they do not always </a:t>
            </a:r>
            <a:r>
              <a:rPr b="0" i="1" lang="en-US" sz="1900" u="none" cap="none" strike="noStrike">
                <a:solidFill>
                  <a:srgbClr val="FFFFFF"/>
                </a:solidFill>
                <a:latin typeface="Calibri"/>
                <a:ea typeface="Calibri"/>
                <a:cs typeface="Calibri"/>
                <a:sym typeface="Calibri"/>
              </a:rPr>
              <a:t>choose </a:t>
            </a:r>
            <a:r>
              <a:rPr b="0" i="0" lang="en-US" sz="1900" u="none" cap="none" strike="noStrike">
                <a:solidFill>
                  <a:srgbClr val="FFFFFF"/>
                </a:solidFill>
                <a:latin typeface="Calibri"/>
                <a:ea typeface="Calibri"/>
                <a:cs typeface="Calibri"/>
                <a:sym typeface="Calibri"/>
              </a:rPr>
              <a:t>to. With the right probing recipe, you can locate exactly where the acoustic signal lives, and prove it is acoustic.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3dab19ec515_12_0"/>
          <p:cNvSpPr/>
          <p:nvPr/>
        </p:nvSpPr>
        <p:spPr>
          <a:xfrm>
            <a:off x="0" y="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4" name="Google Shape;504;g3dab19ec515_12_0"/>
          <p:cNvSpPr/>
          <p:nvPr/>
        </p:nvSpPr>
        <p:spPr>
          <a:xfrm>
            <a:off x="0" y="0"/>
            <a:ext cx="1417320" cy="4572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5" name="Google Shape;505;g3dab19ec515_12_0"/>
          <p:cNvSpPr txBox="1"/>
          <p:nvPr/>
        </p:nvSpPr>
        <p:spPr>
          <a:xfrm>
            <a:off x="164592" y="118872"/>
            <a:ext cx="1280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SUMMARY</a:t>
            </a:r>
            <a:endParaRPr b="0" i="0" sz="1400" u="none" cap="none" strike="noStrike">
              <a:solidFill>
                <a:srgbClr val="000000"/>
              </a:solidFill>
              <a:latin typeface="Arial"/>
              <a:ea typeface="Arial"/>
              <a:cs typeface="Arial"/>
              <a:sym typeface="Arial"/>
            </a:endParaRPr>
          </a:p>
        </p:txBody>
      </p:sp>
      <p:sp>
        <p:nvSpPr>
          <p:cNvPr id="506" name="Google Shape;506;g3dab19ec515_12_0"/>
          <p:cNvSpPr txBox="1"/>
          <p:nvPr/>
        </p:nvSpPr>
        <p:spPr>
          <a:xfrm>
            <a:off x="502920" y="640080"/>
            <a:ext cx="11430000" cy="523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3200"/>
              <a:buFont typeface="Arial"/>
              <a:buNone/>
            </a:pPr>
            <a:r>
              <a:rPr b="1" i="0" lang="en-US" sz="3400" u="none" cap="none" strike="noStrike">
                <a:solidFill>
                  <a:srgbClr val="1A2A57"/>
                </a:solidFill>
                <a:latin typeface="Calibri"/>
                <a:ea typeface="Calibri"/>
                <a:cs typeface="Calibri"/>
                <a:sym typeface="Calibri"/>
              </a:rPr>
              <a:t>Summary  &amp;  Team Contributions</a:t>
            </a:r>
            <a:endParaRPr b="1" i="0" sz="1600" u="none" cap="none" strike="noStrike">
              <a:solidFill>
                <a:srgbClr val="000000"/>
              </a:solidFill>
            </a:endParaRPr>
          </a:p>
        </p:txBody>
      </p:sp>
      <p:sp>
        <p:nvSpPr>
          <p:cNvPr id="507" name="Google Shape;507;g3dab19ec515_12_0"/>
          <p:cNvSpPr txBox="1"/>
          <p:nvPr/>
        </p:nvSpPr>
        <p:spPr>
          <a:xfrm>
            <a:off x="502920" y="1243584"/>
            <a:ext cx="11430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1" lang="en-US" sz="1600" u="none" cap="none" strike="noStrike">
                <a:solidFill>
                  <a:srgbClr val="6B7280"/>
                </a:solidFill>
                <a:latin typeface="Calibri"/>
                <a:ea typeface="Calibri"/>
                <a:cs typeface="Calibri"/>
                <a:sym typeface="Calibri"/>
              </a:rPr>
              <a:t>Twelve experiments  ·  six encoders  ·  nine corpora  ·  seven languages.</a:t>
            </a:r>
            <a:endParaRPr b="1" i="0" sz="1500" u="none" cap="none" strike="noStrike">
              <a:solidFill>
                <a:srgbClr val="000000"/>
              </a:solidFill>
            </a:endParaRPr>
          </a:p>
        </p:txBody>
      </p:sp>
      <p:sp>
        <p:nvSpPr>
          <p:cNvPr id="508" name="Google Shape;508;g3dab19ec515_12_0"/>
          <p:cNvSpPr txBox="1"/>
          <p:nvPr/>
        </p:nvSpPr>
        <p:spPr>
          <a:xfrm>
            <a:off x="502920" y="1755648"/>
            <a:ext cx="56694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rgbClr val="6B7280"/>
                </a:solidFill>
                <a:latin typeface="Calibri"/>
                <a:ea typeface="Calibri"/>
                <a:cs typeface="Calibri"/>
                <a:sym typeface="Calibri"/>
              </a:rPr>
              <a:t>KEY FINDINGS</a:t>
            </a:r>
            <a:endParaRPr b="0" i="0" sz="1400" u="none" cap="none" strike="noStrike">
              <a:solidFill>
                <a:srgbClr val="000000"/>
              </a:solidFill>
              <a:latin typeface="Arial"/>
              <a:ea typeface="Arial"/>
              <a:cs typeface="Arial"/>
              <a:sym typeface="Arial"/>
            </a:endParaRPr>
          </a:p>
        </p:txBody>
      </p:sp>
      <p:sp>
        <p:nvSpPr>
          <p:cNvPr id="509" name="Google Shape;509;g3dab19ec515_12_0"/>
          <p:cNvSpPr/>
          <p:nvPr/>
        </p:nvSpPr>
        <p:spPr>
          <a:xfrm>
            <a:off x="502925" y="2084825"/>
            <a:ext cx="4317300" cy="1079100"/>
          </a:xfrm>
          <a:prstGeom prst="roundRect">
            <a:avLst>
              <a:gd fmla="val 4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0" name="Google Shape;510;g3dab19ec515_12_0"/>
          <p:cNvSpPr/>
          <p:nvPr/>
        </p:nvSpPr>
        <p:spPr>
          <a:xfrm>
            <a:off x="502920" y="2084831"/>
            <a:ext cx="91440" cy="1078992"/>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1" name="Google Shape;511;g3dab19ec515_12_0"/>
          <p:cNvSpPr txBox="1"/>
          <p:nvPr/>
        </p:nvSpPr>
        <p:spPr>
          <a:xfrm>
            <a:off x="667445" y="2162374"/>
            <a:ext cx="7773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E8924A"/>
                </a:solidFill>
                <a:latin typeface="Calibri"/>
                <a:ea typeface="Calibri"/>
                <a:cs typeface="Calibri"/>
                <a:sym typeface="Calibri"/>
              </a:rPr>
              <a:t>01</a:t>
            </a:r>
            <a:endParaRPr b="0" i="0" sz="1400" u="none" cap="none" strike="noStrike">
              <a:solidFill>
                <a:srgbClr val="000000"/>
              </a:solidFill>
              <a:latin typeface="Arial"/>
              <a:ea typeface="Arial"/>
              <a:cs typeface="Arial"/>
              <a:sym typeface="Arial"/>
            </a:endParaRPr>
          </a:p>
        </p:txBody>
      </p:sp>
      <p:sp>
        <p:nvSpPr>
          <p:cNvPr id="512" name="Google Shape;512;g3dab19ec515_12_0"/>
          <p:cNvSpPr txBox="1"/>
          <p:nvPr/>
        </p:nvSpPr>
        <p:spPr>
          <a:xfrm>
            <a:off x="1051553" y="2216210"/>
            <a:ext cx="4572000" cy="2463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600" u="none" cap="none" strike="noStrike">
                <a:solidFill>
                  <a:srgbClr val="1A2A57"/>
                </a:solidFill>
                <a:latin typeface="Calibri"/>
                <a:ea typeface="Calibri"/>
                <a:cs typeface="Calibri"/>
                <a:sym typeface="Calibri"/>
              </a:rPr>
              <a:t>Emotion lives in middle-to-late layers</a:t>
            </a:r>
            <a:endParaRPr b="0" i="0" sz="1500" u="none" cap="none" strike="noStrike">
              <a:solidFill>
                <a:srgbClr val="000000"/>
              </a:solidFill>
              <a:latin typeface="Arial"/>
              <a:ea typeface="Arial"/>
              <a:cs typeface="Arial"/>
              <a:sym typeface="Arial"/>
            </a:endParaRPr>
          </a:p>
        </p:txBody>
      </p:sp>
      <p:sp>
        <p:nvSpPr>
          <p:cNvPr id="513" name="Google Shape;513;g3dab19ec515_12_0"/>
          <p:cNvSpPr txBox="1"/>
          <p:nvPr/>
        </p:nvSpPr>
        <p:spPr>
          <a:xfrm>
            <a:off x="1051551" y="2615175"/>
            <a:ext cx="3530700" cy="207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150"/>
              <a:buFont typeface="Arial"/>
              <a:buNone/>
            </a:pPr>
            <a:r>
              <a:rPr b="0" i="0" lang="en-US" sz="1350" u="none" cap="none" strike="noStrike">
                <a:solidFill>
                  <a:srgbClr val="404755"/>
                </a:solidFill>
                <a:latin typeface="Calibri"/>
                <a:ea typeface="Calibri"/>
                <a:cs typeface="Calibri"/>
                <a:sym typeface="Calibri"/>
              </a:rPr>
              <a:t>Across 6 encoders, 9 corpora, 7 languages.</a:t>
            </a:r>
            <a:endParaRPr b="0" i="0" sz="1600" u="none" cap="none" strike="noStrike">
              <a:solidFill>
                <a:srgbClr val="000000"/>
              </a:solidFill>
              <a:latin typeface="Arial"/>
              <a:ea typeface="Arial"/>
              <a:cs typeface="Arial"/>
              <a:sym typeface="Arial"/>
            </a:endParaRPr>
          </a:p>
        </p:txBody>
      </p:sp>
      <p:sp>
        <p:nvSpPr>
          <p:cNvPr id="514" name="Google Shape;514;g3dab19ec515_12_0"/>
          <p:cNvSpPr/>
          <p:nvPr/>
        </p:nvSpPr>
        <p:spPr>
          <a:xfrm>
            <a:off x="502925" y="3218675"/>
            <a:ext cx="4317300" cy="1012500"/>
          </a:xfrm>
          <a:prstGeom prst="roundRect">
            <a:avLst>
              <a:gd fmla="val 4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5" name="Google Shape;515;g3dab19ec515_12_0"/>
          <p:cNvSpPr/>
          <p:nvPr/>
        </p:nvSpPr>
        <p:spPr>
          <a:xfrm>
            <a:off x="502920" y="3218687"/>
            <a:ext cx="91440" cy="1078992"/>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6" name="Google Shape;516;g3dab19ec515_12_0"/>
          <p:cNvSpPr txBox="1"/>
          <p:nvPr/>
        </p:nvSpPr>
        <p:spPr>
          <a:xfrm>
            <a:off x="667445" y="3296229"/>
            <a:ext cx="7773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E8924A"/>
                </a:solidFill>
                <a:latin typeface="Calibri"/>
                <a:ea typeface="Calibri"/>
                <a:cs typeface="Calibri"/>
                <a:sym typeface="Calibri"/>
              </a:rPr>
              <a:t>02</a:t>
            </a:r>
            <a:endParaRPr b="0" i="0" sz="1400" u="none" cap="none" strike="noStrike">
              <a:solidFill>
                <a:srgbClr val="000000"/>
              </a:solidFill>
              <a:latin typeface="Arial"/>
              <a:ea typeface="Arial"/>
              <a:cs typeface="Arial"/>
              <a:sym typeface="Arial"/>
            </a:endParaRPr>
          </a:p>
        </p:txBody>
      </p:sp>
      <p:sp>
        <p:nvSpPr>
          <p:cNvPr id="517" name="Google Shape;517;g3dab19ec515_12_0"/>
          <p:cNvSpPr txBox="1"/>
          <p:nvPr/>
        </p:nvSpPr>
        <p:spPr>
          <a:xfrm>
            <a:off x="1051553" y="3350064"/>
            <a:ext cx="4572000" cy="2463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600" u="none" cap="none" strike="noStrike">
                <a:solidFill>
                  <a:srgbClr val="1A2A57"/>
                </a:solidFill>
                <a:latin typeface="Calibri"/>
                <a:ea typeface="Calibri"/>
                <a:cs typeface="Calibri"/>
                <a:sym typeface="Calibri"/>
              </a:rPr>
              <a:t>Voice, not words</a:t>
            </a:r>
            <a:endParaRPr b="1" i="0" sz="1500" u="none" cap="none" strike="noStrike">
              <a:solidFill>
                <a:srgbClr val="000000"/>
              </a:solidFill>
            </a:endParaRPr>
          </a:p>
        </p:txBody>
      </p:sp>
      <p:sp>
        <p:nvSpPr>
          <p:cNvPr id="518" name="Google Shape;518;g3dab19ec515_12_0"/>
          <p:cNvSpPr txBox="1"/>
          <p:nvPr/>
        </p:nvSpPr>
        <p:spPr>
          <a:xfrm>
            <a:off x="1051551" y="3749025"/>
            <a:ext cx="353070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150"/>
              <a:buFont typeface="Arial"/>
              <a:buNone/>
            </a:pPr>
            <a:r>
              <a:rPr b="0" i="0" lang="en-US" sz="1350" u="none" cap="none" strike="noStrike">
                <a:solidFill>
                  <a:srgbClr val="404755"/>
                </a:solidFill>
                <a:latin typeface="Calibri"/>
                <a:ea typeface="Calibri"/>
                <a:cs typeface="Calibri"/>
                <a:sym typeface="Calibri"/>
              </a:rPr>
              <a:t>CREMA-D, BERT alignment, GRL adversarial, and EMIS all converge.</a:t>
            </a:r>
            <a:endParaRPr b="0" i="0" sz="1600" u="none" cap="none" strike="noStrike">
              <a:solidFill>
                <a:srgbClr val="000000"/>
              </a:solidFill>
              <a:latin typeface="Arial"/>
              <a:ea typeface="Arial"/>
              <a:cs typeface="Arial"/>
              <a:sym typeface="Arial"/>
            </a:endParaRPr>
          </a:p>
        </p:txBody>
      </p:sp>
      <p:sp>
        <p:nvSpPr>
          <p:cNvPr id="519" name="Google Shape;519;g3dab19ec515_12_0"/>
          <p:cNvSpPr/>
          <p:nvPr/>
        </p:nvSpPr>
        <p:spPr>
          <a:xfrm>
            <a:off x="502925" y="4425700"/>
            <a:ext cx="4317300" cy="939300"/>
          </a:xfrm>
          <a:prstGeom prst="roundRect">
            <a:avLst>
              <a:gd fmla="val 4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0" name="Google Shape;520;g3dab19ec515_12_0"/>
          <p:cNvSpPr/>
          <p:nvPr/>
        </p:nvSpPr>
        <p:spPr>
          <a:xfrm>
            <a:off x="502920" y="4352544"/>
            <a:ext cx="91440" cy="1078992"/>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1" name="Google Shape;521;g3dab19ec515_12_0"/>
          <p:cNvSpPr txBox="1"/>
          <p:nvPr/>
        </p:nvSpPr>
        <p:spPr>
          <a:xfrm>
            <a:off x="667445" y="4430086"/>
            <a:ext cx="7773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E8924A"/>
                </a:solidFill>
                <a:latin typeface="Calibri"/>
                <a:ea typeface="Calibri"/>
                <a:cs typeface="Calibri"/>
                <a:sym typeface="Calibri"/>
              </a:rPr>
              <a:t>03</a:t>
            </a:r>
            <a:endParaRPr b="0" i="0" sz="1400" u="none" cap="none" strike="noStrike">
              <a:solidFill>
                <a:srgbClr val="000000"/>
              </a:solidFill>
              <a:latin typeface="Arial"/>
              <a:ea typeface="Arial"/>
              <a:cs typeface="Arial"/>
              <a:sym typeface="Arial"/>
            </a:endParaRPr>
          </a:p>
        </p:txBody>
      </p:sp>
      <p:sp>
        <p:nvSpPr>
          <p:cNvPr id="522" name="Google Shape;522;g3dab19ec515_12_0"/>
          <p:cNvSpPr txBox="1"/>
          <p:nvPr/>
        </p:nvSpPr>
        <p:spPr>
          <a:xfrm>
            <a:off x="1051560" y="4483913"/>
            <a:ext cx="3652800" cy="2463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600" u="none" cap="none" strike="noStrike">
                <a:solidFill>
                  <a:srgbClr val="1A2A57"/>
                </a:solidFill>
                <a:latin typeface="Calibri"/>
                <a:ea typeface="Calibri"/>
                <a:cs typeface="Calibri"/>
                <a:sym typeface="Calibri"/>
              </a:rPr>
              <a:t>Frozen probes beat LoRA on 29/30 combos</a:t>
            </a:r>
            <a:endParaRPr b="0" i="0" sz="1500" u="none" cap="none" strike="noStrike">
              <a:solidFill>
                <a:srgbClr val="000000"/>
              </a:solidFill>
              <a:latin typeface="Arial"/>
              <a:ea typeface="Arial"/>
              <a:cs typeface="Arial"/>
              <a:sym typeface="Arial"/>
            </a:endParaRPr>
          </a:p>
        </p:txBody>
      </p:sp>
      <p:sp>
        <p:nvSpPr>
          <p:cNvPr id="523" name="Google Shape;523;g3dab19ec515_12_0"/>
          <p:cNvSpPr txBox="1"/>
          <p:nvPr/>
        </p:nvSpPr>
        <p:spPr>
          <a:xfrm>
            <a:off x="1051551" y="4882875"/>
            <a:ext cx="353070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150"/>
              <a:buFont typeface="Arial"/>
              <a:buNone/>
            </a:pPr>
            <a:r>
              <a:rPr b="0" i="0" lang="en-US" sz="1350" u="none" cap="none" strike="noStrike">
                <a:solidFill>
                  <a:srgbClr val="404755"/>
                </a:solidFill>
                <a:latin typeface="Calibri"/>
                <a:ea typeface="Calibri"/>
                <a:cs typeface="Calibri"/>
                <a:sym typeface="Calibri"/>
              </a:rPr>
              <a:t>Features already exist - tuning overwrites them. The mixer agrees.</a:t>
            </a:r>
            <a:endParaRPr b="0" i="0" sz="1600" u="none" cap="none" strike="noStrike">
              <a:solidFill>
                <a:srgbClr val="000000"/>
              </a:solidFill>
              <a:latin typeface="Arial"/>
              <a:ea typeface="Arial"/>
              <a:cs typeface="Arial"/>
              <a:sym typeface="Arial"/>
            </a:endParaRPr>
          </a:p>
        </p:txBody>
      </p:sp>
      <p:sp>
        <p:nvSpPr>
          <p:cNvPr id="524" name="Google Shape;524;g3dab19ec515_12_0"/>
          <p:cNvSpPr/>
          <p:nvPr/>
        </p:nvSpPr>
        <p:spPr>
          <a:xfrm>
            <a:off x="502925" y="5486400"/>
            <a:ext cx="4317300" cy="1079100"/>
          </a:xfrm>
          <a:prstGeom prst="roundRect">
            <a:avLst>
              <a:gd fmla="val 4000" name="adj"/>
            </a:avLst>
          </a:prstGeom>
          <a:solidFill>
            <a:srgbClr val="EEF2F9"/>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5" name="Google Shape;525;g3dab19ec515_12_0"/>
          <p:cNvSpPr/>
          <p:nvPr/>
        </p:nvSpPr>
        <p:spPr>
          <a:xfrm>
            <a:off x="502920" y="5486400"/>
            <a:ext cx="91440" cy="1078992"/>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6" name="Google Shape;526;g3dab19ec515_12_0"/>
          <p:cNvSpPr txBox="1"/>
          <p:nvPr/>
        </p:nvSpPr>
        <p:spPr>
          <a:xfrm>
            <a:off x="667445" y="5563942"/>
            <a:ext cx="7773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E8924A"/>
                </a:solidFill>
                <a:latin typeface="Calibri"/>
                <a:ea typeface="Calibri"/>
                <a:cs typeface="Calibri"/>
                <a:sym typeface="Calibri"/>
              </a:rPr>
              <a:t>04</a:t>
            </a:r>
            <a:endParaRPr b="0" i="0" sz="1400" u="none" cap="none" strike="noStrike">
              <a:solidFill>
                <a:srgbClr val="000000"/>
              </a:solidFill>
              <a:latin typeface="Arial"/>
              <a:ea typeface="Arial"/>
              <a:cs typeface="Arial"/>
              <a:sym typeface="Arial"/>
            </a:endParaRPr>
          </a:p>
        </p:txBody>
      </p:sp>
      <p:sp>
        <p:nvSpPr>
          <p:cNvPr id="527" name="Google Shape;527;g3dab19ec515_12_0"/>
          <p:cNvSpPr txBox="1"/>
          <p:nvPr/>
        </p:nvSpPr>
        <p:spPr>
          <a:xfrm>
            <a:off x="1051553" y="5617778"/>
            <a:ext cx="4572000" cy="231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1A2A57"/>
                </a:solidFill>
                <a:latin typeface="Calibri"/>
                <a:ea typeface="Calibri"/>
                <a:cs typeface="Calibri"/>
                <a:sym typeface="Calibri"/>
              </a:rPr>
              <a:t>Probes generalize</a:t>
            </a:r>
            <a:endParaRPr b="0" i="0" sz="1400" u="none" cap="none" strike="noStrike">
              <a:solidFill>
                <a:srgbClr val="000000"/>
              </a:solidFill>
              <a:latin typeface="Arial"/>
              <a:ea typeface="Arial"/>
              <a:cs typeface="Arial"/>
              <a:sym typeface="Arial"/>
            </a:endParaRPr>
          </a:p>
        </p:txBody>
      </p:sp>
      <p:sp>
        <p:nvSpPr>
          <p:cNvPr id="528" name="Google Shape;528;g3dab19ec515_12_0"/>
          <p:cNvSpPr txBox="1"/>
          <p:nvPr/>
        </p:nvSpPr>
        <p:spPr>
          <a:xfrm>
            <a:off x="1051550" y="6016750"/>
            <a:ext cx="353070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150"/>
              <a:buFont typeface="Arial"/>
              <a:buNone/>
            </a:pPr>
            <a:r>
              <a:rPr b="0" i="0" lang="en-US" sz="1350" u="none" cap="none" strike="noStrike">
                <a:solidFill>
                  <a:srgbClr val="404755"/>
                </a:solidFill>
                <a:latin typeface="Calibri"/>
                <a:ea typeface="Calibri"/>
                <a:cs typeface="Calibri"/>
                <a:sym typeface="Calibri"/>
              </a:rPr>
              <a:t>Speakers (LOSO Δ 0.13), real conversation (MSP-Podcast), pooled cross-lingual (77%).</a:t>
            </a:r>
            <a:endParaRPr b="0" i="0" sz="1600" u="none" cap="none" strike="noStrike">
              <a:solidFill>
                <a:srgbClr val="000000"/>
              </a:solidFill>
              <a:latin typeface="Arial"/>
              <a:ea typeface="Arial"/>
              <a:cs typeface="Arial"/>
              <a:sym typeface="Arial"/>
            </a:endParaRPr>
          </a:p>
        </p:txBody>
      </p:sp>
      <p:sp>
        <p:nvSpPr>
          <p:cNvPr id="529" name="Google Shape;529;g3dab19ec515_12_0"/>
          <p:cNvSpPr txBox="1"/>
          <p:nvPr/>
        </p:nvSpPr>
        <p:spPr>
          <a:xfrm>
            <a:off x="4960045" y="1748186"/>
            <a:ext cx="52851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rgbClr val="6B7280"/>
                </a:solidFill>
                <a:latin typeface="Calibri"/>
                <a:ea typeface="Calibri"/>
                <a:cs typeface="Calibri"/>
                <a:sym typeface="Calibri"/>
              </a:rPr>
              <a:t>TEAM CONTRIBUTIONS</a:t>
            </a:r>
            <a:endParaRPr b="0" i="0" sz="1400" u="none" cap="none" strike="noStrike">
              <a:solidFill>
                <a:srgbClr val="000000"/>
              </a:solidFill>
              <a:latin typeface="Arial"/>
              <a:ea typeface="Arial"/>
              <a:cs typeface="Arial"/>
              <a:sym typeface="Arial"/>
            </a:endParaRPr>
          </a:p>
        </p:txBody>
      </p:sp>
      <p:sp>
        <p:nvSpPr>
          <p:cNvPr id="530" name="Google Shape;530;g3dab19ec515_12_0"/>
          <p:cNvSpPr/>
          <p:nvPr/>
        </p:nvSpPr>
        <p:spPr>
          <a:xfrm>
            <a:off x="4960050" y="2093925"/>
            <a:ext cx="6873900" cy="1079100"/>
          </a:xfrm>
          <a:prstGeom prst="roundRect">
            <a:avLst>
              <a:gd fmla="val 4000" name="adj"/>
            </a:avLst>
          </a:prstGeom>
          <a:solidFill>
            <a:srgbClr val="FFFFFF"/>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1" name="Google Shape;531;g3dab19ec515_12_0"/>
          <p:cNvSpPr/>
          <p:nvPr/>
        </p:nvSpPr>
        <p:spPr>
          <a:xfrm>
            <a:off x="4960045" y="2093931"/>
            <a:ext cx="91500" cy="10791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2" name="Google Shape;532;g3dab19ec515_12_0"/>
          <p:cNvSpPr txBox="1"/>
          <p:nvPr/>
        </p:nvSpPr>
        <p:spPr>
          <a:xfrm>
            <a:off x="5191370" y="2122097"/>
            <a:ext cx="4919400" cy="223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450"/>
              <a:buFont typeface="Arial"/>
              <a:buNone/>
            </a:pPr>
            <a:r>
              <a:rPr b="1" i="0" lang="en-US" sz="1450" u="sng" cap="none" strike="noStrike">
                <a:solidFill>
                  <a:srgbClr val="1A2A57"/>
                </a:solidFill>
                <a:latin typeface="Calibri"/>
                <a:ea typeface="Calibri"/>
                <a:cs typeface="Calibri"/>
                <a:sym typeface="Calibri"/>
              </a:rPr>
              <a:t>Nima Kelidari</a:t>
            </a:r>
            <a:endParaRPr b="0" i="0" sz="1600" u="sng" cap="none" strike="noStrike">
              <a:solidFill>
                <a:srgbClr val="000000"/>
              </a:solidFill>
              <a:latin typeface="Arial"/>
              <a:ea typeface="Arial"/>
              <a:cs typeface="Arial"/>
              <a:sym typeface="Arial"/>
            </a:endParaRPr>
          </a:p>
        </p:txBody>
      </p:sp>
      <p:sp>
        <p:nvSpPr>
          <p:cNvPr id="533" name="Google Shape;533;g3dab19ec515_12_0"/>
          <p:cNvSpPr txBox="1"/>
          <p:nvPr/>
        </p:nvSpPr>
        <p:spPr>
          <a:xfrm>
            <a:off x="5191375" y="2435650"/>
            <a:ext cx="6403200" cy="692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250"/>
              <a:buFont typeface="Arial"/>
              <a:buNone/>
            </a:pPr>
            <a:r>
              <a:rPr b="1" i="0" lang="en-US" sz="1250" u="none" cap="none" strike="noStrike">
                <a:solidFill>
                  <a:srgbClr val="404755"/>
                </a:solidFill>
                <a:latin typeface="Calibri"/>
                <a:ea typeface="Calibri"/>
                <a:cs typeface="Calibri"/>
                <a:sym typeface="Calibri"/>
              </a:rPr>
              <a:t>Built a pipeline for running experiments using slurm command. Extended the probing grid to six encoders (added WavLM Base+, w2v-BERT, and MERT), built the ESC-50 noise-augmentation and MSP-Podcast spontaneous-speech pipelines. Led the V/A/D regression track - clean, noisy, and V/A/D-as-features for classification. Overally ran 360 experiments for fully test frozen layer setup.</a:t>
            </a:r>
            <a:endParaRPr b="1" i="0" sz="1700" u="none" cap="none" strike="noStrike">
              <a:solidFill>
                <a:srgbClr val="000000"/>
              </a:solidFill>
              <a:latin typeface="Arial"/>
              <a:ea typeface="Arial"/>
              <a:cs typeface="Arial"/>
              <a:sym typeface="Arial"/>
            </a:endParaRPr>
          </a:p>
        </p:txBody>
      </p:sp>
      <p:sp>
        <p:nvSpPr>
          <p:cNvPr id="534" name="Google Shape;534;g3dab19ec515_12_0"/>
          <p:cNvSpPr/>
          <p:nvPr/>
        </p:nvSpPr>
        <p:spPr>
          <a:xfrm>
            <a:off x="4960059" y="3218675"/>
            <a:ext cx="6771600" cy="1079100"/>
          </a:xfrm>
          <a:prstGeom prst="roundRect">
            <a:avLst>
              <a:gd fmla="val 4000" name="adj"/>
            </a:avLst>
          </a:prstGeom>
          <a:solidFill>
            <a:srgbClr val="FFFFFF"/>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5" name="Google Shape;535;g3dab19ec515_12_0"/>
          <p:cNvSpPr/>
          <p:nvPr/>
        </p:nvSpPr>
        <p:spPr>
          <a:xfrm>
            <a:off x="4960045" y="3218712"/>
            <a:ext cx="91500" cy="10791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6" name="Google Shape;536;g3dab19ec515_12_0"/>
          <p:cNvSpPr txBox="1"/>
          <p:nvPr/>
        </p:nvSpPr>
        <p:spPr>
          <a:xfrm>
            <a:off x="5191370" y="3241052"/>
            <a:ext cx="4919400" cy="223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450"/>
              <a:buFont typeface="Arial"/>
              <a:buNone/>
            </a:pPr>
            <a:r>
              <a:rPr b="1" i="0" lang="en-US" sz="1450" u="sng" cap="none" strike="noStrike">
                <a:solidFill>
                  <a:srgbClr val="1A2A57"/>
                </a:solidFill>
                <a:latin typeface="Calibri"/>
                <a:ea typeface="Calibri"/>
                <a:cs typeface="Calibri"/>
                <a:sym typeface="Calibri"/>
              </a:rPr>
              <a:t>Minoo Ahmadi</a:t>
            </a:r>
            <a:endParaRPr b="0" i="0" sz="1450" u="sng" cap="none" strike="noStrike">
              <a:solidFill>
                <a:srgbClr val="000000"/>
              </a:solidFill>
              <a:latin typeface="Arial"/>
              <a:ea typeface="Arial"/>
              <a:cs typeface="Arial"/>
              <a:sym typeface="Arial"/>
            </a:endParaRPr>
          </a:p>
        </p:txBody>
      </p:sp>
      <p:sp>
        <p:nvSpPr>
          <p:cNvPr id="537" name="Google Shape;537;g3dab19ec515_12_0"/>
          <p:cNvSpPr txBox="1"/>
          <p:nvPr/>
        </p:nvSpPr>
        <p:spPr>
          <a:xfrm>
            <a:off x="5191325" y="3532276"/>
            <a:ext cx="64032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t/>
            </a:r>
            <a:endParaRPr b="1" i="0" sz="1250" u="none" cap="none" strike="noStrike">
              <a:solidFill>
                <a:srgbClr val="000000"/>
              </a:solidFill>
              <a:latin typeface="Arial"/>
              <a:ea typeface="Arial"/>
              <a:cs typeface="Arial"/>
              <a:sym typeface="Arial"/>
            </a:endParaRPr>
          </a:p>
        </p:txBody>
      </p:sp>
      <p:sp>
        <p:nvSpPr>
          <p:cNvPr id="538" name="Google Shape;538;g3dab19ec515_12_0"/>
          <p:cNvSpPr/>
          <p:nvPr/>
        </p:nvSpPr>
        <p:spPr>
          <a:xfrm>
            <a:off x="4960150" y="4352550"/>
            <a:ext cx="6771600" cy="1258800"/>
          </a:xfrm>
          <a:prstGeom prst="roundRect">
            <a:avLst>
              <a:gd fmla="val 4000" name="adj"/>
            </a:avLst>
          </a:prstGeom>
          <a:solidFill>
            <a:srgbClr val="FFFFFF"/>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9" name="Google Shape;539;g3dab19ec515_12_0"/>
          <p:cNvSpPr/>
          <p:nvPr/>
        </p:nvSpPr>
        <p:spPr>
          <a:xfrm>
            <a:off x="4960045" y="4352569"/>
            <a:ext cx="91500" cy="10791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0" name="Google Shape;540;g3dab19ec515_12_0"/>
          <p:cNvSpPr txBox="1"/>
          <p:nvPr/>
        </p:nvSpPr>
        <p:spPr>
          <a:xfrm>
            <a:off x="5191370" y="4387096"/>
            <a:ext cx="4919400" cy="223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450"/>
              <a:buFont typeface="Arial"/>
              <a:buNone/>
            </a:pPr>
            <a:r>
              <a:rPr b="1" i="0" lang="en-US" sz="1450" u="sng" cap="none" strike="noStrike">
                <a:solidFill>
                  <a:srgbClr val="1A2A57"/>
                </a:solidFill>
                <a:latin typeface="Calibri"/>
                <a:ea typeface="Calibri"/>
                <a:cs typeface="Calibri"/>
                <a:sym typeface="Calibri"/>
              </a:rPr>
              <a:t>Chaitanya Parwatkar</a:t>
            </a:r>
            <a:endParaRPr b="0" i="0" sz="1450" u="sng" cap="none" strike="noStrike">
              <a:solidFill>
                <a:srgbClr val="000000"/>
              </a:solidFill>
              <a:latin typeface="Arial"/>
              <a:ea typeface="Arial"/>
              <a:cs typeface="Arial"/>
              <a:sym typeface="Arial"/>
            </a:endParaRPr>
          </a:p>
        </p:txBody>
      </p:sp>
      <p:sp>
        <p:nvSpPr>
          <p:cNvPr id="541" name="Google Shape;541;g3dab19ec515_12_0"/>
          <p:cNvSpPr txBox="1"/>
          <p:nvPr/>
        </p:nvSpPr>
        <p:spPr>
          <a:xfrm>
            <a:off x="5191375" y="4649225"/>
            <a:ext cx="6403200" cy="962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lang="en-US" sz="1250">
                <a:solidFill>
                  <a:srgbClr val="404755"/>
                </a:solidFill>
                <a:latin typeface="Calibri"/>
                <a:ea typeface="Calibri"/>
                <a:cs typeface="Calibri"/>
                <a:sym typeface="Calibri"/>
              </a:rPr>
              <a:t>BERT alignment via CCA, CKA, Procrustes, and centroid transfer to measure how text like the speech features get at each layer. Built the layer mixer with softmax attention over 25 hidden states, showing Whisper concentrates 79-94 percent of attention on layer 24. Ran LoRA across 30 combos, proving features already exist in pretraining. Added CREMA D probing as the cleanest acoustic test.</a:t>
            </a:r>
            <a:endParaRPr b="1" i="0" sz="1250" u="none" cap="none" strike="noStrike">
              <a:solidFill>
                <a:srgbClr val="000000"/>
              </a:solidFill>
              <a:latin typeface="Arial"/>
              <a:ea typeface="Arial"/>
              <a:cs typeface="Arial"/>
              <a:sym typeface="Arial"/>
            </a:endParaRPr>
          </a:p>
        </p:txBody>
      </p:sp>
      <p:sp>
        <p:nvSpPr>
          <p:cNvPr id="542" name="Google Shape;542;g3dab19ec515_12_0"/>
          <p:cNvSpPr/>
          <p:nvPr/>
        </p:nvSpPr>
        <p:spPr>
          <a:xfrm>
            <a:off x="4960050" y="5626200"/>
            <a:ext cx="6771600" cy="939300"/>
          </a:xfrm>
          <a:prstGeom prst="roundRect">
            <a:avLst>
              <a:gd fmla="val 4000" name="adj"/>
            </a:avLst>
          </a:prstGeom>
          <a:solidFill>
            <a:srgbClr val="FFFFFF"/>
          </a:solidFill>
          <a:ln cap="flat" cmpd="sng" w="9525">
            <a:solidFill>
              <a:srgbClr val="D5DB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3" name="Google Shape;543;g3dab19ec515_12_0"/>
          <p:cNvSpPr/>
          <p:nvPr/>
        </p:nvSpPr>
        <p:spPr>
          <a:xfrm>
            <a:off x="4960045" y="5486425"/>
            <a:ext cx="91500" cy="1079100"/>
          </a:xfrm>
          <a:prstGeom prst="rect">
            <a:avLst/>
          </a:prstGeom>
          <a:solidFill>
            <a:srgbClr val="1A2A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4" name="Google Shape;544;g3dab19ec515_12_0"/>
          <p:cNvSpPr txBox="1"/>
          <p:nvPr/>
        </p:nvSpPr>
        <p:spPr>
          <a:xfrm>
            <a:off x="5191375" y="5675438"/>
            <a:ext cx="4919400" cy="223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450"/>
              <a:buFont typeface="Arial"/>
              <a:buNone/>
            </a:pPr>
            <a:r>
              <a:rPr b="1" i="0" lang="en-US" sz="1450" u="sng" cap="none" strike="noStrike">
                <a:solidFill>
                  <a:srgbClr val="1A2A57"/>
                </a:solidFill>
                <a:latin typeface="Calibri"/>
                <a:ea typeface="Calibri"/>
                <a:cs typeface="Calibri"/>
                <a:sym typeface="Calibri"/>
              </a:rPr>
              <a:t>Xiangxu Lin</a:t>
            </a:r>
            <a:endParaRPr b="0" i="0" sz="1450" u="sng" cap="none" strike="noStrike">
              <a:solidFill>
                <a:srgbClr val="000000"/>
              </a:solidFill>
              <a:latin typeface="Arial"/>
              <a:ea typeface="Arial"/>
              <a:cs typeface="Arial"/>
              <a:sym typeface="Arial"/>
            </a:endParaRPr>
          </a:p>
        </p:txBody>
      </p:sp>
      <p:sp>
        <p:nvSpPr>
          <p:cNvPr id="545" name="Google Shape;545;g3dab19ec515_12_0"/>
          <p:cNvSpPr txBox="1"/>
          <p:nvPr/>
        </p:nvSpPr>
        <p:spPr>
          <a:xfrm>
            <a:off x="5191377" y="5962775"/>
            <a:ext cx="64032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lang="en-US" sz="1250">
                <a:solidFill>
                  <a:schemeClr val="dk2"/>
                </a:solidFill>
                <a:latin typeface="Calibri"/>
                <a:ea typeface="Calibri"/>
                <a:cs typeface="Calibri"/>
                <a:sym typeface="Calibri"/>
              </a:rPr>
              <a:t>compiled Speechcraft benchmark across  models for multilingual pooled lingual generalization testing</a:t>
            </a:r>
            <a:endParaRPr b="1" i="0" sz="1250" u="none" cap="none" strike="noStrike">
              <a:solidFill>
                <a:schemeClr val="dk2"/>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3dab19ec515_10_282"/>
          <p:cNvSpPr/>
          <p:nvPr/>
        </p:nvSpPr>
        <p:spPr>
          <a:xfrm>
            <a:off x="0" y="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2" name="Google Shape;552;g3dab19ec515_10_282"/>
          <p:cNvSpPr/>
          <p:nvPr/>
        </p:nvSpPr>
        <p:spPr>
          <a:xfrm>
            <a:off x="0" y="0"/>
            <a:ext cx="1417320" cy="45720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g3dab19ec515_10_282"/>
          <p:cNvSpPr txBox="1"/>
          <p:nvPr/>
        </p:nvSpPr>
        <p:spPr>
          <a:xfrm>
            <a:off x="164592" y="118872"/>
            <a:ext cx="1280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REFERENCES</a:t>
            </a:r>
            <a:endParaRPr/>
          </a:p>
        </p:txBody>
      </p:sp>
      <p:sp>
        <p:nvSpPr>
          <p:cNvPr id="554" name="Google Shape;554;g3dab19ec515_10_282"/>
          <p:cNvSpPr txBox="1"/>
          <p:nvPr/>
        </p:nvSpPr>
        <p:spPr>
          <a:xfrm>
            <a:off x="502920" y="640080"/>
            <a:ext cx="11430000" cy="5943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3200" u="none" cap="none" strike="noStrike">
                <a:solidFill>
                  <a:srgbClr val="1A2A57"/>
                </a:solidFill>
                <a:latin typeface="Calibri"/>
                <a:ea typeface="Calibri"/>
                <a:cs typeface="Calibri"/>
                <a:sym typeface="Calibri"/>
              </a:rPr>
              <a:t>References</a:t>
            </a:r>
            <a:endParaRPr/>
          </a:p>
        </p:txBody>
      </p:sp>
      <p:sp>
        <p:nvSpPr>
          <p:cNvPr id="555" name="Google Shape;555;g3dab19ec515_10_282"/>
          <p:cNvSpPr txBox="1"/>
          <p:nvPr/>
        </p:nvSpPr>
        <p:spPr>
          <a:xfrm>
            <a:off x="502920" y="1243584"/>
            <a:ext cx="11430000" cy="329184"/>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500" u="none" cap="none" strike="noStrike">
                <a:solidFill>
                  <a:srgbClr val="6B7280"/>
                </a:solidFill>
                <a:latin typeface="Calibri"/>
                <a:ea typeface="Calibri"/>
                <a:cs typeface="Calibri"/>
                <a:sym typeface="Calibri"/>
              </a:rPr>
              <a:t>Foundational and probing literature this project builds on.</a:t>
            </a:r>
            <a:endParaRPr/>
          </a:p>
        </p:txBody>
      </p:sp>
      <p:sp>
        <p:nvSpPr>
          <p:cNvPr id="556" name="Google Shape;556;g3dab19ec515_10_282"/>
          <p:cNvSpPr/>
          <p:nvPr/>
        </p:nvSpPr>
        <p:spPr>
          <a:xfrm>
            <a:off x="502920" y="251460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g3dab19ec515_10_282"/>
          <p:cNvSpPr txBox="1"/>
          <p:nvPr/>
        </p:nvSpPr>
        <p:spPr>
          <a:xfrm>
            <a:off x="502920" y="1755648"/>
            <a:ext cx="5455767" cy="7772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[1]  </a:t>
            </a:r>
            <a:r>
              <a:rPr b="1" i="0" lang="en-US" sz="1100" u="none" cap="none" strike="noStrike">
                <a:solidFill>
                  <a:srgbClr val="1A2A57"/>
                </a:solidFill>
                <a:latin typeface="Calibri"/>
                <a:ea typeface="Calibri"/>
                <a:cs typeface="Calibri"/>
                <a:sym typeface="Calibri"/>
              </a:rPr>
              <a:t>Wagner et al.</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TPAMI · 2023</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Dawn of the transformer era in speech-emotion recognition: closing the valence gap.</a:t>
            </a:r>
            <a:endParaRPr/>
          </a:p>
        </p:txBody>
      </p:sp>
      <p:sp>
        <p:nvSpPr>
          <p:cNvPr id="558" name="Google Shape;558;g3dab19ec515_10_282"/>
          <p:cNvSpPr/>
          <p:nvPr/>
        </p:nvSpPr>
        <p:spPr>
          <a:xfrm>
            <a:off x="6233007" y="251460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g3dab19ec515_10_282"/>
          <p:cNvSpPr txBox="1"/>
          <p:nvPr/>
        </p:nvSpPr>
        <p:spPr>
          <a:xfrm>
            <a:off x="6233007" y="1755648"/>
            <a:ext cx="5455767" cy="7772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[2]  </a:t>
            </a:r>
            <a:r>
              <a:rPr b="1" i="0" lang="en-US" sz="1100" u="none" cap="none" strike="noStrike">
                <a:solidFill>
                  <a:srgbClr val="1A2A57"/>
                </a:solidFill>
                <a:latin typeface="Calibri"/>
                <a:ea typeface="Calibri"/>
                <a:cs typeface="Calibri"/>
                <a:sym typeface="Calibri"/>
              </a:rPr>
              <a:t>Triantafyllopoulos et al.</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INTERSPEECH · 2022</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Probing speech-emotion-recognition transformers for linguistic knowledge.</a:t>
            </a:r>
            <a:endParaRPr/>
          </a:p>
        </p:txBody>
      </p:sp>
      <p:sp>
        <p:nvSpPr>
          <p:cNvPr id="560" name="Google Shape;560;g3dab19ec515_10_282"/>
          <p:cNvSpPr/>
          <p:nvPr/>
        </p:nvSpPr>
        <p:spPr>
          <a:xfrm>
            <a:off x="502920" y="333756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g3dab19ec515_10_282"/>
          <p:cNvSpPr txBox="1"/>
          <p:nvPr/>
        </p:nvSpPr>
        <p:spPr>
          <a:xfrm>
            <a:off x="502920" y="2578608"/>
            <a:ext cx="5455767" cy="7772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[3]  </a:t>
            </a:r>
            <a:r>
              <a:rPr b="1" i="0" lang="en-US" sz="1100" u="none" cap="none" strike="noStrike">
                <a:solidFill>
                  <a:srgbClr val="1A2A57"/>
                </a:solidFill>
                <a:latin typeface="Calibri"/>
                <a:ea typeface="Calibri"/>
                <a:cs typeface="Calibri"/>
                <a:sym typeface="Calibri"/>
              </a:rPr>
              <a:t>Pasad, Chou, Livescu</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ASRU · 2021</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Layer-wise analysis of a self-supervised speech-representation model.</a:t>
            </a:r>
            <a:endParaRPr/>
          </a:p>
        </p:txBody>
      </p:sp>
      <p:sp>
        <p:nvSpPr>
          <p:cNvPr id="562" name="Google Shape;562;g3dab19ec515_10_282"/>
          <p:cNvSpPr/>
          <p:nvPr/>
        </p:nvSpPr>
        <p:spPr>
          <a:xfrm>
            <a:off x="6233007" y="333756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g3dab19ec515_10_282"/>
          <p:cNvSpPr txBox="1"/>
          <p:nvPr/>
        </p:nvSpPr>
        <p:spPr>
          <a:xfrm>
            <a:off x="6233007" y="2578608"/>
            <a:ext cx="5455767" cy="7772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[4]  </a:t>
            </a:r>
            <a:r>
              <a:rPr b="1" i="0" lang="en-US" sz="1100" u="none" cap="none" strike="noStrike">
                <a:solidFill>
                  <a:srgbClr val="1A2A57"/>
                </a:solidFill>
                <a:latin typeface="Calibri"/>
                <a:ea typeface="Calibri"/>
                <a:cs typeface="Calibri"/>
                <a:sym typeface="Calibri"/>
              </a:rPr>
              <a:t>Shah et al.</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InterSpeech Workshop · 2021</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What all do audio transformer models hear? Probing acoustic representations for language delivery and its structure.</a:t>
            </a:r>
            <a:endParaRPr/>
          </a:p>
        </p:txBody>
      </p:sp>
      <p:sp>
        <p:nvSpPr>
          <p:cNvPr id="564" name="Google Shape;564;g3dab19ec515_10_282"/>
          <p:cNvSpPr/>
          <p:nvPr/>
        </p:nvSpPr>
        <p:spPr>
          <a:xfrm>
            <a:off x="502920" y="416052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g3dab19ec515_10_282"/>
          <p:cNvSpPr txBox="1"/>
          <p:nvPr/>
        </p:nvSpPr>
        <p:spPr>
          <a:xfrm>
            <a:off x="502920" y="3131831"/>
            <a:ext cx="5455800" cy="673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[5]  </a:t>
            </a:r>
            <a:r>
              <a:rPr b="1" i="0" lang="en-US" sz="1100" u="none" cap="none" strike="noStrike">
                <a:solidFill>
                  <a:srgbClr val="1A2A57"/>
                </a:solidFill>
                <a:latin typeface="Calibri"/>
                <a:ea typeface="Calibri"/>
                <a:cs typeface="Calibri"/>
                <a:sym typeface="Calibri"/>
              </a:rPr>
              <a:t>Singh et al.</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ICASSP · 2023</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A study of acoustic and content features in speech-emotion recognition with self-supervised learning.</a:t>
            </a:r>
            <a:endParaRPr/>
          </a:p>
        </p:txBody>
      </p:sp>
      <p:sp>
        <p:nvSpPr>
          <p:cNvPr id="566" name="Google Shape;566;g3dab19ec515_10_282"/>
          <p:cNvSpPr/>
          <p:nvPr/>
        </p:nvSpPr>
        <p:spPr>
          <a:xfrm>
            <a:off x="6233007" y="416052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7" name="Google Shape;567;g3dab19ec515_10_282"/>
          <p:cNvSpPr txBox="1"/>
          <p:nvPr/>
        </p:nvSpPr>
        <p:spPr>
          <a:xfrm>
            <a:off x="6233007" y="3401568"/>
            <a:ext cx="5455767" cy="7772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[6]  </a:t>
            </a:r>
            <a:r>
              <a:rPr b="1" i="0" lang="en-US" sz="1100" u="none" cap="none" strike="noStrike">
                <a:solidFill>
                  <a:srgbClr val="1A2A57"/>
                </a:solidFill>
                <a:latin typeface="Calibri"/>
                <a:ea typeface="Calibri"/>
                <a:cs typeface="Calibri"/>
                <a:sym typeface="Calibri"/>
              </a:rPr>
              <a:t>Chiu et al.</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ICASSP · 2025</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Probing self-supervised speech models for emotion content.</a:t>
            </a:r>
            <a:endParaRPr/>
          </a:p>
        </p:txBody>
      </p:sp>
      <p:sp>
        <p:nvSpPr>
          <p:cNvPr id="568" name="Google Shape;568;g3dab19ec515_10_282"/>
          <p:cNvSpPr/>
          <p:nvPr/>
        </p:nvSpPr>
        <p:spPr>
          <a:xfrm>
            <a:off x="502920" y="498348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9" name="Google Shape;569;g3dab19ec515_10_282"/>
          <p:cNvSpPr txBox="1"/>
          <p:nvPr/>
        </p:nvSpPr>
        <p:spPr>
          <a:xfrm>
            <a:off x="502920" y="3935378"/>
            <a:ext cx="5455800" cy="673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[7]  </a:t>
            </a:r>
            <a:r>
              <a:rPr b="1" i="0" lang="en-US" sz="1100" u="none" cap="none" strike="noStrike">
                <a:solidFill>
                  <a:srgbClr val="1A2A57"/>
                </a:solidFill>
                <a:latin typeface="Calibri"/>
                <a:ea typeface="Calibri"/>
                <a:cs typeface="Calibri"/>
                <a:sym typeface="Calibri"/>
              </a:rPr>
              <a:t>Baevski et al.</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NeurIPS · 2020</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wav2vec 2.0: a framework for self-supervised learning of speech representations.</a:t>
            </a:r>
            <a:endParaRPr/>
          </a:p>
        </p:txBody>
      </p:sp>
      <p:sp>
        <p:nvSpPr>
          <p:cNvPr id="570" name="Google Shape;570;g3dab19ec515_10_282"/>
          <p:cNvSpPr/>
          <p:nvPr/>
        </p:nvSpPr>
        <p:spPr>
          <a:xfrm>
            <a:off x="6233007" y="498348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g3dab19ec515_10_282"/>
          <p:cNvSpPr txBox="1"/>
          <p:nvPr/>
        </p:nvSpPr>
        <p:spPr>
          <a:xfrm>
            <a:off x="6233007" y="3892603"/>
            <a:ext cx="5455800" cy="673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[8]  </a:t>
            </a:r>
            <a:r>
              <a:rPr b="1" i="0" lang="en-US" sz="1100" u="none" cap="none" strike="noStrike">
                <a:solidFill>
                  <a:srgbClr val="1A2A57"/>
                </a:solidFill>
                <a:latin typeface="Calibri"/>
                <a:ea typeface="Calibri"/>
                <a:cs typeface="Calibri"/>
                <a:sym typeface="Calibri"/>
              </a:rPr>
              <a:t>Hsu et al.</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TASLP · 2021</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HuBERT: self-supervised speech-representation learning by masked prediction of hidden units.</a:t>
            </a:r>
            <a:endParaRPr/>
          </a:p>
        </p:txBody>
      </p:sp>
      <p:sp>
        <p:nvSpPr>
          <p:cNvPr id="572" name="Google Shape;572;g3dab19ec515_10_282"/>
          <p:cNvSpPr/>
          <p:nvPr/>
        </p:nvSpPr>
        <p:spPr>
          <a:xfrm>
            <a:off x="502920" y="580644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3" name="Google Shape;573;g3dab19ec515_10_282"/>
          <p:cNvSpPr txBox="1"/>
          <p:nvPr/>
        </p:nvSpPr>
        <p:spPr>
          <a:xfrm>
            <a:off x="502920" y="4696001"/>
            <a:ext cx="5455800" cy="414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[9]  </a:t>
            </a:r>
            <a:r>
              <a:rPr b="1" i="0" lang="en-US" sz="1100" u="none" cap="none" strike="noStrike">
                <a:solidFill>
                  <a:srgbClr val="1A2A57"/>
                </a:solidFill>
                <a:latin typeface="Calibri"/>
                <a:ea typeface="Calibri"/>
                <a:cs typeface="Calibri"/>
                <a:sym typeface="Calibri"/>
              </a:rPr>
              <a:t>Radford et al.</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ICML · 2023</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Robust speech recognition via large-scale weak supervision (Whisper).</a:t>
            </a:r>
            <a:endParaRPr/>
          </a:p>
        </p:txBody>
      </p:sp>
      <p:sp>
        <p:nvSpPr>
          <p:cNvPr id="574" name="Google Shape;574;g3dab19ec515_10_282"/>
          <p:cNvSpPr/>
          <p:nvPr/>
        </p:nvSpPr>
        <p:spPr>
          <a:xfrm>
            <a:off x="6233007" y="5806440"/>
            <a:ext cx="182880" cy="18288"/>
          </a:xfrm>
          <a:prstGeom prst="rect">
            <a:avLst/>
          </a:prstGeom>
          <a:solidFill>
            <a:srgbClr val="E892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5" name="Google Shape;575;g3dab19ec515_10_282"/>
          <p:cNvSpPr txBox="1"/>
          <p:nvPr/>
        </p:nvSpPr>
        <p:spPr>
          <a:xfrm>
            <a:off x="6233007" y="4695988"/>
            <a:ext cx="5455800" cy="673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00" u="none" cap="none" strike="noStrike">
                <a:solidFill>
                  <a:srgbClr val="E8924A"/>
                </a:solidFill>
                <a:latin typeface="Calibri"/>
                <a:ea typeface="Calibri"/>
                <a:cs typeface="Calibri"/>
                <a:sym typeface="Calibri"/>
              </a:rPr>
              <a:t>[10]  </a:t>
            </a:r>
            <a:r>
              <a:rPr b="1" i="0" lang="en-US" sz="1100" u="none" cap="none" strike="noStrike">
                <a:solidFill>
                  <a:srgbClr val="1A2A57"/>
                </a:solidFill>
                <a:latin typeface="Calibri"/>
                <a:ea typeface="Calibri"/>
                <a:cs typeface="Calibri"/>
                <a:sym typeface="Calibri"/>
              </a:rPr>
              <a:t>Chen et al.</a:t>
            </a:r>
            <a:r>
              <a:rPr b="0" i="0" lang="en-US" sz="1100" u="none" cap="none" strike="noStrike">
                <a:solidFill>
                  <a:srgbClr val="9CA3AF"/>
                </a:solidFill>
                <a:latin typeface="Calibri"/>
                <a:ea typeface="Calibri"/>
                <a:cs typeface="Calibri"/>
                <a:sym typeface="Calibri"/>
              </a:rPr>
              <a:t>    ·    </a:t>
            </a:r>
            <a:r>
              <a:rPr b="0" i="1" lang="en-US" sz="1000" u="none" cap="none" strike="noStrike">
                <a:solidFill>
                  <a:srgbClr val="6B7280"/>
                </a:solidFill>
                <a:latin typeface="Calibri"/>
                <a:ea typeface="Calibri"/>
                <a:cs typeface="Calibri"/>
                <a:sym typeface="Calibri"/>
              </a:rPr>
              <a:t>JSTSP · 2022</a:t>
            </a:r>
            <a:endParaRPr/>
          </a:p>
          <a:p>
            <a:pPr indent="0" lvl="0" marL="0" marR="0" rtl="0" algn="l">
              <a:lnSpc>
                <a:spcPct val="120000"/>
              </a:lnSpc>
              <a:spcBef>
                <a:spcPts val="100"/>
              </a:spcBef>
              <a:spcAft>
                <a:spcPts val="0"/>
              </a:spcAft>
              <a:buNone/>
            </a:pPr>
            <a:r>
              <a:rPr b="1" i="0" lang="en-US" sz="1400" u="none" cap="none" strike="noStrike">
                <a:solidFill>
                  <a:srgbClr val="404755"/>
                </a:solidFill>
                <a:latin typeface="Calibri"/>
                <a:ea typeface="Calibri"/>
                <a:cs typeface="Calibri"/>
                <a:sym typeface="Calibri"/>
              </a:rPr>
              <a:t>WavLM: large-scale self-supervised pretraining for full-stack speech processing.</a:t>
            </a:r>
            <a:endParaRPr/>
          </a:p>
        </p:txBody>
      </p:sp>
      <p:sp>
        <p:nvSpPr>
          <p:cNvPr id="576" name="Google Shape;576;g3dab19ec515_10_282"/>
          <p:cNvSpPr/>
          <p:nvPr/>
        </p:nvSpPr>
        <p:spPr>
          <a:xfrm>
            <a:off x="0" y="6263640"/>
            <a:ext cx="12191695" cy="594360"/>
          </a:xfrm>
          <a:prstGeom prst="rect">
            <a:avLst/>
          </a:prstGeom>
          <a:solidFill>
            <a:srgbClr val="1421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7" name="Google Shape;577;g3dab19ec515_10_282"/>
          <p:cNvSpPr txBox="1"/>
          <p:nvPr/>
        </p:nvSpPr>
        <p:spPr>
          <a:xfrm>
            <a:off x="502920" y="6364224"/>
            <a:ext cx="11338500" cy="192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250" u="none" cap="none" strike="noStrike">
                <a:solidFill>
                  <a:srgbClr val="E8924A"/>
                </a:solidFill>
                <a:latin typeface="Calibri"/>
                <a:ea typeface="Calibri"/>
                <a:cs typeface="Calibri"/>
                <a:sym typeface="Calibri"/>
              </a:rPr>
              <a:t>Code</a:t>
            </a:r>
            <a:r>
              <a:rPr b="1" lang="en-US" sz="1250">
                <a:solidFill>
                  <a:srgbClr val="E8924A"/>
                </a:solidFill>
                <a:latin typeface="Calibri"/>
                <a:ea typeface="Calibri"/>
                <a:cs typeface="Calibri"/>
                <a:sym typeface="Calibri"/>
              </a:rPr>
              <a:t>base</a:t>
            </a:r>
            <a:r>
              <a:rPr b="1" i="0" lang="en-US" sz="1250" u="none" cap="none" strike="noStrike">
                <a:solidFill>
                  <a:srgbClr val="E8924A"/>
                </a:solidFill>
                <a:latin typeface="Calibri"/>
                <a:ea typeface="Calibri"/>
                <a:cs typeface="Calibri"/>
                <a:sym typeface="Calibri"/>
              </a:rPr>
              <a:t>:  </a:t>
            </a:r>
            <a:r>
              <a:rPr b="0" i="0" lang="en-US" sz="1250" u="none" cap="none" strike="noStrike">
                <a:solidFill>
                  <a:srgbClr val="FFFFFF"/>
                </a:solidFill>
                <a:latin typeface="Calibri"/>
                <a:ea typeface="Calibri"/>
                <a:cs typeface="Calibri"/>
                <a:sym typeface="Calibri"/>
              </a:rPr>
              <a:t>github.com/Nikelroid/linguistic-agnostic-ser (</a:t>
            </a:r>
            <a:r>
              <a:rPr lang="en-US" sz="1250">
                <a:solidFill>
                  <a:srgbClr val="FFFFFF"/>
                </a:solidFill>
                <a:latin typeface="Calibri"/>
                <a:ea typeface="Calibri"/>
                <a:cs typeface="Calibri"/>
                <a:sym typeface="Calibri"/>
              </a:rPr>
              <a:t>Private repository)</a:t>
            </a:r>
            <a:r>
              <a:rPr b="0" i="0" lang="en-US" sz="1250" u="none" cap="none" strike="noStrike">
                <a:solidFill>
                  <a:srgbClr val="FFFFFF"/>
                </a:solidFill>
                <a:latin typeface="Calibri"/>
                <a:ea typeface="Calibri"/>
                <a:cs typeface="Calibri"/>
                <a:sym typeface="Calibri"/>
              </a:rPr>
              <a:t>    ·    </a:t>
            </a:r>
            <a:r>
              <a:rPr b="1" i="0" lang="en-US" sz="1250" u="none" cap="none" strike="noStrike">
                <a:solidFill>
                  <a:srgbClr val="E8924A"/>
                </a:solidFill>
                <a:latin typeface="Calibri"/>
                <a:ea typeface="Calibri"/>
                <a:cs typeface="Calibri"/>
                <a:sym typeface="Calibri"/>
              </a:rPr>
              <a:t>W&amp;B project:  </a:t>
            </a:r>
            <a:r>
              <a:rPr b="0" i="0" lang="en-US" sz="1250" u="none" cap="none" strike="noStrike">
                <a:solidFill>
                  <a:srgbClr val="FFFFFF"/>
                </a:solidFill>
                <a:latin typeface="Calibri"/>
                <a:ea typeface="Calibri"/>
                <a:cs typeface="Calibri"/>
                <a:sym typeface="Calibri"/>
              </a:rPr>
              <a:t>AGSER / linguistic-agnostic-ser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